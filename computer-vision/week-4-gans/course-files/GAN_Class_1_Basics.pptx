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CLASS: open CV-Week4-Lecture1.ipynb, run the first cell once so MNIST is already downloaded, and keep this deck in Present mode. Every animated slide advances on click; notes mark each [CLICK]. TIME: 0:00–0:30. SAY: "Good morning. Today we start a new unit: Generative Models. Over the next three classes we study GANs. Today is the foundation: what a GAN is, the two networks inside it, and the game they play. In the last hour you will run and explore a real GAN in the notebook." Point at the picture on the right: "By the end of today you will understand how a network can turn a square of random noise like this into a brand-new picture, and why that works." Mention the plan quickly: about 85 minutes of ideas (including the MNIST dataset), 60 minutes of hands-on notebook, 5 minutes of exit ticket. Ask students to keep laptops closed until the notebook section, so they follow the story first. NOTE ON VISUALS: all flowers in this deck are drawn illustrations made for teaching. They are not outputs from a trained GAN. Say that once, early, so nobody is misled.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0:30–2:00. SAY: "Here are four flowers. Imagine thousands of photos like these. Question: can a computer paint a fifth flower that is not in the collection, but looks like it belongs there?" Let two or three students answer. Accept ideas like "copy and mix", "average them", "use a neural network". [CLICK 1] The irregular orange flower pops in. "This one is new. It is not any of the four. But it clearly looks like a flower from the same garden." [CLICK 2] Read the sentence. Stress two points: - Copying a training photo is trivial and useless. Averaging photos gives a blurry mess. - The real goal is to make new samples that look as if they came from the same collection. In ML language we will soon call the collection a "data distribution". Bridge: "Today we learn one of the most famous ideas for doing this: the Generative Adversarial Network, or GAN, introduced by Ian Goodfellow and colleagues in 2014." Reminder: these flowers are illustrations drawn for this class, not GAN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2:00–3:00. SAY: "Here is our route. It is one story, not seven topics." [CLICK 1] 01, what the letters G-A-N stand for. [CLICK 2] 02, the word "adversarial", because it is the most important and most misunderstood word in the name. [CLICK 3] 03, one running example we will use all class: a flower forger. [CLICK 4] 04, the Generator in detail. [CLICK 5] 05, the Discriminator in detail. [CLICK 6] 06, how the two are trained together: losses and the minimax objective. [CLICK 7] 07, first a short introduction to the MNIST dataset, then 60 minutes in the notebook CV-Week4-Lecture1.ipynb, where the same game is played on handwritten digits. [CLICK 8] Read the one-line summary. "Every step builds on the previous one. If you get lost, come back to the flower forger." Further-study resources are on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3:00–4:00. SAY: "These four things are what the exit ticket at the end will check. Keep them in mind." [CLICK 1] Outcome 1: the name. Sounds simple, but "adversarial" is where most confusion comes from. [CLICK 2] Outcome 2: the two players. Notice the colours: BLUE is always the generator, ORANGE is always the discriminator for the whole deck. Point this out explicitly. It helps students track who is who on every diagram. [CLICK 3] Outcome 3: the minimax equation. "It looks scary. By the time we reach it you will already know what it says in words." [CLICK 4] Outcome 4: code. "You will see that the whole GAN is about 40 lines of PyTorch." Prerequisites to check with a quick show of hands: a neural network forward pass, a loss function, backpropagation and an optimizer step. If many students are unsure about binary cross-entropy, promise that we will revise it in section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4:00. Section 01 runs from minute 4 to minute 15. SAY: "Before any maths, let's decode the name. G, A, N. Each letter tells us something real about how the model works. If you remember the name properly, you already remember half of the idea." Ask the class: "Has anyone heard the term GAN before? Where?" (Typical answers: deepfakes, AI-generated faces, "This person does not exist", image apps.) Take one or two answers, then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4:00–6:00. SAY: "GAN is short for Generative Adversarial Network. You will also see Generative Adversarial Networks in the plural, because a GAN always contains two networks. Write the full form in your notebook now." [CLICK 1] G, Generative. "The model's job is to generate: to create new data. The output is a new image, not a label like 'cat' or 'digit 7'. The question it answers is: what could a new sample look like?" [CLICK 2] A, Adversarial. "This is the heart of the idea. The model learns through a contest between two opponents. An adversary is an opponent. We spend all of section 02 on this word, so just hold on to 'contest' for now." [CLICK 3] N, Network. "Both players are ordinary neural networks: layers, weights, activations, trained by backpropagation and gradient descent. Nothing new here. The new part is how the two are wired together and trained against each other." Quick check: "So how many neural networks are inside one GAN?" Expected answer: two, a generator and a discriminator. Historical note (optional): Ian Goodfellow and colleagues introduced GANs in the 2014 paper "Generative Adversarial Nets".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6:00–9:00. This matches the first markdown cell of CV-Week4-Lecture1.ipynb ("Discriminative models classify inputs; Generative models synthesize new ones"). SAY (top row, already visible): "Everything you have built so far in this course is discriminative. You give a classifier an image, it gives you back a label: 'flower', 'cat', 'digit 7'. Mathematically it learns p(label | image): given this image, how likely is each label?" [CLICK 1] The noise square appears. "A generative model starts from something very different: a handful of random numbers." [CLICK 2] The generator box. "It passes them through a network we call the Generator." [CLICK 3] A new flower pops out. "And the output is a whole new image. Not a label: every pixel." KEY POINT: "A classifier answers 'what is this?'. A generator answers 'show me a new one'. The second is much harder: the output has thousands of numbers (every pixel), and they all have to agree with each other to look like a flower." ASK: "If a model outputs the word 'seven', has it generated a digit?" Expected answer: no, it has only labelled one. "What must the output contain instead?" Expected: all the pixel values, e.g. 28×28 = 784 numbers for an MNIST digit. We will see exactly this 784 in the notebook. Applications from the notebook: image synthesis, data augmentation, creative AI. Others: predicting the next frame of a video and image enhancement (super-resolution).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9:00–11:00. Motivation slide: why this topic matters. [CLICK 1] New images. "GANs became famous for photo-realistic faces of people who do not exist. The best-known family is StyleGAN from NVIDIA." [CLICK 2] Image-to-image translation. "Instead of noise, give the generator an image as input and ask for a transformed image: a sketch becomes a photo, a daytime street becomes night. pix2pix learns this from paired examples; CycleGAN learns it without pairs, e.g. horses to zebras." [CLICK 3] Super-resolution. "SRGAN turns a small, blurry photo into a sharper, larger one. The adversarial loss pushes it to produce realistic texture instead of blur." [CLICK 4] Data augmentation. "When real data is scarce or private (rare diseases, rare defects in factories), synthetic samples can add variety to a training set. The notebook lists this as an application." [CLICK 5] Video and art. "Predicting what the next frame of a video looks like, and creative tools for artists." [CLICK 6] A caution. "The same technology can produce convincing fake faces and videos. That is why detecting generated media is an active research area, and why we should use these tools responsibly." CONTEXT FOR STUDENTS: "Today, text-to-image systems mostly use diffusion models, which we study later in this module. But the adversarial idea is still used widely, for example in super-resolution and as an extra loss inside other generators. And GANs are the clearest way to learn how a network can be trained to generate." ASK: "Which of these could help a hospital that has only 200 X-rays of a rare condition?" Expected: data augmentation.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11:00–13:00. SAY: "Let me make 'generate' precise. Think of all possible flower photos in the world. Some kinds are common (yellow daisies), some are rare. That pattern of what is common and what is rare is a probability distribution. We call it p_data. We never get its formula. We only get samples: our dataset." Point to the navy curve with two bumps: "Think of this as a 1-D cartoon of the real data: two popular kinds of flower." Stress that real images live in thousands of dimensions; this is a sketch. [CLICK 1] Dashed blue curve appears far away. "The generator also defines a distribution, p_g: whatever comes out when you feed it random noise. At the start of training it is nowhere near the real data. Its samples look like noise." [CLICK 2] "As training goes on, p_g moves towards p_data." [CLICK 3] The curves overlap. "Our goal: p_g sits on top of p_data. Then any sample from the generator is statistically like a real flower. It is new, but it fits." ASK: "Why not just memorise the training images?" Expected: memorising gives no new images; we want new samples, i.e. generalisation. TRANSITION: "So how do we move p_g when we do not even know the formula for p_data? That is exactly where the 'adversarial' idea comes in. But first, the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13:00–15:00. SAY: "The N is the least surprising letter. A GAN is built from two completely ordinary neural networks." [CLICK 1] The Generator, G. Blue. "Takes random numbers, returns an image. In today's notebook it is tiny: 100 inputs, one hidden layer of 256, and 784 outputs, which become a 28 by 28 image." [CLICK 2] The Discriminator, D. Orange. "Takes an image, returns one number. In the notebook: 784 inputs, a hidden layer of 256, and 1 output through a sigmoid, so it is a probability." [CLICK 3] "Inside there is nothing you have not seen: Linear layers, ReLU, a loss function, backprop, the Adam optimizer. The invention is how we train them: against each other." [CLICK 4] Origin: Ian Goodfellow and colleagues, NeurIPS 2014. "It is one of the most influential ideas in deep learning of the last decade. Later versions like DCGAN and StyleGAN made the famous realistic faces. We will reach DCGAN in class 3." RECAP OF SECTION 01 (ask the class to say it back): "GAN = Generative Adversarial Network. Generative = makes new samples. Network = two neural nets. And adversarial? Let's find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15:00. Section 02 runs from minute 15 to minute 27. SAY: "We said the generator has to move its distribution towards the real data, but we do not know the formula of the real data. Nobody can write down the equation for 'all flower photos'. So who tells the generator how it is doing? The answer is: an adversary. Let's understand that word properly." ASK before clicking on: "In everyday English, what is an adversary?" Collect a few words: enemy, opponent, rival, competitor.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15:00–17:00. SAY: "An adversary is simply an opponent in a contest. The word comes from Latin 'adversus', meaning 'turned against'. So 'adversarial' means two sides turned against each other." [CLICK 1] Chess. "Every move is chosen to beat the other player. Your best move depends on what the opponent does." [CLICK 2] Courtroom. "The legal system is literally called 'adversarial' in many countries: prosecution and defence argue opposite sides, and the truth is supposed to come out of the contest." [CLICK 3] Sparring partner. "This is the most useful picture for GANs. A boxer's sparring partner tries to hit them. That is opposition. But the result is that the boxer gets better. Opposition drives improvement." [CLICK 4] The GAN version. "In a GAN the two opponents are two neural networks. They argue about one single question, over and over: is this image real, or is it fake? One network wants the answer to be 'real' for its images; the other wants to catch them as fake." EMPHASISE: "Adversarial here does NOT mean hacking, attacking or anything malicious. It is about opposite objectives during training. We will contrast it with 'adversarial attacks' in a few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17:00–20:00. This analogy is from the original paper, Goodfellow et al. 2014, "Generative Adversarial Nets", Introduction. [CLICK 1] The counterfeiter slides in. "Imagine a counterfeiter who prints fake banknotes. Their goal: spend them without getting caught." [CLICK 2] The police slide in, with "vs". "The police inspect banknotes. Their goal: catch every fake." ASK: "Which of these two is like our generator, and which is like the discriminator?" Let students answer before clicking. [CLICK 3] The mapping appears. Counterfeiter = Generator (blue), makes fakes. Police = Discriminator (orange), judges real vs fake. [CLICK 4] Read the quote slowly. It is taken from the paper: "Competition in this game drives both teams to improve their methods until the counterfeits are indistinguishable from the genuine articles." KEY POINTS to say out loud: 1. The counterfeiter never gets to see the official printing plates. It only learns from whether its notes got caught. Same for G: it never copies a real image directly. (We come back to this in section 04.) 2. The police learn from two piles: genuine notes and seized fakes. Same for D: it sees real images and generated images. 3. Neither side can win permanently. When the police improve, the counterfeiter must improve, and vice versa. That is the adversarial loop. Where the analogy breaks: real police do not share notes with the counterfeiter. In a GAN, D's gradients are literally passed to G. The "opponent" is also the teacher. Mention this now; it becomes important in the generator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20:00–22:00. SAY: "Let's watch the contest over many rounds, using our flower story." [CLICK 1] Round 1. "At the start the generator's weights are random, so it outputs random pixel noise. The discriminator catches it instantly." [CLICK 2] Round 2. "The generator gets feedback and learns the cheapest trick first: flowers have warm colours in the middle. So it paints colourful blobs. The discriminator then has to look at something harder: shape." [CLICK 3] Round 3. "The generator learns petals around a centre. The discriminator now has to look at finer details: petal edges, the stem, the texture." [CLICK 4] Round N. "Eventually the fakes are so good that the discriminator can only guess. It says 'real' about half the time for both real and fake. We will see in section 06 that this 50/50 point is the theoretical equilibrium." [CLICK 5] Read the takeaway. ASK: "What would happen if the discriminator were terrible from the start, e.g. always says 'real'?" Expected: the generator gets no useful pressure and does not improve. "And if the discriminator is perfect and way ahead?" Expected: the generator gets very little useful signal (we will see the vanishing-gradient issue later). So the two need to improve together. The notebook uses the same learning rate for both. Stress: these four images are hand-made illustrations of the idea, not real training snapshots.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22:00–24:00. SAY: "A simple way to picture a GAN is as a zero-sum game: there is always a winner and a loser. The total is fixed, so one side's gain is exactly the other side's loss." [CLICK 1] Case 1. "If the discriminator correctly spots the fake, the discriminator wins. In this picture the winner stays unchanged. The loser, the generator, has to update its model to make better fakes." [CLICK 2] Case 2. "If the generator fools the discriminator, the generator wins, and now the discriminator is the one that must update, to get better at telling fakes apart." [CLICK 3] IMPORTANT CLARIFICATION. "This winner/loser story is a great intuition, but the code is slightly different, and I want you to know the precise version. In our notebook, on every mini-batch, BOTH networks take one gradient step: first the discriminator, then the generator. Nobody 'sits still' because they won. What the loss does is decide how big and in which direction each update is: if D was already right, its loss is small and its update is small. If G was badly caught, G's loss is big and its update is big. So the intuition survives as 'the one that did worse changes more'." Also useful: the discriminator is first shown real flower images so it learns what flowers look like (colours, shading, shapes), and the generator starts from a random input vector. We use exactly these ideas in sections 04 and 05. Zero-sum link to maths: in the minimax objective (section 06) there is ONE value V(D, G). D tries to push it up; G tries to push it down. That is what makes it zero-sum.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24:00–25:30. [CLICK 1] What it DOES mean. "Two networks, opposite objectives, on the same score: D's output on fake images. They are opponents during training. But like the sparring partner, the purpose of D is to make G better. And after training, in most applications we keep the generator, because that is the thing that makes images. The discriminator was the coach." [CLICK 2] What it does NOT mean. - Not hacking or malicious behaviour. - Students will meet the phrase "adversarial examples" or "adversarial attacks" in other courses: adding tiny, carefully chosen noise to an image so that a trained classifier gets it wrong. Same word, different topic. Don't mix them up. - Not "one network wins and destroys the other". If D wins completely, training actually gets worse for G, as we will see. ASK: "After training, which network would a company ship in an image-generation app?" Expected: the generator.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25:30–27:00. Quick think-pair-share. SAY: "Turn to your neighbour. One of you explains the answers to the other in 60 seconds. Then swap." Give them 60 seconds. Then cold-call 2 to 3 pairs. [CLICK 1] Answer 1: Generative Adversarial Network (or Networks). [CLICK 2] Answer 2: Counterfeiter = Generator, Police = Discriminator. [CLICK 3] Answer 3: Opposite goals on the SAME score. For a generated image, D wants its score to go down (towards 0, "fake") and G wants it to go up (towards 1, "real"). If anyone answers "because they attack each other", gently correct: opposite objectives, not attacks. TRANSITION: "Good. Now let's stop switching analogies. From here to the end of the theory, we use ONE example: the flower forger."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27:00. Section 03 is short (minutes 27 to 30), but important: it fixes ONE example for the rest of the theory. SAY: "Many GAN explanations jump between money, faces, cats and digits, and students lose track. We will use one example until the notebook: a flower forger. The goal: a model that generates new pictures of flowers." "Every idea from now on (generator, discriminator, losses, the minimax equation) will be explained with this same flower story. In the notebook we simply swap flowers for handwritten digits; the game stays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27:30–30:00. PAPER: Goodfellow et al., "Generative Adversarial Nets", NeurIPS 2014, https://arxiv.org/abs/1406.2661 (the link is on the slide). This is the paper that introduced GANs. PURPOSE: the same two players appear under different names. This table ties our flower story to the original paper's analogy and to the exact class names in the notebook, so students can follow along when they reach the code. Walk across each row: - Row 1, the dataset. Our story: a large collection of real flower photos. The paper's analogy: genuine money. The notebook: train_loader with MNIST digits. - Row 2 (blue), the forger = Generator. Paper: the counterfeiter. Notebook: the Generator class. - Row 3 (orange), the inspector = Discriminator. Paper: the police. Notebook: the Discriminator class. - Row 4, the verdict: a number between 0 and 1. Close to 1 means "I think this is real", close to 0 means "I think this is fake". In the notebook it is the output of a Sigmoid. [CLICK 1] The colour rule. "From now on: blue is always the forger, the Generator. Orange is always the inspector, the Discriminator." ASK: "The inspector outputs 0.9 for an image. What does that mean?" Expected: it believes the image is real, i.e. from the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30:00. Section 04 runs from minute 30 to minute 42. SAY: "Let's zoom into the forger: the Generator, G. We will answer four questions. What goes in? What comes out? What does it look like before training? And the surprising one: how can it learn to paint flowers if it never looks at a real flower?"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30:30–33:00. Build the diagram left to right, one click at a time, and narrate. [CLICK 1] z. "The input is a vector of random numbers. We call it z, the noise vector or latent vector. In the notebook it has 100 numbers drawn from a standard normal distribution, torch.randn(batch_size, 100)." [CLICK 2] G. "These numbers go into the generator network G. It has weights; we call them theta-G. At the start they are random. Training changes them." [CLICK 3] The fake image. "Out comes an image: every single pixel value. We write it G(z): G applied to z. In our story, a painted flower." [CLICK 4] Input / output summary. Stress what the input is NOT: it is not a real flower photo that G copies, and it is not a label like 'sunflower'. (That would be a conditional GAN, which is class 3.) [CLICK 5] Summary line: the generator takes a random input vector and uses it to create its own fake flower. ASK: "If G's weights are fixed and we feed in the same z twice, do we get the same image?" Expected: yes, G is a deterministic function. The randomness comes only from z. "So how do we get a different flower?" Expected: sample a different z. That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33:00–35:00. Core idea: sample from a simple distribution, then transform it with a network. SAY: "Here is the trick that makes GANs generative. The generator itself is a fixed function once trained: the same input always gives the same output. So where does variety come from? From z." The first row is visible: z1 goes in, a yellow flower comes out. [CLICK 1] "A different random vector z2 gives a different flower." [CLICK 2] "z3 gives yet another. Every time you want a new flower, you just draw new random numbers." [CLICK 3] Why this works: - "We choose z from a distribution that is trivially easy to sample: a standard Gaussian. In PyTorch, torch.randn(64, 100) gives 64 vectors of 100 numbers each, exactly as in our notebook." - "The generator's job is to learn a mapping that bends and stretches this simple Gaussian cloud into the complicated shape of 'all flowers'. That is how p_g, from section 01, is created." - "The space where z lives is called the latent space. 'Latent' means hidden: these 100 numbers are hidden controls that, after training, often correspond to things like colour or petal shape. We explore latent spaces properly with VAEs later in the module." ASK: "What would go wrong if we fed G the same z every time during training?" Expected: it would learn to produce one image only, no variety (a hint of mode collapse). Note: the three flowers are illustrations of the mapping idea, not outputs of a trained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35:00–37:00. The generator initially outputs a random noise image, and training turns it into a convincing fake. SAY: "Let's look at the generator very concretely: at the start it outputs pure noise. Why? Because its weights are random numbers, so the output is random numbers too." Point at Step 0: "This is what G(z) looks like before training." [CLICK 1] Early. "After some feedback, the colour starts to appear in roughly the right place." [CLICK 2] Middle. "Structure appears: something like petals and a centre." [CLICK 3] Late. "Finally, a convincing flower." EMPHASISE: "In this sequence the input z is the SAME vector every time. The input did not change. The generator's weights changed. That is what learning means for G." [CLICK 4] Practical tip: "In the notebook, if you want to see progress, create one fixed batch of noise at the start, e.g. fixed_noise = torch.randn(16, 100), and generate images from it after every epoch. Changes in the pictures are then only due to learning, not due to new random inputs." This will be one of the notebook tasks. Say again that the four pictures are drawn to illustrate the idea; real GAN snapshots vary.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37:00–40:00. This is the most important idea about the generator, so slow down. SAY: "Here is something that surprises everyone. Look at the diagram. Where do real flowers appear? Nowhere. The generator never looks at a real flower. Not once. So how can it learn to paint them?" Trace the forward path on screen: z goes into G, G paints an image, the image goes into D, and D outputs a score: 0.08, meaning "probably fake". [CLICK 1] "The generator wanted that score to be close to 1, to be taken as real. Its single mission: take p close to 1. So its loss is high." [CLICK 2] The yellow arrow sweeps back. "Backpropagation computes the gradient of G's loss, and that gradient flows backwards: through D, and into G's weights. D is used here like a fixed measuring instrument: we do NOT change D's weights in this step; we only use D to compute the direction G should move." [CLICK 3] "The gradient effectively says to every weight in G: nudge yourself this way, and D will think your image is a bit more real. Repeat this thousands of times and G ends up painting things D believes are real. And D's opinion was formed by looking at real flowers. So knowledge about real flowers reaches G indirectly, through D." Counterfeiter analogy: the forger never gets the official printing plates; they only learn from what the police catch. The difference in a GAN: the 'police' hand over a precise gradient, not just 'caught / not caught'. That is why G can learn efficiently. ASK: "What would happen if D were a random, untrained network?" Expected: its gradients would be meaningless, and G would learn nothing useful about flowers. So D must be trained on real data too, which is section 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40:00–42:00. This code is copied from the exercise cell of CV-Week4-Lecture1.ipynb. SAY: "Let's look at the real generator you'll run in 30 minutes. It is only a few lines." [CLICK 1] Shapes. "nn.Linear(100, 256): the 100-number noise vector goes into a hidden layer of 256 units, with ReLU. Then nn.Linear(256, 784): 784 outputs. Why 784? Because MNIST images are 28 by 28, and 28 × 28 = 784. One output per pixel." [CLICK 2] Tanh. "The last activation is Tanh, which outputs values between −1 and 1. Why? Look at the data loading code: transforms.Normalize((0.5,), (0.5,)) maps pixel values from the range 0…1 to −1…1. If real images live in −1…1, fake images must live there too. Otherwise D could spot fakes just by their pixel range, which is a useless shortcut." [CLICK 3] Reshape. ".view(-1, 1, 28, 28) turns each row of 784 numbers into an image with 1 channel (grayscale), height 28, width 28. The -1 means 'whatever the batch size is'." [CLICK 4] "Our flower forger becomes a digit forger. Same job, different data." ASK: "If we wanted 64×64 colour images, what would change in the last Linear layer?" Expected: 64 × 64 × 3 = 12,288 outputs, and the view would be (-1, 3, 64, 64). (In practice we'd switch to a convolutional generator: DCGAN, class 3. The notebook already has a DCGANGenerator skeleton for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42:00. Section 05 runs from minute 42 to minute 53. SAY: "We just saw that the generator's only teacher is the discriminator. So the discriminator had better be a good judge. Let's zoom into the inspector." Good news for students: "The discriminator is something you already know how to build: a binary classifier. Real or fake. Only two twists: where its labels come from, and the fact that its opponent keeps changing."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42:30–45:00. SAY: "The discriminator, D, is the inspector. It takes ONE image and returns ONE number between 0 and 1: its estimate of the probability that the image is real, i.e. came from the dataset." [CLICK 1] A real flower from the dataset goes in. D outputs 0.97: "I'm fairly sure this one is real." [CLICK 2] A generated flower from G goes in. D outputs 0.04: "I'm fairly sure this one is fake." Make these points: - D is the SAME network for both inputs. It does not know where the image came from; it has to guess from the pixels. - D's output is not a flower type and not an image. It is one probability. - Notation: we write D(x) for a real image x, and D(G(z)) for a generated image. [CLICK 3] The discriminator is trained on real flower pictures so it learns what a flower looks like: the colours, the shading, the shapes. Then it can compare the generator's fakes against that. ASK: "D outputs 0.5 for an image. What does that mean?" Expected: D cannot tell; it's a coin flip. Keep this in mind for the equilibrium discussion in section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45:00–47:00. SAY: "A classifier needs labels. Who labels the images for D? Nobody. We get the labels for free." [CLICK 1] Real pile. "Any image we took from the dataset gets label 1, 'real'. In the notebook: labels_real = torch.ones(batch_size, 1)." [CLICK 2] Fake pile. "Any image the generator just painted gets label 0, 'fake'. labels_fake = torch.zeros(batch_size, 1)." [CLICK 3] "So GANs need no human labels at all. That is why GANs are often called unsupervised: we only need a pile of real images. The labels the code uses are about SOURCE, not quality. Even if G paints a perfect flower, when we train D it is still labelled 0, because it came from G." Common confusion to pre-empt: "Is label 1 'flower' and label 0 'not a flower'?" No. Both piles are flowers (or trying to be). The label only says which pile. ASK: "In the generator's training step we will later use label 1 for fake images. Is that cheating?" Tease it: "Hold that thought; it's the trick in section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47:00–50:00. The numbers are illustrative. SAY: "We can explain the whole GAN with just one number. The generator makes an image; the discriminator looks at it and outputs p: the probability that it is the real thing." [CLICK 1] The marker appears at the far left. "At the very beginning, G's image is pure noise, so D easily says p is tiny, something like 0.001." [CLICK 2] "D's mission, for fake images: keep p close to 0. Catch the fake." [CLICK 3] "G's mission: push p close to 1. Make D believe the fake is real." "Same number. Opposite directions. THAT is 'adversarial', in one picture. This is the most important slide for remembering what a GAN is." [CLICK 4] The marker jumps to the middle. "What happens if the generator becomes perfect, so fakes are identical in distribution to real flowers? Then D literally cannot tell them apart, and its best possible answer is 0.5 for every image. The tug-of-war balances in the middle. We'll prove this in section 06." CAUTION (common mix-up): be precise about loss directions: G's loss is LOW when p is close to 1; D's loss on fakes is LOW when p is close to 0. Use the "mission" wording to avoid confusion. ASK: "If p = 0.8 for a fake image, who is happier?" Expected: the generator. D's loss on this fake is high.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50:00–51:30. Copied from the exercise cell of CV-Week4-Lecture1.ipynb. [CLICK 1] "x.view(-1, 784) flattens each 1×28×28 image back into 784 numbers. Then 784 → 256 → 1." [CLICK 2] "LeakyReLU with slope 0.2. A normal ReLU outputs exactly 0 for negative inputs, and its gradient there is 0. LeakyReLU outputs 0.2 × x instead, so a small gradient always flows. Why does that matter? Remember: G learns ONLY through gradients that pass back through D. Dead ReLUs in D would block G's learning signal. LeakyReLU in the discriminator is a standard GAN practice." [CLICK 3] "Sigmoid squashes the final score into 0…1 so we can read it as the probability 'real'. It pairs with nn.BCELoss, binary cross-entropy, which we meet in section 06." [CLICK 4] "Notice the symmetry: the generator expands 100 → 784, the discriminator compresses 784 → 1." ASK: "Why does D not need Tanh at the end?" Expected: D outputs a probability, not pixels, so Sigmoid is the right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51:30–53:00. Recap of sections 04 and 05. Go row by row; ask the class to answer each cell BEFORE you point at it. - Input: G gets noise; D gets an image. - Output: G gives an image; D gives a probability. - Sees real data? G never; D does (in the notebook, each D step uses one real batch and one fake batch of the same size). - Wants on fakes: opposite directions. This row IS the word "adversarial". - Wants on reals: only D cares; G's loss does not involve real images at all. - After training: we keep G to generate new images; D is usually thrown away (though its features are sometimes reused). [CLICK 1] Study tip for students. TRANSITION: "We know the players and their goals. Now: how exactly do we train them? That's the rules of the game, and the maths."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53:00. Section 06 runs from minute 53 to minute 81. This is the most technical part; keep returning to the flower story. SAY: "You already know the goals in words: D wants fakes near 0 and reals near 1; G wants fakes near 1. In this section we turn those words into (1) a training loop, (2) loss functions, and (3) one famous equation. If you understood the tug-of-war slide, you already understand the equation. We just need to read it." Structure: the training loop → loss function → game theory view → optimal discriminator and generator → training dynamics and the practical generator loss (17:26) → what goes wrong (22:13, 23:39).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53:30–56:00. This is the "master diagram". Build it slowly; every later slide zooms into part of it. [CLICK 1] Real data: a mini-batch of real images x from the dataset (in the notebook, 64 MNIST digits from train_loader). [CLICK 2] The generator path: sample noise z, G paints fakes G(z), a batch of the same size. [CLICK 3] Both kinds of images flow into the SAME discriminator D. [CLICK 4] D outputs a probability for each image, and we compare these probabilities to targets with a loss function: binary cross-entropy (BCE). [CLICK 5] Step 1, orange dashed arrow: use the loss to update D only. Targets: real → 1, fake → 0. [CLICK 6] Step 2, blue dashed arrow: use a second loss to update G only. The gradient passes back through D into G. Target: we want D to say 1 ("real") for the fakes. [CLICK 7] "And we repeat that pair of steps for every mini-batch, for every epoch." This matches Algorithm 1 in the original paper, where D gets k steps per G step. The paper used k = 1 in its experiments, and so does our notebook. ASK: "Which arrows exist only during training, and which path do we use after training to make new flowers?" Expected: after training we only need z → G →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56:00–58:00. This is the first half of the training loop in the notebook, verbatim. Walk through the code top to bottom, then use the clicks. "optimizer_d.zero_grad() clears old gradients. Then two mini-exams for the inspector." [CLICK 1] Real exam: discriminator(real) gives probabilities for the 64 real digits; BCE against labels_real (all ones). If D says 0.2 for a real image, it gets a big penalty. [CLICK 2] Fake exam: sample fresh noise, G paints 64 fakes, D judges them; BCE against labels_fake (all zeros). If D says 0.9 for a fake, big penalty. "loss_d = loss_real + loss_fake: D's total mistake on both piles. backward() computes gradients; optimizer_d.step() updates D." [CLICK 3] The two safety details: 1. fake.detach(): "detach" cuts the computation graph between the fake images and G. So when we call loss_d.backward(), no gradients flow into the generator. We are training the inspector, not the forger. 2. Only optimizer_d.step() is called, and optimizer_d holds only D's parameters. So G is frozen in this step. In the flower story: "The inspector studies a pile of genuine flowers and a pile of today's forgeries, and sharpens their eye. The forger is not in the room." ASK: "What would happen without .detach()?" Expected: gradients would also be computed for G's weights (wasted work). G is still not updated because optimizer_g does not step here, but the unused gradients would sit in G's parameters until optimizer_g.zero_grad() clears them. Detach keeps the D step clean and cheaper.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58:00–60:00. Second half of the notebook's loop, verbatim. "optimizer_g.zero_grad() clears G's gradients (this also clears any leftovers). Now D, which has just been updated in step 1, judges the same fake images again." [CLICK 1] "This time there is NO .detach(). We WANT the gradient to flow from the loss, back through D, into G's weights. That is the path from the 'G never sees a real flower' slide." [CLICK 2] The trick students asked about earlier: "The target is labels_real: all ones. We are saying: 'G, your loss is low only if D says these fakes are real.' So minimising this BCE pushes D(G(z)) towards 1. That's the generator's mission from the tug-of-war slide." [CLICK 3] "Is that cheating? No. The labels in this line are not facts about the images; they are G's goal. When we train D, fakes are labelled 0 (the truth about their source). When we train G, we ask for 1 (G's wish)." "loss_g.backward() computes gradients for both D and G's parameters (the graph goes through both), but only optimizer_g.step() is called, so only G changes. D's stale gradients are cleared by optimizer_d.zero_grad() at the start of the next iteration." ASK: "In one sentence each: what does step 1 teach, and what does step 2 teach?" Expected: step 1 teaches D to tell real from fake; step 2 teaches G to fool the current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60:00–63:00. The notebook uses criterion = nn.BCELoss(). The GAN loss is built from exactly this. SAY: "Binary cross-entropy is the standard loss for a yes/no prediction. y is the target (1 or 0), p is the predicted probability of 1. Only one of the two terms is active at a time: if y = 1 the loss is −log p; if y = 0 the loss is −log(1 − p)." Intuition: "−log of a number close to 1 is close to 0. −log of a small number is big. So BCE is small when you are confident AND right, and huge when you are confident and wrong." Table walk-through (numbers are natural logs; check them live on a calculator if students doubt): - D sees a real flower, says 0.9 → −ln 0.9 = 0.105. Small. - D sees a real flower, says 0.1 → −ln 0.1 = 2.303. Big penalty. - D sees a fake, says 0.2 → target 0 → −ln(0.8) = 0.223. Small. - G, same fake, same 0.2, but G's target is 1 → −ln 0.2 = 1.609. Big. [CLICK 1] D's total loss, just like loss_d = loss_real + loss_fake in the code: 0.105 + 0.223 = 0.328. D is doing well. [CLICK 2] G's loss on the same fake: 1.609. G is doing badly. "Same image, same score 0.2, one player is happy and the other is not. That's the adversarial setup in numbers." Note: in the notebook each loss is the MEAN over the 64 images in the batch (BCELoss default reduction='mean').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63:00–66:00. A worked round that joins the loop (step 1, step 2) with the BCE numbers. The scores are invented for teaching; the arithmetic is exact (natural log). Walk through the table row by row. Ask students to compute one or two cells themselves before you reveal the explanation boxes. Row 1, start: D(x) = 0.60, D(G(z)) = 0.40. - D's loss = −ln 0.60 (real, target 1) + −ln(1 − 0.40) (fake, target 0) = 0.511 + 0.511 = 1.022. - G's loss (notebook version) = −ln D(G(z)) = −ln 0.40 = 0.916. Row 2, after the D step. D becomes more confident: D(x) = 0.70, D(G(z)) = 0.30. - D's loss = −ln 0.70 + −ln 0.70 = 0.357 + 0.357 = 0.713. Down: D improved. - G's loss = −ln 0.30 = 1.204. Up: G did NOT change, but its opponent got better, so G looks worse. [CLICK 1] D step explanation. Row 3, after the G step. G's weights change so its fake is judged more real: D(G(z)) = 0.45. D's weights did not change. - G's loss = −ln 0.45 = 0.799. Down. - D's loss = 0.357 + −ln 0.55 = 0.357 + 0.598 = 0.955. Up: D did not change, but its opponent got better. [CLICK 2] G step explanation. KEY LESSON: "Each player's loss depends on BOTH players. One side improving makes the other side's loss go up, even if the other side did nothing. That's why GAN loss curves do not simply go down like a classifier's." ASK: "In row 2, G's loss went up. Did G get worse?" Expected: no, G was not updated; D got better. This prepares students for the "reading your results" slide in the notebook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66:00–70:00. This is outcome 3 of the class. Take your time. SAY: "Here is the equation from the original 2014 paper. Don't panic; you already know everything in it. Read it as: min over G, max over D, of V(D, G), where V is the sum of two averages." 𝔼 means "average over": over real images x from the dataset, and over noise vectors z. [CLICK 1] Term 1, real flowers: the average of log D(x). log of a probability is always ≤ 0, and it reaches its maximum, 0, when D(x) = 1. So D makes this term as large as possible by saying "real" to real images. The generator does not appear in this term at all, so G can't affect it. [CLICK 2] Term 2, fake flowers: the average of log(1 − D(G(z))). D wants D(G(z)) → 0, which makes 1 − D close to 1 and the log close to 0: large. G wants D(G(z)) → 1, which makes 1 − D close to 0 and the log go to minus infinity: small. So the same term is pushed UP by D and DOWN by G. That is the tug-of-war slide written as maths. [CLICK 3] "Minimax means G is trying to minimise the value that the best possible D can achieve. There is only ONE number V, and one player's gain is exactly the other's loss: a zero-sum game." Connection to code: BCE is the negative of these log terms. The notebook's loss_d = BCE(real, 1) + BCE(fake, 0) = −[log D(x) + log(1 − D(G(z)))], averaged. So minimising loss_d is the same as maximising V. (The notebook's G loss is slightly different; see two slides ahead.) ASK: "Which term carries the gradient for G?" Expected: only term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70:00–72:00. These results are Proposition 1 and Theorem 1 of the original paper. No proof needed in class 1; focus on meaning. [CLICK 1] Best discriminator for a fixed generator. "Imagine a specific image x. Real data puts some probability p_data(x) on it, the generator puts p_g(x). The best possible inspector outputs the fraction that comes from real data. If fakes never look like x, D* = 1. If only fakes look like x, D* = 0." [CLICK 2] Best generator. "The generator wins the game when p_g equals p_data. Then the fraction is always one half. The best inspector is reduced to a coin flip. This is the 50/50 point from the arms-race slide and the middle of the tug-of-war." In the paper, at this point the value of the game is V = −log 4. [CLICK 3] Practical numbers for the notebook. "If D says 0.5 for everything: each BCE term is −ln 0.5 = ln 2 ≈ 0.693. The notebook's loss_d adds a real term and a fake term, so ≈ 1.386; loss_g has one term, so ≈ 0.693. When you run the notebook, compare the printed losses to these references. But warning: an untrained D also outputs about 0.5! So losses near these numbers do NOT automatically mean G is good. Always look at the generated images too." Game theory note: this ideal point is a Nash equilibrium: neither player can improve by changing its strategy alone. In practice, with finite networks and alternating gradient steps, training may hover around it, oscillate, or never reach it. That is the topic of next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72:00–75:00. The fix is suggested in Section 3 of the original paper. SAY: "There's a small but important difference between the minimax equation and the notebook code. In the equation, G minimises log(1 − D(G(z))). In the notebook, G minimises BCE with target 1, which equals −log D(G(z)). Why the change?" Point at the plot. X-axis: how real D thinks the fake is. Both curves go down as D(G(z)) goes up, so both push G in the same direction. [CLICK 1] "At the start of training G's fakes are awful, and D easily spots them: D(G(z)) is near 0. That's the yellow region." [CLICK 2] Orange curve (original term): "Look how flat it is near 0. A flat curve means a tiny gradient. So exactly when G is worst and needs the most help, it gets almost no learning signal. We say the loss 'saturates'." [CLICK 3] Blue curve (notebook): "−log D(G(z)) shoots up near 0. Steep curve, big gradient. G gets a strong push when it most needs it." [CLICK 4] "Both have the same goal: make D(G(z)) go to 1. This version is called the non-saturating generator loss, and it is what 'criterion(outputs_fake, labels_real)' computes. So now you know why that line says labels_real." Link to D being too strong: if D becomes nearly perfect very early, the original G loss gives vanishing gradients. The non-saturating loss reduces this problem but does not solve every training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75:00–77:00. Keep this short: it is a preview. Class 2 covers these in depth (Nash equilibrium, mode collapse, instability). The notebook's theory cell lists "Challenges: mode collapse, instability". [CLICK 1] Mode collapse. "Suppose G discovers that one particular yellow flower always fools D. The cheapest strategy is to paint only that flower, for every z. D sees good images, but the variety is gone: it's as if the garden only has one flower. On MNIST, collapse would look like a generator producing mostly one or two digits." [CLICK 2] Non-convergence. "Because each player's best move depends on the other's current state, the two can chase each other in circles instead of settling at the 50/50 point. Losses go up and down without the images steadily improving." [CLICK 3] D too strong. "If D becomes perfect very fast, the original generator loss gives almost zero gradient; the generator stops learning. That's why the notebook uses the non-saturating loss, and why balance between the two matters." In the notebook, ask students to LOOK for these: are all 16 samples the same digit? Do the printed losses swing wildly?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77:00–79:00. The notebook's wrap-up cell asks for a "GANs vs VAEs comparison"; this table gives students the map. Keep it at overview level: VAEs and diffusion are later topics in this module. Walk the rows: - How it learns. GAN: the adversarial game we studied today. VAE (notebook cell 3): an encoder squeezes an image into a small latent code, a decoder rebuilds it; the loss combines reconstruction error and a KL term that keeps the latent space well organised. Diffusion: add noise to images step by step, and train a network to undo one step of noise at a time. - Making a sample. GAN and VAE: one pass through a network, so very fast. Diffusion: many denoising steps, so slower (though there are speed-up tricks). - Typical images. GANs are known for sharp images; VAEs often look blurrier; diffusion models give sharp and diverse images and power most modern text-to-image systems. - Main difficulty. GAN: training instability and mode collapse (next class). VAE: blur and trade-offs. Diffusion: sampling cost and compute. These are general tendencies, not strict rules: modern variants of each family blur these lines. ASK: "If you needed to generate images in real time on a phone, which family looks attractive from this table, and why?" Expected: GAN (or VAE), because a sample takes one forward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79:00–81:00. End of the 70-minute conceptual block. SAY: "Here is the whole lesson in one table. Read each row across: the story, the maths, and the exact line you will see in the notebook in a minute." Go quickly row by row, asking students to fill in the maths or code column from memory where possible. Final message before the notebook: "When you look at the code, don't read it as 40 unrelated lines. Look for the two players, the two piles of images, the two losses and the two optimizer steps. That's the whole GAN." If running short on time: skip this slide's details and just say "This table is your revision sheet". Switch to the notebook now. Ask students to open CV-Week4-Lecture1.ipynb.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81:00. Section 07: minutes 81 to 145 (5 minutes on the MNIST dataset, then about 60 minutes in the notebook). Plan: - 81–82: bridge from flowers to digits - 82–86: what MNIST is, and how a digit becomes numbers (last theory slides) - 86–88: map of the notebook (what we use today, what we skip) - 88–94: short code walk (setup, then the loop you already know) - 94–104: Task 1, run and observe - 104–112: Task 2, read the code and answer - 112–127: Task 3, one experiment (predict first) + short debrief - 127–138: Task 4, explore the latent space - 138–145: reading your results, whole-class debrief Logistics: students open the notebook (Colab or local Jupyter). If the MNIST download is slow on the network, have a pre-downloaded ./data folder ready to share, or pair students up. Students who finish early can raise epochs to 10–20 and compare samples.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81:00–82:00. SAY: "Everything we did with flowers now happens with handwritten digits. The MNIST dataset: 60,000 training images of digits 0 to 9, each 28 by 28 pixels, greyscale." [CLICK 1] Flowers become digits. [CLICK 2] The mapping table. Walk the rows quickly: real data, the forger, the inspector. Last row, important: "This GAN is unconditional. The generator gets only noise, no label. So we cannot ask it for 'a 7'. It produces whatever digit its z leads to. Notice the training loop even throws the labels away: 'for real, _ in train_loader'. The underscore is the digit label, ignored. Asking for a specific digit is the Conditional GAN, which is the assignment at the end of the notebook and our topic in class 3." (The digit strip on this slide is drawn in MNIST style for illustration.)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82:00–84:00. MNIST explained for students who have not met it before. This slide is also study material. SAY: "Before we open the code, let's meet the data. MNIST stands for Modified National Institute of Standards and Technology database. NIST is a US government standards agency that collected handwriting samples; the 'Modified' version was prepared by Yann LeCun, Corinna Cortes and Christopher Burges and released in 1998." [CLICK 1] Walk through the facts: - 70,000 images in total: 60,000 for training and 10,000 for testing. Our notebook uses train=True, so the 60,000 training images. - Each image is 28 by 28 pixels, so 784 numbers. That is where the 784 in both our networks comes from. - Greyscale: one channel. Each pixel is stored as a whole number from 0 (black background) to 255 (white ink). MNIST digits are white strokes on a black background. - Each image has a label: which digit it shows. Classifiers use the label. Our GAN ignores it. - The handwriting came from US Census Bureau employees and American high-school students. [CLICK 2] Size-normalised and centred: every digit was scaled to fit and placed in the middle of the 28×28 frame, so models do not have to deal with position or size. Because it is small, clean and fast to train on, MNIST is the standard first dataset: the "hello world" of machine learning. Point at the grid on the right: "This is one digit, drawn as its 28 by 28 pixels. Each square is one number." (The picture is an MNIST-style illustration, not an image taken from the dataset.) WHY MNIST FOR A FIRST GAN: it trains in minutes on a laptop CPU, and anyone can judge by eye whether a generated digit looks right. ASK: "How many numbers does the discriminator receive for one MNIST image?" Expected: 784.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84:00–86:00. This connects the dataset to the first lines of the notebook. Point at the grid: "This is an 8 by 8 corner of one digit, zoomed in. Every square is a pixel, and the number on it is its brightness: 0 is black, 255 is white. The full image has 28 × 28 = 784 of these." [CLICK 1] Stored format: integers 0 to 255. [CLICK 2] transforms.ToTensor() converts the image to a PyTorch tensor and divides by 255, so values are between 0.0 and 1.0. The shape is (1, 28, 28): 1 channel, 28 rows, 28 columns. [CLICK 3] transforms.Normalize((0.5,), (0.5,)) subtracts 0.5 and divides by 0.5. Result: −1 to +1. We need this because the generator ends with Tanh, which outputs −1 to +1. Real and fake images must live in the same range, otherwise D could tell them apart by range alone. [CLICK 4] DataLoader groups 64 images into a batch: shape (64, 1, 28, 28). Inside D, x.view(-1, 784) flattens each image into a row of 784 numbers. [CLICK 5] Worked example: pixel 204 → 204/255 = 0.8 → (0.8 − 0.5)/0.5 = 0.6. Pixel 0 → 0.0 → −1.0. White ink becomes near +1, black background becomes −1. ASK: "What will a pixel of value 255 become?" Expected: 1.0, then +1.0. The values in the picture come from an MNIST-style illustration drawn for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86:00–88:00. SAY: "Open CV-Week4-Lecture1.ipynb. It has eight cells. Today we only need the exercise." - Cells 1–2: markdown intro and GAN theory. We covered them in sections 01 to 06; students can reread them. - Cell 3: VAE theory. Skip; that's our next topic after GANs. - Cells 4–5 (highlighted): the exercise heading and the ONE code cell with the whole GAN. This is our 60 minutes, plus one extra cell we add ourselves in Task 4. - Cells 6–7: the DCGAN mini-project on CelebA faces. Only a generator skeleton; it needs a training loop and a dataset. That is class 3 material. Don't run it today. - Cell 8: wrap-up, including the assignment "Extend GAN to Conditional GAN". Mention it as upcoming homework. Tell students: "Because everything is in one cell, when you change something, you rerun the whole cell. That retrains from scratch. It's fine; the model is tiny."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88:00–91:00. Show this slide while students scroll to the same lines in their own notebook. [CLICK 1] Normalize((0.5,), (0.5,)): subtract 0.5, divide by 0.5. Pixel 0 → −1, pixel 1 → +1. Matches the Tanh range of the generator's output. [CLICK 2] batch_size=64, shuffle=True. 60,000 / 64 ≈ 938 mini-batches per epoch, and each batch does one D step and one G step. So one epoch ≈ 938 rounds of the counterfeiter-police game. [CLICK 3] One criterion, nn.BCELoss, for both networks. What differs is the target we give it. [CLICK 4] Two separate Adam optimizers, both with learning rate 0.0002 (a common GAN choice from the DCGAN paper). optimizer_g only knows G's parameters and optimizer_d only knows D's. That is the mechanism that lets us "freeze" one player while updating the other. The Generator and Discriminator classes sit between the loader and these lines; we already studied them in sections 04 and 05. Note: everything runs on CPU in this notebook (no .to(device)). That's fine for this small MLP.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91:00–94:00. The code here is condensed (step details are on the "Step 1" and "Step 2" slides). Ask students to find each part in their own notebook. Point out the structure: two nested loops (epochs, then batches); inside each batch, labels are created, then Step 1 (D), then Step 2 (G). One print per epoch. Then after training: 16 fresh noise vectors → generator → plot in one row. [CLICK 1] "The print statement is OUTSIDE the batch loop, so loss_d.item() and loss_g.item() are the values from the LAST mini-batch of the epoch. They're noisy snapshots, not averages. Don't over-read them." [CLICK 2] "The visualisation uses only the generator. That's the 'after training' path: z → G → image. .detach() here just says we don't need gradients for plotting." [CLICK 3] Detail for curious students: 60,000 is not divisible by 64, so the last batch has 60,000 − 937 × 64 = 32 images. That's why the code sets batch_size = real.size(0) inside the loop instead of using the constant 64: the labels and the noise must match the actual batch size. Then: "Enough reading. Let's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94:00–104:00. Instructions: run the exercise cell unchanged. It downloads MNIST the first time (about 10 MB), then trains for 2 epochs. Check the run time on the classroom machines before class; CPU is enough for this small model. While it trains, ask for predictions out loud: "Sharp digits? Blurry? Noise?" Expected observations (describe, don't promise exact numbers; results vary per run): - After only 2 epochs of this small fully connected GAN, samples are usually rough, blotchy, digit-like shapes. Some are recognisable, some are not. That's normal. - Losses: compare to 1.386 (D) and 0.693 (G), the "D says 0.5" references. Typically D's loss is below 1.386 and G's is above 0.693, meaning D is still winning. They are last-batch snapshots, so they are noisy. - Diversity: if many of the 16 look like the same digit, that's a hint of mode collapse. Ask students to report their count. Question 4 answer: the plotting code samples NEW noise with torch.randn(16, 100); G is a fixed function after training, and new z gives new digits. That's the "different z, different flower" slide. (To rerun only the plot, students can copy the last 7 lines into a new cell.) Walk around; the most common issue is the MNIST download. Pair students if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104:00–112:00. Pairs answer a–d in the notebook (as a markdown cell or on paper). After about 6 minutes, reveal answers one click at a time and cold-call pairs. [CLICK 1] a. labels_fake = torch.zeros(batch_size, 1). All zeros: "these came from G". [CLICK 2] b. In the D step, fake.detach() stops gradients from flowing back into the generator; we are training only D. In the G step we need the gradient to go through D into G, so no detach. [CLICK 3] c. labels_real (all ones) in the G step expresses G's goal: make D output 1 for fakes. Minimising BCE with target 1 = minimising −log D(G(z)), the non-saturating generator loss. [CLICK 4] d. generator(noise) returns .view(-1, 1, 28, 28), so for a full batch: (64, 1, 28, 28). (The last batch: (32, 1, 28, 28).) Bonus for fast pairs: "Which variable holds the discriminator's opinion of real images?" (outputs_real.) "Where does the generator see a real image?" (Nowhere.)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112:00–127:00. Each pair picks ONE experiment (assign by row to get a mix). Rule: write the prediction first, then run, then compare. A. Watch G learn (recommended for most students). Code to add: before the epoch loop: fixed_noise = torch.randn(16, 100) at the end of each epoch (after the print): imgs = generator(fixed_noise).detach(), then plot 16 images as in the final cell. With epochs = 5 they see the same 16 z's evolve, which is the "same z, only weights change" slide. Warn: 5 epochs takes about 2.5× as long as 2. B. Latent size 10. Must change nn.Linear(100, 256) in Generator AND torch.randn(batch_size, 100) in the loop AND torch.randn(16, 100) in the plot; otherwise a shape error. That error is itself a good lesson. Typical outcome: it still trains; discuss whether variety changes. Don't promise a specific result. C. D learning rate 10× larger. Prediction to discuss: D gets stronger faster, Loss D tends to drop and Loss G rises; G may learn more slowly or samples may be worse. Ties to the "D too strong" slide. Results vary. D. betas=(0.5, 0.999): recommended in the DCGAN paper (Radford et al., 2015) for stable GAN training. Syntax: optim.Adam(generator.parameters(), lr=0.0002, betas=(0.5, 0.999)). Debrief at 124:00: one pair per experiment reports prediction vs result in 20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127:00–138:00. A new cell that uses the TRAINED generator from the exercise cell. Students must have run the exercise cell first (ideally with more epochs from Task 3A). What the code does: picks two random noise vectors z1 and z2, then makes 8 vectors on the straight line between them: t goes 0, 1/7, 2/7 … 1, and z = (1 − t)·z1 + t·z2. Each is passed through G and plotted in a row. This is called latent-space interpolation. Question 1. Expected: after enough training, images usually change gradually, which shows G has learned a smooth mapping from noise to images. After only 2 epochs results can be rough; that is fine. Question 2. When endpoints are different digits, the middle images are often blends or ambiguous shapes, sometimes passing through a third digit. Discuss: "the latent space is continuous; digits are regions in it." Question 3. Code hint: noise = torch.randn(64, 100); imgs = generator(noise).detach(); plot with plt.subplots(8, 8). Counting by eye is fine. If one or two digits dominate, that is a sign of mode collapse (class 2 topic). Note that with short training, some samples won't be recognisable. Links to theory: "different z, different flower" (g-latent slide) and "mode collapse" (wrong slide). Interpolation also returns in the VAE topic. If time is short, do questions 1 and 3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138:00–145:00. Use this slide during the debrief, or keep it on screen while students work so they can self-diagnose. Key message: "In a normal classifier, lower loss means better. In a GAN, the loss is measured against an opponent who is also changing. D's loss going down could mean D is getting better OR G getting worse. G's loss going up could mean D is getting better, not that G got worse. So always look at the images." Row notes: - Blotchy digits: expected after 2 epochs; more epochs or a convolutional GAN (DCGAN, class 3) help. - Losses vs references: from the equilibrium slide. - Same digit repeated: hint of mode collapse; one grid of 16 isn't proof, so sample more. - Rising Loss G with noisy samples: D may be dominating. - Shape error: usually from experiment B when not all three 100s were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145:00–148:00, then 2 minutes of discussion on the next slide. Hand out slips (or use a quick form). Students answer from memory, no notes. Collect the slips; they tell you what to revise at the start of class 2. Expected answers: 1. Generative Adversarial Network(s). Adversarial: two networks, a generator and a discriminator, are trained with opposite objectives on the same score, so each one's improvement forces the other to improve. 2. D wants 0.3 to go DOWN towards 0 (it's a fake). G wants it to go UP towards 1. Bonus: D's BCE on this fake = −ln 0.7 ≈ 0.357; G's = −ln 0.3 ≈ 1.204. 3. .detach() cuts the computation graph between the fake image and the generator, so during D's update no gradient flows into G: only the discriminator learns in that step. 4. Muddiest point: read these before class 2 and start next class by addressing the top two. [CLICK 1] Reveal the short answers only AFTER collecting the slips.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148:00–150:00. Discussion prompt: "If we throw D away after training, why do we need it at all?" Guide towards: we have no formula for p_data, so we cannot directly compute how far G's images are from real ones. D is a learned, adaptive measure of that difference; its gradients are the only signal that carries information about real images to G. (Other generative models use different signals: VAEs use reconstruction plus a KL term; diffusion models learn to remove noise. Those are coming later in this module.) Next class (class 2): training dynamics: Nash equilibrium, mode collapse, instability. Class 3: DCGAN and conditional GAN, including the notebook's DCGAN generator and the conditional-GAN assignment. Homework suggestion: watch the DeepBean video from 12:14 to the end before class 2 (about 14 minutes). Optional: rerun the notebook with experiment A for 10 epochs and bring the grid of images. References: - DeepBean, "Understanding GANs (Generative Adversarial Networks)": https://www.youtube.com/watch?v=RAa55G-oEuk - IBM Technology, "What are GANs (Generative Adversarial Networks)?": https://www.youtube.com/watch?v=TpMIssRdhco - Vizuara, "Let us build a simple Generative Adversarial Network (GAN) from scratch": https://www.youtube.com/watch?v=FVcnuayhU-k - Goodfellow et al., "Generative Adversarial Nets", 2014: https://arxiv.org/abs/1406.2661 - Radford et al., DCGAN, 2015 (source of Adam betas=(0.5, 0.999)): https://arxiv.org/abs/1511.06434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arxiv.org/abs/1406.2661" TargetMode="Externa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image" Target="../media/image-22-9.png"/><Relationship Id="rId10" Type="http://schemas.openxmlformats.org/officeDocument/2006/relationships/slideLayout" Target="../slideLayouts/slideLayout1.xml"/><Relationship Id="rId11"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slideLayout" Target="../slideLayouts/slideLayout1.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1.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slideLayout" Target="../slideLayouts/slideLayout1.xml"/><Relationship Id="rId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image" Target="../media/image-33-7.png"/><Relationship Id="rId8" Type="http://schemas.openxmlformats.org/officeDocument/2006/relationships/image" Target="../media/image-33-8.png"/><Relationship Id="rId9" Type="http://schemas.openxmlformats.org/officeDocument/2006/relationships/image" Target="../media/image-33-9.png"/><Relationship Id="rId10" Type="http://schemas.openxmlformats.org/officeDocument/2006/relationships/image" Target="../media/image-33-10.png"/><Relationship Id="rId11" Type="http://schemas.openxmlformats.org/officeDocument/2006/relationships/image" Target="../media/image-33-11.png"/><Relationship Id="rId12" Type="http://schemas.openxmlformats.org/officeDocument/2006/relationships/image" Target="../media/image-33-12.png"/><Relationship Id="rId13" Type="http://schemas.openxmlformats.org/officeDocument/2006/relationships/image" Target="../media/image-33-13.png"/><Relationship Id="rId14" Type="http://schemas.openxmlformats.org/officeDocument/2006/relationships/slideLayout" Target="../slideLayouts/slideLayout1.xml"/><Relationship Id="rId1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slideLayout" Target="../slideLayouts/slideLayout1.xm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slideLayout" Target="../slideLayouts/slideLayout1.xml"/><Relationship Id="rId6"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hyperlink" Target="https://www.youtube.com/watch?v=RAa55G-oEuk" TargetMode="External"/><Relationship Id="rId2" Type="http://schemas.openxmlformats.org/officeDocument/2006/relationships/hyperlink" Target="https://www.youtube.com/watch?v=TpMIssRdhco" TargetMode="External"/><Relationship Id="rId3" Type="http://schemas.openxmlformats.org/officeDocument/2006/relationships/hyperlink" Target="https://www.youtube.com/watch?v=FVcnuayhU-k" TargetMode="External"/><Relationship Id="rId4" Type="http://schemas.openxmlformats.org/officeDocument/2006/relationships/hyperlink" Target="https://arxiv.org/abs/1406.2661" TargetMode="External"/><Relationship Id="rId5" Type="http://schemas.openxmlformats.org/officeDocument/2006/relationships/slideLayout" Target="../slideLayouts/slideLayout1.xml"/><Relationship Id="rId6"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762000"/>
            <a:ext cx="7194550"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E9B949"/>
                </a:solidFill>
                <a:latin typeface="IBM Plex Sans" pitchFamily="34" charset="0"/>
                <a:ea typeface="IBM Plex Sans" pitchFamily="34" charset="-122"/>
                <a:cs typeface="IBM Plex Sans" pitchFamily="34" charset="-120"/>
              </a:rPr>
              <a:t>LINE 3 · APPLIED GENERATIVE VISION + MULTIMODAL</a:t>
            </a:r>
            <a:endParaRPr lang="en-US" sz="1300" dirty="0"/>
          </a:p>
        </p:txBody>
      </p:sp>
      <p:sp>
        <p:nvSpPr>
          <p:cNvPr id="3" name="Text 1"/>
          <p:cNvSpPr/>
          <p:nvPr/>
        </p:nvSpPr>
        <p:spPr>
          <a:xfrm>
            <a:off x="812800" y="1587500"/>
            <a:ext cx="6540500" cy="2201565"/>
          </a:xfrm>
          <a:prstGeom prst="rect">
            <a:avLst/>
          </a:prstGeom>
          <a:noFill/>
          <a:ln/>
        </p:spPr>
        <p:txBody>
          <a:bodyPr wrap="square" lIns="0" tIns="0" rIns="0" bIns="0" rtlCol="0" anchor="t">
            <a:normAutofit/>
          </a:bodyPr>
          <a:lstStyle/>
          <a:p>
            <a:pPr algn="l" indent="0" marL="0">
              <a:lnSpc>
                <a:spcPts val="5712"/>
              </a:lnSpc>
              <a:buNone/>
            </a:pPr>
            <a:r>
              <a:rPr lang="en-US" sz="5600" b="1" dirty="0">
                <a:solidFill>
                  <a:srgbClr val="F6F3EC"/>
                </a:solidFill>
                <a:latin typeface="Space Grotesk" pitchFamily="34" charset="0"/>
                <a:ea typeface="Space Grotesk" pitchFamily="34" charset="-122"/>
                <a:cs typeface="Space Grotesk" pitchFamily="34" charset="-120"/>
              </a:rPr>
              <a:t>Generative Adversarial Networks</a:t>
            </a:r>
            <a:endParaRPr lang="en-US" sz="5600" dirty="0"/>
          </a:p>
        </p:txBody>
      </p:sp>
      <p:sp>
        <p:nvSpPr>
          <p:cNvPr id="4" name="Text 2"/>
          <p:cNvSpPr/>
          <p:nvPr/>
        </p:nvSpPr>
        <p:spPr>
          <a:xfrm>
            <a:off x="812800" y="3937000"/>
            <a:ext cx="627888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BFC8D6"/>
                </a:solidFill>
                <a:latin typeface="IBM Plex Sans" pitchFamily="34" charset="0"/>
                <a:ea typeface="IBM Plex Sans" pitchFamily="34" charset="-122"/>
                <a:cs typeface="IBM Plex Sans" pitchFamily="34" charset="-120"/>
              </a:rPr>
              <a:t>Class 1 · The GAN framework: generator, discriminator and the minimax objective</a:t>
            </a:r>
            <a:endParaRPr lang="en-US" sz="1800" dirty="0"/>
          </a:p>
        </p:txBody>
      </p:sp>
      <p:pic>
        <p:nvPicPr>
          <p:cNvPr id="5" name="Image 0" descr="A square of random coloured noise">    </p:cNvPr>
          <p:cNvPicPr>
            <a:picLocks noChangeAspect="1"/>
          </p:cNvPicPr>
          <p:nvPr/>
        </p:nvPicPr>
        <p:blipFill>
          <a:blip r:embed="rId1"/>
          <a:srcRect l="0" r="0" t="0" b="0"/>
          <a:stretch/>
        </p:blipFill>
        <p:spPr>
          <a:xfrm>
            <a:off x="7493000" y="2095500"/>
            <a:ext cx="1651000" cy="1651000"/>
          </a:xfrm>
          <a:prstGeom prst="roundRect">
            <a:avLst>
              <a:gd name="adj" fmla="val 4615"/>
            </a:avLst>
          </a:prstGeom>
        </p:spPr>
      </p:pic>
      <p:pic>
        <p:nvPicPr>
          <p:cNvPr id="6" name="Image 1" descr="arrow-right">    </p:cNvPr>
          <p:cNvPicPr>
            <a:picLocks noChangeAspect="1"/>
          </p:cNvPicPr>
          <p:nvPr/>
        </p:nvPicPr>
        <p:blipFill>
          <a:blip r:embed="rId2"/>
          <a:srcRect l="0" r="0" t="0" b="0"/>
          <a:stretch/>
        </p:blipFill>
        <p:spPr>
          <a:xfrm>
            <a:off x="9271000" y="2730500"/>
            <a:ext cx="635000" cy="381000"/>
          </a:xfrm>
          <a:prstGeom prst="rect">
            <a:avLst/>
          </a:prstGeom>
        </p:spPr>
      </p:pic>
      <p:sp>
        <p:nvSpPr>
          <p:cNvPr id="7" name="Shape 3"/>
          <p:cNvSpPr/>
          <p:nvPr/>
        </p:nvSpPr>
        <p:spPr>
          <a:xfrm>
            <a:off x="9969500" y="1968500"/>
            <a:ext cx="1905000" cy="1905000"/>
          </a:xfrm>
          <a:prstGeom prst="roundRect">
            <a:avLst>
              <a:gd name="adj" fmla="val 5333"/>
            </a:avLst>
          </a:prstGeom>
          <a:solidFill>
            <a:srgbClr val="F6F3EC"/>
          </a:solidFill>
          <a:ln/>
        </p:spPr>
      </p:sp>
      <p:pic>
        <p:nvPicPr>
          <p:cNvPr id="8" name="Image 2" descr="An illustrated yellow flower">    </p:cNvPr>
          <p:cNvPicPr>
            <a:picLocks noChangeAspect="1"/>
          </p:cNvPicPr>
          <p:nvPr/>
        </p:nvPicPr>
        <p:blipFill>
          <a:blip r:embed="rId3"/>
          <a:srcRect l="0" r="0" t="0" b="0"/>
          <a:stretch/>
        </p:blipFill>
        <p:spPr>
          <a:xfrm>
            <a:off x="10033000" y="2032000"/>
            <a:ext cx="1778000" cy="1778000"/>
          </a:xfrm>
          <a:prstGeom prst="rect">
            <a:avLst/>
          </a:prstGeom>
        </p:spPr>
      </p:pic>
      <p:sp>
        <p:nvSpPr>
          <p:cNvPr id="9" name="Text 4"/>
          <p:cNvSpPr/>
          <p:nvPr/>
        </p:nvSpPr>
        <p:spPr>
          <a:xfrm>
            <a:off x="7427278" y="4064000"/>
            <a:ext cx="4512945" cy="25653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BFC8D6"/>
                </a:solidFill>
                <a:latin typeface="IBM Plex Sans" pitchFamily="34" charset="0"/>
                <a:ea typeface="IBM Plex Sans" pitchFamily="34" charset="-122"/>
                <a:cs typeface="IBM Plex Sans" pitchFamily="34" charset="-120"/>
              </a:rPr>
              <a:t>random noise in → a brand-new flower out</a:t>
            </a:r>
            <a:endParaRPr lang="en-US" sz="1300" dirty="0"/>
          </a:p>
        </p:txBody>
      </p:sp>
      <p:sp>
        <p:nvSpPr>
          <p:cNvPr id="10" name="Text 5"/>
          <p:cNvSpPr/>
          <p:nvPr/>
        </p:nvSpPr>
        <p:spPr>
          <a:xfrm>
            <a:off x="812800" y="55880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E9AAF"/>
                </a:solidFill>
                <a:latin typeface="IBM Plex Sans" pitchFamily="34" charset="0"/>
                <a:ea typeface="IBM Plex Sans" pitchFamily="34" charset="-122"/>
                <a:cs typeface="IBM Plex Sans" pitchFamily="34" charset="-120"/>
              </a:rPr>
              <a:t>Generative Models · GANs · Notebook: CV-Week4-Lecture1.ipynb · 85 min concepts + 60 min notebook + 5 min exit ticket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WARM-UP QUESTION</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Can a computer paint a flower that never existed?</a:t>
            </a:r>
            <a:endParaRPr lang="en-US" sz="3200" dirty="0"/>
          </a:p>
        </p:txBody>
      </p:sp>
      <p:sp>
        <p:nvSpPr>
          <p:cNvPr id="4" name="Shape 2"/>
          <p:cNvSpPr/>
          <p:nvPr/>
        </p:nvSpPr>
        <p:spPr>
          <a:xfrm>
            <a:off x="819150" y="2101850"/>
            <a:ext cx="10553700" cy="2400300"/>
          </a:xfrm>
          <a:prstGeom prst="roundRect">
            <a:avLst>
              <a:gd name="adj" fmla="val 5026"/>
            </a:avLst>
          </a:prstGeom>
          <a:solidFill>
            <a:srgbClr val="FFFDF8"/>
          </a:solidFill>
          <a:ln w="12700">
            <a:solidFill>
              <a:srgbClr val="E4DED0"/>
            </a:solidFill>
            <a:prstDash val="solid"/>
          </a:ln>
        </p:spPr>
      </p:sp>
      <p:pic>
        <p:nvPicPr>
          <p:cNvPr id="5" name="Image 0" descr="Illustrated yellow flower">    </p:cNvPr>
          <p:cNvPicPr>
            <a:picLocks noChangeAspect="1"/>
          </p:cNvPicPr>
          <p:nvPr/>
        </p:nvPicPr>
        <p:blipFill>
          <a:blip r:embed="rId1"/>
          <a:srcRect l="0" r="0" t="0" b="0"/>
          <a:stretch/>
        </p:blipFill>
        <p:spPr>
          <a:xfrm>
            <a:off x="1079500" y="2286000"/>
            <a:ext cx="1905000" cy="1905000"/>
          </a:xfrm>
          <a:prstGeom prst="rect">
            <a:avLst/>
          </a:prstGeom>
        </p:spPr>
      </p:pic>
      <p:pic>
        <p:nvPicPr>
          <p:cNvPr id="6" name="Image 1" descr="Illustrated pink flower">    </p:cNvPr>
          <p:cNvPicPr>
            <a:picLocks noChangeAspect="1"/>
          </p:cNvPicPr>
          <p:nvPr/>
        </p:nvPicPr>
        <p:blipFill>
          <a:blip r:embed="rId2"/>
          <a:srcRect l="0" r="0" t="0" b="0"/>
          <a:stretch/>
        </p:blipFill>
        <p:spPr>
          <a:xfrm>
            <a:off x="3048000" y="2286000"/>
            <a:ext cx="1905000" cy="1905000"/>
          </a:xfrm>
          <a:prstGeom prst="rect">
            <a:avLst/>
          </a:prstGeom>
        </p:spPr>
      </p:pic>
      <p:pic>
        <p:nvPicPr>
          <p:cNvPr id="7" name="Image 2" descr="Illustrated purple flower">    </p:cNvPr>
          <p:cNvPicPr>
            <a:picLocks noChangeAspect="1"/>
          </p:cNvPicPr>
          <p:nvPr/>
        </p:nvPicPr>
        <p:blipFill>
          <a:blip r:embed="rId3"/>
          <a:srcRect l="0" r="0" t="0" b="0"/>
          <a:stretch/>
        </p:blipFill>
        <p:spPr>
          <a:xfrm>
            <a:off x="5016500" y="2286000"/>
            <a:ext cx="1905000" cy="1905000"/>
          </a:xfrm>
          <a:prstGeom prst="rect">
            <a:avLst/>
          </a:prstGeom>
        </p:spPr>
      </p:pic>
      <p:pic>
        <p:nvPicPr>
          <p:cNvPr id="8" name="Image 3" descr="Illustrated orange flower">    </p:cNvPr>
          <p:cNvPicPr>
            <a:picLocks noChangeAspect="1"/>
          </p:cNvPicPr>
          <p:nvPr/>
        </p:nvPicPr>
        <p:blipFill>
          <a:blip r:embed="rId4"/>
          <a:srcRect l="0" r="0" t="0" b="0"/>
          <a:stretch/>
        </p:blipFill>
        <p:spPr>
          <a:xfrm>
            <a:off x="6985000" y="2286000"/>
            <a:ext cx="1905000" cy="1905000"/>
          </a:xfrm>
          <a:prstGeom prst="rect">
            <a:avLst/>
          </a:prstGeom>
        </p:spPr>
      </p:pic>
      <p:pic>
        <p:nvPicPr>
          <p:cNvPr id="9" name="Image 4" descr="A new flower, slightly irregular">    </p:cNvPr>
          <p:cNvPicPr>
            <a:picLocks noChangeAspect="1"/>
          </p:cNvPicPr>
          <p:nvPr/>
        </p:nvPicPr>
        <p:blipFill>
          <a:blip r:embed="rId5"/>
          <a:srcRect l="0" r="0" t="0" b="0"/>
          <a:stretch/>
        </p:blipFill>
        <p:spPr>
          <a:xfrm>
            <a:off x="9144000" y="2286000"/>
            <a:ext cx="1905000" cy="1905000"/>
          </a:xfrm>
          <a:prstGeom prst="rect">
            <a:avLst/>
          </a:prstGeom>
        </p:spPr>
      </p:pic>
      <p:sp>
        <p:nvSpPr>
          <p:cNvPr id="10" name="Text 3"/>
          <p:cNvSpPr/>
          <p:nvPr/>
        </p:nvSpPr>
        <p:spPr>
          <a:xfrm>
            <a:off x="962343" y="4191000"/>
            <a:ext cx="8044815" cy="25653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6B7280"/>
                </a:solidFill>
                <a:latin typeface="IBM Plex Sans" pitchFamily="34" charset="0"/>
                <a:ea typeface="IBM Plex Sans" pitchFamily="34" charset="-122"/>
                <a:cs typeface="IBM Plex Sans" pitchFamily="34" charset="-120"/>
              </a:rPr>
              <a:t>What we show the computer: examples of real flowers</a:t>
            </a:r>
            <a:endParaRPr lang="en-US" sz="1300" dirty="0"/>
          </a:p>
        </p:txBody>
      </p:sp>
      <p:sp>
        <p:nvSpPr>
          <p:cNvPr id="11" name="Text 4"/>
          <p:cNvSpPr/>
          <p:nvPr/>
        </p:nvSpPr>
        <p:spPr>
          <a:xfrm>
            <a:off x="8984615" y="4191000"/>
            <a:ext cx="2223770"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2563A8"/>
                </a:solidFill>
                <a:latin typeface="IBM Plex Sans" pitchFamily="34" charset="0"/>
                <a:ea typeface="IBM Plex Sans" pitchFamily="34" charset="-122"/>
                <a:cs typeface="IBM Plex Sans" pitchFamily="34" charset="-120"/>
              </a:rPr>
              <a:t>A new one it makes</a:t>
            </a:r>
            <a:endParaRPr lang="en-US" sz="1300" dirty="0"/>
          </a:p>
        </p:txBody>
      </p:sp>
      <p:sp>
        <p:nvSpPr>
          <p:cNvPr id="12" name="Text 5"/>
          <p:cNvSpPr/>
          <p:nvPr/>
        </p:nvSpPr>
        <p:spPr>
          <a:xfrm>
            <a:off x="812800" y="4889500"/>
            <a:ext cx="10883392"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14213D"/>
                </a:solidFill>
                <a:latin typeface="IBM Plex Sans" pitchFamily="34" charset="0"/>
                <a:ea typeface="IBM Plex Sans" pitchFamily="34" charset="-122"/>
                <a:cs typeface="IBM Plex Sans" pitchFamily="34" charset="-120"/>
              </a:rPr>
              <a:t>Copying is easy. </a:t>
            </a:r>
            <a:r>
              <a:rPr lang="en-US" sz="2000" b="1" dirty="0">
                <a:solidFill>
                  <a:srgbClr val="14213D"/>
                </a:solidFill>
                <a:latin typeface="IBM Plex Sans" pitchFamily="34" charset="0"/>
                <a:ea typeface="IBM Plex Sans" pitchFamily="34" charset="-122"/>
                <a:cs typeface="IBM Plex Sans" pitchFamily="34" charset="-120"/>
              </a:rPr>
              <a:t>Creating new samples that look like they came from the same collection</a:t>
            </a:r>
            <a:r>
              <a:rPr lang="en-US" sz="2000" dirty="0">
                <a:solidFill>
                  <a:srgbClr val="14213D"/>
                </a:solidFill>
                <a:latin typeface="IBM Plex Sans" pitchFamily="34" charset="0"/>
                <a:ea typeface="IBM Plex Sans" pitchFamily="34" charset="-122"/>
                <a:cs typeface="IBM Plex Sans" pitchFamily="34" charset="-120"/>
              </a:rPr>
              <a:t> is the hard part, and it is exactly what a GAN learns to do.</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TODAY'S ROUTE · ABOUT 150 MINUTES</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One story, told in seven steps</a:t>
            </a:r>
            <a:endParaRPr lang="en-US" sz="3200" dirty="0"/>
          </a:p>
        </p:txBody>
      </p:sp>
      <p:sp>
        <p:nvSpPr>
          <p:cNvPr id="4" name="Shape 2"/>
          <p:cNvSpPr/>
          <p:nvPr/>
        </p:nvSpPr>
        <p:spPr>
          <a:xfrm>
            <a:off x="819150" y="1847850"/>
            <a:ext cx="1384300" cy="1892300"/>
          </a:xfrm>
          <a:prstGeom prst="roundRect">
            <a:avLst>
              <a:gd name="adj" fmla="val 5046"/>
            </a:avLst>
          </a:prstGeom>
          <a:solidFill>
            <a:srgbClr val="FFFDF8"/>
          </a:solidFill>
          <a:ln w="12700">
            <a:solidFill>
              <a:srgbClr val="E4DED0"/>
            </a:solidFill>
            <a:prstDash val="solid"/>
          </a:ln>
        </p:spPr>
      </p:sp>
      <p:sp>
        <p:nvSpPr>
          <p:cNvPr id="5" name="Text 3"/>
          <p:cNvSpPr/>
          <p:nvPr/>
        </p:nvSpPr>
        <p:spPr>
          <a:xfrm>
            <a:off x="939800" y="2019300"/>
            <a:ext cx="11938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4213D"/>
                </a:solidFill>
                <a:latin typeface="Space Grotesk" pitchFamily="34" charset="0"/>
                <a:ea typeface="Space Grotesk" pitchFamily="34" charset="-122"/>
                <a:cs typeface="Space Grotesk" pitchFamily="34" charset="-120"/>
              </a:rPr>
              <a:t>01</a:t>
            </a:r>
            <a:endParaRPr lang="en-US" sz="2200" dirty="0"/>
          </a:p>
        </p:txBody>
      </p:sp>
      <p:sp>
        <p:nvSpPr>
          <p:cNvPr id="6" name="Text 4"/>
          <p:cNvSpPr/>
          <p:nvPr/>
        </p:nvSpPr>
        <p:spPr>
          <a:xfrm>
            <a:off x="939800" y="2444750"/>
            <a:ext cx="1295400"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4213D"/>
                </a:solidFill>
                <a:latin typeface="IBM Plex Sans" pitchFamily="34" charset="0"/>
                <a:ea typeface="IBM Plex Sans" pitchFamily="34" charset="-122"/>
                <a:cs typeface="IBM Plex Sans" pitchFamily="34" charset="-120"/>
              </a:rPr>
              <a:t>What GAN stands for</a:t>
            </a:r>
            <a:endParaRPr lang="en-US" sz="1300" dirty="0"/>
          </a:p>
        </p:txBody>
      </p:sp>
      <p:sp>
        <p:nvSpPr>
          <p:cNvPr id="7" name="Text 5"/>
          <p:cNvSpPr/>
          <p:nvPr/>
        </p:nvSpPr>
        <p:spPr>
          <a:xfrm>
            <a:off x="939800" y="3365500"/>
            <a:ext cx="1193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min 4–15</a:t>
            </a:r>
            <a:endParaRPr lang="en-US" sz="1200" dirty="0"/>
          </a:p>
        </p:txBody>
      </p:sp>
      <p:sp>
        <p:nvSpPr>
          <p:cNvPr id="8" name="Shape 6"/>
          <p:cNvSpPr/>
          <p:nvPr/>
        </p:nvSpPr>
        <p:spPr>
          <a:xfrm>
            <a:off x="2343150" y="1847850"/>
            <a:ext cx="1384300" cy="1892300"/>
          </a:xfrm>
          <a:prstGeom prst="roundRect">
            <a:avLst>
              <a:gd name="adj" fmla="val 5046"/>
            </a:avLst>
          </a:prstGeom>
          <a:solidFill>
            <a:srgbClr val="FFFDF8"/>
          </a:solidFill>
          <a:ln w="12700">
            <a:solidFill>
              <a:srgbClr val="E4DED0"/>
            </a:solidFill>
            <a:prstDash val="solid"/>
          </a:ln>
        </p:spPr>
      </p:sp>
      <p:sp>
        <p:nvSpPr>
          <p:cNvPr id="9" name="Text 7"/>
          <p:cNvSpPr/>
          <p:nvPr/>
        </p:nvSpPr>
        <p:spPr>
          <a:xfrm>
            <a:off x="2463800" y="2019300"/>
            <a:ext cx="11938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4213D"/>
                </a:solidFill>
                <a:latin typeface="Space Grotesk" pitchFamily="34" charset="0"/>
                <a:ea typeface="Space Grotesk" pitchFamily="34" charset="-122"/>
                <a:cs typeface="Space Grotesk" pitchFamily="34" charset="-120"/>
              </a:rPr>
              <a:t>02</a:t>
            </a:r>
            <a:endParaRPr lang="en-US" sz="2200" dirty="0"/>
          </a:p>
        </p:txBody>
      </p:sp>
      <p:sp>
        <p:nvSpPr>
          <p:cNvPr id="10" name="Text 8"/>
          <p:cNvSpPr/>
          <p:nvPr/>
        </p:nvSpPr>
        <p:spPr>
          <a:xfrm>
            <a:off x="2463800" y="2444750"/>
            <a:ext cx="1295400"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4213D"/>
                </a:solidFill>
                <a:latin typeface="IBM Plex Sans" pitchFamily="34" charset="0"/>
                <a:ea typeface="IBM Plex Sans" pitchFamily="34" charset="-122"/>
                <a:cs typeface="IBM Plex Sans" pitchFamily="34" charset="-120"/>
              </a:rPr>
              <a:t>Meaning of adversarial</a:t>
            </a:r>
            <a:endParaRPr lang="en-US" sz="1300" dirty="0"/>
          </a:p>
        </p:txBody>
      </p:sp>
      <p:sp>
        <p:nvSpPr>
          <p:cNvPr id="11" name="Text 9"/>
          <p:cNvSpPr/>
          <p:nvPr/>
        </p:nvSpPr>
        <p:spPr>
          <a:xfrm>
            <a:off x="2463800" y="3365500"/>
            <a:ext cx="1193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min 15–27</a:t>
            </a:r>
            <a:endParaRPr lang="en-US" sz="1200" dirty="0"/>
          </a:p>
        </p:txBody>
      </p:sp>
      <p:sp>
        <p:nvSpPr>
          <p:cNvPr id="12" name="Shape 10"/>
          <p:cNvSpPr/>
          <p:nvPr/>
        </p:nvSpPr>
        <p:spPr>
          <a:xfrm>
            <a:off x="3867150" y="1847850"/>
            <a:ext cx="1384300" cy="1892300"/>
          </a:xfrm>
          <a:prstGeom prst="roundRect">
            <a:avLst>
              <a:gd name="adj" fmla="val 5046"/>
            </a:avLst>
          </a:prstGeom>
          <a:solidFill>
            <a:srgbClr val="FFFDF8"/>
          </a:solidFill>
          <a:ln w="12700">
            <a:solidFill>
              <a:srgbClr val="E4DED0"/>
            </a:solidFill>
            <a:prstDash val="solid"/>
          </a:ln>
        </p:spPr>
      </p:sp>
      <p:sp>
        <p:nvSpPr>
          <p:cNvPr id="13" name="Text 11"/>
          <p:cNvSpPr/>
          <p:nvPr/>
        </p:nvSpPr>
        <p:spPr>
          <a:xfrm>
            <a:off x="3987800" y="2019300"/>
            <a:ext cx="11938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4213D"/>
                </a:solidFill>
                <a:latin typeface="Space Grotesk" pitchFamily="34" charset="0"/>
                <a:ea typeface="Space Grotesk" pitchFamily="34" charset="-122"/>
                <a:cs typeface="Space Grotesk" pitchFamily="34" charset="-120"/>
              </a:rPr>
              <a:t>03</a:t>
            </a:r>
            <a:endParaRPr lang="en-US" sz="2200" dirty="0"/>
          </a:p>
        </p:txBody>
      </p:sp>
      <p:sp>
        <p:nvSpPr>
          <p:cNvPr id="14" name="Text 12"/>
          <p:cNvSpPr/>
          <p:nvPr/>
        </p:nvSpPr>
        <p:spPr>
          <a:xfrm>
            <a:off x="3987800" y="2444750"/>
            <a:ext cx="1295400"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4213D"/>
                </a:solidFill>
                <a:latin typeface="IBM Plex Sans" pitchFamily="34" charset="0"/>
                <a:ea typeface="IBM Plex Sans" pitchFamily="34" charset="-122"/>
                <a:cs typeface="IBM Plex Sans" pitchFamily="34" charset="-120"/>
              </a:rPr>
              <a:t>One running example</a:t>
            </a:r>
            <a:endParaRPr lang="en-US" sz="1300" dirty="0"/>
          </a:p>
        </p:txBody>
      </p:sp>
      <p:sp>
        <p:nvSpPr>
          <p:cNvPr id="15" name="Text 13"/>
          <p:cNvSpPr/>
          <p:nvPr/>
        </p:nvSpPr>
        <p:spPr>
          <a:xfrm>
            <a:off x="3987800" y="3365500"/>
            <a:ext cx="1193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min 27–30</a:t>
            </a:r>
            <a:endParaRPr lang="en-US" sz="1200" dirty="0"/>
          </a:p>
        </p:txBody>
      </p:sp>
      <p:sp>
        <p:nvSpPr>
          <p:cNvPr id="16" name="Shape 14"/>
          <p:cNvSpPr/>
          <p:nvPr/>
        </p:nvSpPr>
        <p:spPr>
          <a:xfrm>
            <a:off x="5391150" y="1847850"/>
            <a:ext cx="1384300" cy="1892300"/>
          </a:xfrm>
          <a:prstGeom prst="roundRect">
            <a:avLst>
              <a:gd name="adj" fmla="val 5046"/>
            </a:avLst>
          </a:prstGeom>
          <a:solidFill>
            <a:srgbClr val="FFFDF8"/>
          </a:solidFill>
          <a:ln w="12700">
            <a:solidFill>
              <a:srgbClr val="E4DED0"/>
            </a:solidFill>
            <a:prstDash val="solid"/>
          </a:ln>
        </p:spPr>
      </p:sp>
      <p:sp>
        <p:nvSpPr>
          <p:cNvPr id="17" name="Text 15"/>
          <p:cNvSpPr/>
          <p:nvPr/>
        </p:nvSpPr>
        <p:spPr>
          <a:xfrm>
            <a:off x="5511800" y="2019300"/>
            <a:ext cx="11938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563A8"/>
                </a:solidFill>
                <a:latin typeface="Space Grotesk" pitchFamily="34" charset="0"/>
                <a:ea typeface="Space Grotesk" pitchFamily="34" charset="-122"/>
                <a:cs typeface="Space Grotesk" pitchFamily="34" charset="-120"/>
              </a:rPr>
              <a:t>04</a:t>
            </a:r>
            <a:endParaRPr lang="en-US" sz="2200" dirty="0"/>
          </a:p>
        </p:txBody>
      </p:sp>
      <p:sp>
        <p:nvSpPr>
          <p:cNvPr id="18" name="Text 16"/>
          <p:cNvSpPr/>
          <p:nvPr/>
        </p:nvSpPr>
        <p:spPr>
          <a:xfrm>
            <a:off x="5511800" y="2444750"/>
            <a:ext cx="12954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4213D"/>
                </a:solidFill>
                <a:latin typeface="IBM Plex Sans" pitchFamily="34" charset="0"/>
                <a:ea typeface="IBM Plex Sans" pitchFamily="34" charset="-122"/>
                <a:cs typeface="IBM Plex Sans" pitchFamily="34" charset="-120"/>
              </a:rPr>
              <a:t>The Generator</a:t>
            </a:r>
            <a:endParaRPr lang="en-US" sz="1300" dirty="0"/>
          </a:p>
        </p:txBody>
      </p:sp>
      <p:sp>
        <p:nvSpPr>
          <p:cNvPr id="19" name="Text 17"/>
          <p:cNvSpPr/>
          <p:nvPr/>
        </p:nvSpPr>
        <p:spPr>
          <a:xfrm>
            <a:off x="5511800" y="3365500"/>
            <a:ext cx="1193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min 30–42</a:t>
            </a:r>
            <a:endParaRPr lang="en-US" sz="1200" dirty="0"/>
          </a:p>
        </p:txBody>
      </p:sp>
      <p:sp>
        <p:nvSpPr>
          <p:cNvPr id="20" name="Shape 18"/>
          <p:cNvSpPr/>
          <p:nvPr/>
        </p:nvSpPr>
        <p:spPr>
          <a:xfrm>
            <a:off x="6915150" y="1847850"/>
            <a:ext cx="1384300" cy="1892300"/>
          </a:xfrm>
          <a:prstGeom prst="roundRect">
            <a:avLst>
              <a:gd name="adj" fmla="val 5046"/>
            </a:avLst>
          </a:prstGeom>
          <a:solidFill>
            <a:srgbClr val="FFFDF8"/>
          </a:solidFill>
          <a:ln w="12700">
            <a:solidFill>
              <a:srgbClr val="E4DED0"/>
            </a:solidFill>
            <a:prstDash val="solid"/>
          </a:ln>
        </p:spPr>
      </p:sp>
      <p:sp>
        <p:nvSpPr>
          <p:cNvPr id="21" name="Text 19"/>
          <p:cNvSpPr/>
          <p:nvPr/>
        </p:nvSpPr>
        <p:spPr>
          <a:xfrm>
            <a:off x="7035800" y="2019300"/>
            <a:ext cx="11938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24E17"/>
                </a:solidFill>
                <a:latin typeface="Space Grotesk" pitchFamily="34" charset="0"/>
                <a:ea typeface="Space Grotesk" pitchFamily="34" charset="-122"/>
                <a:cs typeface="Space Grotesk" pitchFamily="34" charset="-120"/>
              </a:rPr>
              <a:t>05</a:t>
            </a:r>
            <a:endParaRPr lang="en-US" sz="2200" dirty="0"/>
          </a:p>
        </p:txBody>
      </p:sp>
      <p:sp>
        <p:nvSpPr>
          <p:cNvPr id="22" name="Text 20"/>
          <p:cNvSpPr/>
          <p:nvPr/>
        </p:nvSpPr>
        <p:spPr>
          <a:xfrm>
            <a:off x="7035800" y="2444750"/>
            <a:ext cx="1295400"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4213D"/>
                </a:solidFill>
                <a:latin typeface="IBM Plex Sans" pitchFamily="34" charset="0"/>
                <a:ea typeface="IBM Plex Sans" pitchFamily="34" charset="-122"/>
                <a:cs typeface="IBM Plex Sans" pitchFamily="34" charset="-120"/>
              </a:rPr>
              <a:t>The Discrim­inator</a:t>
            </a:r>
            <a:endParaRPr lang="en-US" sz="1300" dirty="0"/>
          </a:p>
        </p:txBody>
      </p:sp>
      <p:sp>
        <p:nvSpPr>
          <p:cNvPr id="23" name="Text 21"/>
          <p:cNvSpPr/>
          <p:nvPr/>
        </p:nvSpPr>
        <p:spPr>
          <a:xfrm>
            <a:off x="7035800" y="3365500"/>
            <a:ext cx="1193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min 42–53</a:t>
            </a:r>
            <a:endParaRPr lang="en-US" sz="1200" dirty="0"/>
          </a:p>
        </p:txBody>
      </p:sp>
      <p:sp>
        <p:nvSpPr>
          <p:cNvPr id="24" name="Shape 22"/>
          <p:cNvSpPr/>
          <p:nvPr/>
        </p:nvSpPr>
        <p:spPr>
          <a:xfrm>
            <a:off x="8439150" y="1847850"/>
            <a:ext cx="1384300" cy="1892300"/>
          </a:xfrm>
          <a:prstGeom prst="roundRect">
            <a:avLst>
              <a:gd name="adj" fmla="val 5046"/>
            </a:avLst>
          </a:prstGeom>
          <a:solidFill>
            <a:srgbClr val="FFFDF8"/>
          </a:solidFill>
          <a:ln w="12700">
            <a:solidFill>
              <a:srgbClr val="E4DED0"/>
            </a:solidFill>
            <a:prstDash val="solid"/>
          </a:ln>
        </p:spPr>
      </p:sp>
      <p:sp>
        <p:nvSpPr>
          <p:cNvPr id="25" name="Text 23"/>
          <p:cNvSpPr/>
          <p:nvPr/>
        </p:nvSpPr>
        <p:spPr>
          <a:xfrm>
            <a:off x="8559800" y="2019300"/>
            <a:ext cx="11938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4213D"/>
                </a:solidFill>
                <a:latin typeface="Space Grotesk" pitchFamily="34" charset="0"/>
                <a:ea typeface="Space Grotesk" pitchFamily="34" charset="-122"/>
                <a:cs typeface="Space Grotesk" pitchFamily="34" charset="-120"/>
              </a:rPr>
              <a:t>06</a:t>
            </a:r>
            <a:endParaRPr lang="en-US" sz="2200" dirty="0"/>
          </a:p>
        </p:txBody>
      </p:sp>
      <p:sp>
        <p:nvSpPr>
          <p:cNvPr id="26" name="Text 24"/>
          <p:cNvSpPr/>
          <p:nvPr/>
        </p:nvSpPr>
        <p:spPr>
          <a:xfrm>
            <a:off x="8559800" y="2444750"/>
            <a:ext cx="1295400"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4213D"/>
                </a:solidFill>
                <a:latin typeface="IBM Plex Sans" pitchFamily="34" charset="0"/>
                <a:ea typeface="IBM Plex Sans" pitchFamily="34" charset="-122"/>
                <a:cs typeface="IBM Plex Sans" pitchFamily="34" charset="-120"/>
              </a:rPr>
              <a:t>Training and losses</a:t>
            </a:r>
            <a:endParaRPr lang="en-US" sz="1300" dirty="0"/>
          </a:p>
        </p:txBody>
      </p:sp>
      <p:sp>
        <p:nvSpPr>
          <p:cNvPr id="27" name="Text 25"/>
          <p:cNvSpPr/>
          <p:nvPr/>
        </p:nvSpPr>
        <p:spPr>
          <a:xfrm>
            <a:off x="8559800" y="3365500"/>
            <a:ext cx="1193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min 53–81</a:t>
            </a:r>
            <a:endParaRPr lang="en-US" sz="1200" dirty="0"/>
          </a:p>
        </p:txBody>
      </p:sp>
      <p:sp>
        <p:nvSpPr>
          <p:cNvPr id="28" name="Shape 26"/>
          <p:cNvSpPr/>
          <p:nvPr/>
        </p:nvSpPr>
        <p:spPr>
          <a:xfrm>
            <a:off x="9956800" y="1841500"/>
            <a:ext cx="1422400" cy="1905000"/>
          </a:xfrm>
          <a:prstGeom prst="roundRect">
            <a:avLst>
              <a:gd name="adj" fmla="val 5357"/>
            </a:avLst>
          </a:prstGeom>
          <a:solidFill>
            <a:srgbClr val="14213D"/>
          </a:solidFill>
          <a:ln/>
        </p:spPr>
      </p:sp>
      <p:sp>
        <p:nvSpPr>
          <p:cNvPr id="29" name="Text 27"/>
          <p:cNvSpPr/>
          <p:nvPr/>
        </p:nvSpPr>
        <p:spPr>
          <a:xfrm>
            <a:off x="10083800" y="2019300"/>
            <a:ext cx="12192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9B949"/>
                </a:solidFill>
                <a:latin typeface="Space Grotesk" pitchFamily="34" charset="0"/>
                <a:ea typeface="Space Grotesk" pitchFamily="34" charset="-122"/>
                <a:cs typeface="Space Grotesk" pitchFamily="34" charset="-120"/>
              </a:rPr>
              <a:t>07</a:t>
            </a:r>
            <a:endParaRPr lang="en-US" sz="2200" dirty="0"/>
          </a:p>
        </p:txBody>
      </p:sp>
      <p:sp>
        <p:nvSpPr>
          <p:cNvPr id="30" name="Text 28"/>
          <p:cNvSpPr/>
          <p:nvPr/>
        </p:nvSpPr>
        <p:spPr>
          <a:xfrm>
            <a:off x="10083800" y="2444750"/>
            <a:ext cx="1219200"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6F3EC"/>
                </a:solidFill>
                <a:latin typeface="IBM Plex Sans" pitchFamily="34" charset="0"/>
                <a:ea typeface="IBM Plex Sans" pitchFamily="34" charset="-122"/>
                <a:cs typeface="IBM Plex Sans" pitchFamily="34" charset="-120"/>
              </a:rPr>
              <a:t>MNIST + notebook</a:t>
            </a:r>
            <a:endParaRPr lang="en-US" sz="1400" dirty="0"/>
          </a:p>
        </p:txBody>
      </p:sp>
      <p:sp>
        <p:nvSpPr>
          <p:cNvPr id="31" name="Text 29"/>
          <p:cNvSpPr/>
          <p:nvPr/>
        </p:nvSpPr>
        <p:spPr>
          <a:xfrm>
            <a:off x="10083800" y="3365500"/>
            <a:ext cx="1219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8D6"/>
                </a:solidFill>
                <a:latin typeface="IBM Plex Sans" pitchFamily="34" charset="0"/>
                <a:ea typeface="IBM Plex Sans" pitchFamily="34" charset="-122"/>
                <a:cs typeface="IBM Plex Sans" pitchFamily="34" charset="-120"/>
              </a:rPr>
              <a:t>min 81–145</a:t>
            </a:r>
            <a:endParaRPr lang="en-US" sz="1200" dirty="0"/>
          </a:p>
        </p:txBody>
      </p:sp>
      <p:pic>
        <p:nvPicPr>
          <p:cNvPr id="32" name="Image 0" descr="line">    </p:cNvPr>
          <p:cNvPicPr>
            <a:picLocks noChangeAspect="1"/>
          </p:cNvPicPr>
          <p:nvPr/>
        </p:nvPicPr>
        <p:blipFill>
          <a:blip r:embed="rId1"/>
          <a:srcRect l="0" r="0" t="0" b="0"/>
          <a:stretch/>
        </p:blipFill>
        <p:spPr>
          <a:xfrm>
            <a:off x="812800" y="4191000"/>
            <a:ext cx="10566400" cy="25400"/>
          </a:xfrm>
          <a:prstGeom prst="rect">
            <a:avLst/>
          </a:prstGeom>
        </p:spPr>
      </p:pic>
      <p:sp>
        <p:nvSpPr>
          <p:cNvPr id="33" name="Text 30"/>
          <p:cNvSpPr/>
          <p:nvPr/>
        </p:nvSpPr>
        <p:spPr>
          <a:xfrm>
            <a:off x="812800" y="4445000"/>
            <a:ext cx="10883392"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14213D"/>
                </a:solidFill>
                <a:latin typeface="IBM Plex Sans" pitchFamily="34" charset="0"/>
                <a:ea typeface="IBM Plex Sans" pitchFamily="34" charset="-122"/>
                <a:cs typeface="IBM Plex Sans" pitchFamily="34" charset="-120"/>
              </a:rPr>
              <a:t>Name → meaning → one example → the two players → how they train → run it in code. </a:t>
            </a:r>
            <a:r>
              <a:rPr lang="en-US" sz="1800" dirty="0">
                <a:solidFill>
                  <a:srgbClr val="B24E17"/>
                </a:solidFill>
                <a:latin typeface="IBM Plex Sans" pitchFamily="34" charset="0"/>
                <a:ea typeface="IBM Plex Sans" pitchFamily="34" charset="-122"/>
                <a:cs typeface="IBM Plex Sans" pitchFamily="34" charset="-120"/>
              </a:rPr>
              <a:t>Then a 5-minute exit ticket (min 145–150).</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LEARNING OUTCOMES</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By the end of today you can…</a:t>
            </a:r>
            <a:endParaRPr lang="en-US" sz="3200" dirty="0"/>
          </a:p>
        </p:txBody>
      </p:sp>
      <p:sp>
        <p:nvSpPr>
          <p:cNvPr id="4" name="Text 2"/>
          <p:cNvSpPr/>
          <p:nvPr/>
        </p:nvSpPr>
        <p:spPr>
          <a:xfrm>
            <a:off x="812800" y="1905000"/>
            <a:ext cx="622300"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E9B949"/>
                </a:solidFill>
                <a:latin typeface="Space Grotesk" pitchFamily="34" charset="0"/>
                <a:ea typeface="Space Grotesk" pitchFamily="34" charset="-122"/>
                <a:cs typeface="Space Grotesk" pitchFamily="34" charset="-120"/>
              </a:rPr>
              <a:t>1</a:t>
            </a:r>
            <a:endParaRPr lang="en-US" sz="2800" dirty="0"/>
          </a:p>
        </p:txBody>
      </p:sp>
      <p:sp>
        <p:nvSpPr>
          <p:cNvPr id="5" name="Text 3"/>
          <p:cNvSpPr/>
          <p:nvPr/>
        </p:nvSpPr>
        <p:spPr>
          <a:xfrm>
            <a:off x="1460500" y="1968500"/>
            <a:ext cx="9810750" cy="339080"/>
          </a:xfrm>
          <a:prstGeom prst="rect">
            <a:avLst/>
          </a:prstGeom>
          <a:noFill/>
          <a:ln/>
        </p:spPr>
        <p:txBody>
          <a:bodyPr wrap="square" lIns="0" tIns="0" rIns="0" bIns="0" rtlCol="0" anchor="t">
            <a:normAutofit/>
          </a:bodyPr>
          <a:lstStyle/>
          <a:p>
            <a:pPr algn="l" indent="0" marL="0">
              <a:lnSpc>
                <a:spcPts val="2470"/>
              </a:lnSpc>
              <a:buNone/>
            </a:pPr>
            <a:r>
              <a:rPr lang="en-US" sz="1900" dirty="0">
                <a:solidFill>
                  <a:srgbClr val="14213D"/>
                </a:solidFill>
                <a:latin typeface="IBM Plex Sans" pitchFamily="34" charset="0"/>
                <a:ea typeface="IBM Plex Sans" pitchFamily="34" charset="-122"/>
                <a:cs typeface="IBM Plex Sans" pitchFamily="34" charset="-120"/>
              </a:rPr>
              <a:t>Expand </a:t>
            </a:r>
            <a:r>
              <a:rPr lang="en-US" sz="1900" b="1" dirty="0">
                <a:solidFill>
                  <a:srgbClr val="14213D"/>
                </a:solidFill>
                <a:latin typeface="IBM Plex Sans" pitchFamily="34" charset="0"/>
                <a:ea typeface="IBM Plex Sans" pitchFamily="34" charset="-122"/>
                <a:cs typeface="IBM Plex Sans" pitchFamily="34" charset="-120"/>
              </a:rPr>
              <a:t>GAN</a:t>
            </a:r>
            <a:r>
              <a:rPr lang="en-US" sz="1900" dirty="0">
                <a:solidFill>
                  <a:srgbClr val="14213D"/>
                </a:solidFill>
                <a:latin typeface="IBM Plex Sans" pitchFamily="34" charset="0"/>
                <a:ea typeface="IBM Plex Sans" pitchFamily="34" charset="-122"/>
                <a:cs typeface="IBM Plex Sans" pitchFamily="34" charset="-120"/>
              </a:rPr>
              <a:t> and explain what each word, especially </a:t>
            </a:r>
            <a:r>
              <a:rPr lang="en-US" sz="1900" b="1" dirty="0">
                <a:solidFill>
                  <a:srgbClr val="14213D"/>
                </a:solidFill>
                <a:latin typeface="IBM Plex Sans" pitchFamily="34" charset="0"/>
                <a:ea typeface="IBM Plex Sans" pitchFamily="34" charset="-122"/>
                <a:cs typeface="IBM Plex Sans" pitchFamily="34" charset="-120"/>
              </a:rPr>
              <a:t>adversarial</a:t>
            </a:r>
            <a:r>
              <a:rPr lang="en-US" sz="1900" dirty="0">
                <a:solidFill>
                  <a:srgbClr val="14213D"/>
                </a:solidFill>
                <a:latin typeface="IBM Plex Sans" pitchFamily="34" charset="0"/>
                <a:ea typeface="IBM Plex Sans" pitchFamily="34" charset="-122"/>
                <a:cs typeface="IBM Plex Sans" pitchFamily="34" charset="-120"/>
              </a:rPr>
              <a:t>, means.</a:t>
            </a:r>
            <a:endParaRPr lang="en-US" sz="1900" dirty="0"/>
          </a:p>
        </p:txBody>
      </p:sp>
      <p:sp>
        <p:nvSpPr>
          <p:cNvPr id="6" name="Text 4"/>
          <p:cNvSpPr/>
          <p:nvPr/>
        </p:nvSpPr>
        <p:spPr>
          <a:xfrm>
            <a:off x="812800" y="2730500"/>
            <a:ext cx="622300"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2563A8"/>
                </a:solidFill>
                <a:latin typeface="Space Grotesk" pitchFamily="34" charset="0"/>
                <a:ea typeface="Space Grotesk" pitchFamily="34" charset="-122"/>
                <a:cs typeface="Space Grotesk" pitchFamily="34" charset="-120"/>
              </a:rPr>
              <a:t>2</a:t>
            </a:r>
            <a:endParaRPr lang="en-US" sz="2800" dirty="0"/>
          </a:p>
        </p:txBody>
      </p:sp>
      <p:sp>
        <p:nvSpPr>
          <p:cNvPr id="7" name="Text 5"/>
          <p:cNvSpPr/>
          <p:nvPr/>
        </p:nvSpPr>
        <p:spPr>
          <a:xfrm>
            <a:off x="1460500" y="2794000"/>
            <a:ext cx="9810750" cy="339080"/>
          </a:xfrm>
          <a:prstGeom prst="rect">
            <a:avLst/>
          </a:prstGeom>
          <a:noFill/>
          <a:ln/>
        </p:spPr>
        <p:txBody>
          <a:bodyPr wrap="square" lIns="0" tIns="0" rIns="0" bIns="0" rtlCol="0" anchor="t">
            <a:normAutofit/>
          </a:bodyPr>
          <a:lstStyle/>
          <a:p>
            <a:pPr algn="l" indent="0" marL="0">
              <a:lnSpc>
                <a:spcPts val="2470"/>
              </a:lnSpc>
              <a:buNone/>
            </a:pPr>
            <a:r>
              <a:rPr lang="en-US" sz="1900" dirty="0">
                <a:solidFill>
                  <a:srgbClr val="14213D"/>
                </a:solidFill>
                <a:latin typeface="IBM Plex Sans" pitchFamily="34" charset="0"/>
                <a:ea typeface="IBM Plex Sans" pitchFamily="34" charset="-122"/>
                <a:cs typeface="IBM Plex Sans" pitchFamily="34" charset="-120"/>
              </a:rPr>
              <a:t>Describe the </a:t>
            </a:r>
            <a:r>
              <a:rPr lang="en-US" sz="1900" b="1" dirty="0">
                <a:solidFill>
                  <a:srgbClr val="2563A8"/>
                </a:solidFill>
                <a:latin typeface="IBM Plex Sans" pitchFamily="34" charset="0"/>
                <a:ea typeface="IBM Plex Sans" pitchFamily="34" charset="-122"/>
                <a:cs typeface="IBM Plex Sans" pitchFamily="34" charset="-120"/>
              </a:rPr>
              <a:t>generator</a:t>
            </a:r>
            <a:r>
              <a:rPr lang="en-US" sz="1900" dirty="0">
                <a:solidFill>
                  <a:srgbClr val="14213D"/>
                </a:solidFill>
                <a:latin typeface="IBM Plex Sans" pitchFamily="34" charset="0"/>
                <a:ea typeface="IBM Plex Sans" pitchFamily="34" charset="-122"/>
                <a:cs typeface="IBM Plex Sans" pitchFamily="34" charset="-120"/>
              </a:rPr>
              <a:t> and the </a:t>
            </a:r>
            <a:r>
              <a:rPr lang="en-US" sz="1900" b="1" dirty="0">
                <a:solidFill>
                  <a:srgbClr val="B24E17"/>
                </a:solidFill>
                <a:latin typeface="IBM Plex Sans" pitchFamily="34" charset="0"/>
                <a:ea typeface="IBM Plex Sans" pitchFamily="34" charset="-122"/>
                <a:cs typeface="IBM Plex Sans" pitchFamily="34" charset="-120"/>
              </a:rPr>
              <a:t>discriminator</a:t>
            </a:r>
            <a:r>
              <a:rPr lang="en-US" sz="1900" dirty="0">
                <a:solidFill>
                  <a:srgbClr val="14213D"/>
                </a:solidFill>
                <a:latin typeface="IBM Plex Sans" pitchFamily="34" charset="0"/>
                <a:ea typeface="IBM Plex Sans" pitchFamily="34" charset="-122"/>
                <a:cs typeface="IBM Plex Sans" pitchFamily="34" charset="-120"/>
              </a:rPr>
              <a:t>: input, output and goal.</a:t>
            </a:r>
            <a:endParaRPr lang="en-US" sz="1900" dirty="0"/>
          </a:p>
        </p:txBody>
      </p:sp>
      <p:sp>
        <p:nvSpPr>
          <p:cNvPr id="8" name="Text 6"/>
          <p:cNvSpPr/>
          <p:nvPr/>
        </p:nvSpPr>
        <p:spPr>
          <a:xfrm>
            <a:off x="812800" y="3556000"/>
            <a:ext cx="622300"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B24E17"/>
                </a:solidFill>
                <a:latin typeface="Space Grotesk" pitchFamily="34" charset="0"/>
                <a:ea typeface="Space Grotesk" pitchFamily="34" charset="-122"/>
                <a:cs typeface="Space Grotesk" pitchFamily="34" charset="-120"/>
              </a:rPr>
              <a:t>3</a:t>
            </a:r>
            <a:endParaRPr lang="en-US" sz="2800" dirty="0"/>
          </a:p>
        </p:txBody>
      </p:sp>
      <p:sp>
        <p:nvSpPr>
          <p:cNvPr id="9" name="Text 7"/>
          <p:cNvSpPr/>
          <p:nvPr/>
        </p:nvSpPr>
        <p:spPr>
          <a:xfrm>
            <a:off x="1460500" y="3619500"/>
            <a:ext cx="9810750" cy="339080"/>
          </a:xfrm>
          <a:prstGeom prst="rect">
            <a:avLst/>
          </a:prstGeom>
          <a:noFill/>
          <a:ln/>
        </p:spPr>
        <p:txBody>
          <a:bodyPr wrap="square" lIns="0" tIns="0" rIns="0" bIns="0" rtlCol="0" anchor="t">
            <a:normAutofit/>
          </a:bodyPr>
          <a:lstStyle/>
          <a:p>
            <a:pPr algn="l" indent="0" marL="0">
              <a:lnSpc>
                <a:spcPts val="2470"/>
              </a:lnSpc>
              <a:buNone/>
            </a:pPr>
            <a:r>
              <a:rPr lang="en-US" sz="1900" dirty="0">
                <a:solidFill>
                  <a:srgbClr val="14213D"/>
                </a:solidFill>
                <a:latin typeface="IBM Plex Sans" pitchFamily="34" charset="0"/>
                <a:ea typeface="IBM Plex Sans" pitchFamily="34" charset="-122"/>
                <a:cs typeface="IBM Plex Sans" pitchFamily="34" charset="-120"/>
              </a:rPr>
              <a:t>Read the </a:t>
            </a:r>
            <a:r>
              <a:rPr lang="en-US" sz="1900" b="1" dirty="0">
                <a:solidFill>
                  <a:srgbClr val="14213D"/>
                </a:solidFill>
                <a:latin typeface="IBM Plex Sans" pitchFamily="34" charset="0"/>
                <a:ea typeface="IBM Plex Sans" pitchFamily="34" charset="-122"/>
                <a:cs typeface="IBM Plex Sans" pitchFamily="34" charset="-120"/>
              </a:rPr>
              <a:t>minimax objective</a:t>
            </a:r>
            <a:r>
              <a:rPr lang="en-US" sz="1900" dirty="0">
                <a:solidFill>
                  <a:srgbClr val="14213D"/>
                </a:solidFill>
                <a:latin typeface="IBM Plex Sans" pitchFamily="34" charset="0"/>
                <a:ea typeface="IBM Plex Sans" pitchFamily="34" charset="-122"/>
                <a:cs typeface="IBM Plex Sans" pitchFamily="34" charset="-120"/>
              </a:rPr>
              <a:t> and say which network pushes each term up or down.</a:t>
            </a:r>
            <a:endParaRPr lang="en-US" sz="1900" dirty="0"/>
          </a:p>
        </p:txBody>
      </p:sp>
      <p:sp>
        <p:nvSpPr>
          <p:cNvPr id="10" name="Text 8"/>
          <p:cNvSpPr/>
          <p:nvPr/>
        </p:nvSpPr>
        <p:spPr>
          <a:xfrm>
            <a:off x="812800" y="4381500"/>
            <a:ext cx="622300"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4213D"/>
                </a:solidFill>
                <a:latin typeface="Space Grotesk" pitchFamily="34" charset="0"/>
                <a:ea typeface="Space Grotesk" pitchFamily="34" charset="-122"/>
                <a:cs typeface="Space Grotesk" pitchFamily="34" charset="-120"/>
              </a:rPr>
              <a:t>4</a:t>
            </a:r>
            <a:endParaRPr lang="en-US" sz="2800" dirty="0"/>
          </a:p>
        </p:txBody>
      </p:sp>
      <p:sp>
        <p:nvSpPr>
          <p:cNvPr id="11" name="Text 9"/>
          <p:cNvSpPr/>
          <p:nvPr/>
        </p:nvSpPr>
        <p:spPr>
          <a:xfrm>
            <a:off x="1460500" y="4445000"/>
            <a:ext cx="9810750" cy="339080"/>
          </a:xfrm>
          <a:prstGeom prst="rect">
            <a:avLst/>
          </a:prstGeom>
          <a:noFill/>
          <a:ln/>
        </p:spPr>
        <p:txBody>
          <a:bodyPr wrap="square" lIns="0" tIns="0" rIns="0" bIns="0" rtlCol="0" anchor="t">
            <a:normAutofit/>
          </a:bodyPr>
          <a:lstStyle/>
          <a:p>
            <a:pPr algn="l" indent="0" marL="0">
              <a:lnSpc>
                <a:spcPts val="2470"/>
              </a:lnSpc>
              <a:buNone/>
            </a:pPr>
            <a:r>
              <a:rPr lang="en-US" sz="1900" dirty="0">
                <a:solidFill>
                  <a:srgbClr val="14213D"/>
                </a:solidFill>
                <a:latin typeface="IBM Plex Sans" pitchFamily="34" charset="0"/>
                <a:ea typeface="IBM Plex Sans" pitchFamily="34" charset="-122"/>
                <a:cs typeface="IBM Plex Sans" pitchFamily="34" charset="-120"/>
              </a:rPr>
              <a:t>Run a small GAN on MNIST and point to the </a:t>
            </a:r>
            <a:r>
              <a:rPr lang="en-US" sz="1900" b="1" dirty="0">
                <a:solidFill>
                  <a:srgbClr val="14213D"/>
                </a:solidFill>
                <a:latin typeface="IBM Plex Sans" pitchFamily="34" charset="0"/>
                <a:ea typeface="IBM Plex Sans" pitchFamily="34" charset="-122"/>
                <a:cs typeface="IBM Plex Sans" pitchFamily="34" charset="-120"/>
              </a:rPr>
              <a:t>D step</a:t>
            </a:r>
            <a:r>
              <a:rPr lang="en-US" sz="1900" dirty="0">
                <a:solidFill>
                  <a:srgbClr val="14213D"/>
                </a:solidFill>
                <a:latin typeface="IBM Plex Sans" pitchFamily="34" charset="0"/>
                <a:ea typeface="IBM Plex Sans" pitchFamily="34" charset="-122"/>
                <a:cs typeface="IBM Plex Sans" pitchFamily="34" charset="-120"/>
              </a:rPr>
              <a:t> and the </a:t>
            </a:r>
            <a:r>
              <a:rPr lang="en-US" sz="1900" b="1" dirty="0">
                <a:solidFill>
                  <a:srgbClr val="14213D"/>
                </a:solidFill>
                <a:latin typeface="IBM Plex Sans" pitchFamily="34" charset="0"/>
                <a:ea typeface="IBM Plex Sans" pitchFamily="34" charset="-122"/>
                <a:cs typeface="IBM Plex Sans" pitchFamily="34" charset="-120"/>
              </a:rPr>
              <a:t>G step</a:t>
            </a:r>
            <a:r>
              <a:rPr lang="en-US" sz="1900" dirty="0">
                <a:solidFill>
                  <a:srgbClr val="14213D"/>
                </a:solidFill>
                <a:latin typeface="IBM Plex Sans" pitchFamily="34" charset="0"/>
                <a:ea typeface="IBM Plex Sans" pitchFamily="34" charset="-122"/>
                <a:cs typeface="IBM Plex Sans" pitchFamily="34" charset="-120"/>
              </a:rPr>
              <a:t> in the code.</a:t>
            </a:r>
            <a:endParaRPr lang="en-US" sz="1900" dirty="0"/>
          </a:p>
        </p:txBody>
      </p:sp>
      <p:sp>
        <p:nvSpPr>
          <p:cNvPr id="12" name="Text 10"/>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1 · Opening · min 3–4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1905000"/>
            <a:ext cx="3924300"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E9B949"/>
                </a:solidFill>
                <a:latin typeface="Space Grotesk" pitchFamily="34" charset="0"/>
                <a:ea typeface="Space Grotesk" pitchFamily="34" charset="-122"/>
                <a:cs typeface="Space Grotesk" pitchFamily="34" charset="-120"/>
              </a:rPr>
              <a:t>01</a:t>
            </a:r>
            <a:endParaRPr lang="en-US" sz="8000" dirty="0"/>
          </a:p>
        </p:txBody>
      </p:sp>
      <p:sp>
        <p:nvSpPr>
          <p:cNvPr id="3" name="Text 1"/>
          <p:cNvSpPr/>
          <p:nvPr/>
        </p:nvSpPr>
        <p:spPr>
          <a:xfrm>
            <a:off x="812800" y="3175000"/>
            <a:ext cx="9810750"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6F3EC"/>
                </a:solidFill>
                <a:latin typeface="Space Grotesk" pitchFamily="34" charset="0"/>
                <a:ea typeface="Space Grotesk" pitchFamily="34" charset="-122"/>
                <a:cs typeface="Space Grotesk" pitchFamily="34" charset="-120"/>
              </a:rPr>
              <a:t>What does GAN stand for?</a:t>
            </a:r>
            <a:endParaRPr lang="en-US" sz="4400" dirty="0"/>
          </a:p>
        </p:txBody>
      </p:sp>
      <p:sp>
        <p:nvSpPr>
          <p:cNvPr id="4" name="Text 2"/>
          <p:cNvSpPr/>
          <p:nvPr/>
        </p:nvSpPr>
        <p:spPr>
          <a:xfrm>
            <a:off x="812800" y="4064000"/>
            <a:ext cx="9156700"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BFC8D6"/>
                </a:solidFill>
                <a:latin typeface="IBM Plex Sans" pitchFamily="34" charset="0"/>
                <a:ea typeface="IBM Plex Sans" pitchFamily="34" charset="-122"/>
                <a:cs typeface="IBM Plex Sans" pitchFamily="34" charset="-120"/>
              </a:rPr>
              <a:t>Three words, three ideas. We take them one at a time.</a:t>
            </a:r>
            <a:endParaRPr lang="en-US" sz="1800" dirty="0"/>
          </a:p>
        </p:txBody>
      </p:sp>
      <p:sp>
        <p:nvSpPr>
          <p:cNvPr id="5" name="Text 3"/>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E9AAF"/>
                </a:solidFill>
                <a:latin typeface="IBM Plex Sans" pitchFamily="34" charset="0"/>
                <a:ea typeface="IBM Plex Sans" pitchFamily="34" charset="-122"/>
                <a:cs typeface="IBM Plex Sans" pitchFamily="34" charset="-120"/>
              </a:rPr>
              <a:t>GAN Class 1 · min 4–15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01 · THE FULL FORM</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GAN = Generative Adversarial Network</a:t>
            </a:r>
            <a:endParaRPr lang="en-US" sz="3200" dirty="0"/>
          </a:p>
        </p:txBody>
      </p:sp>
      <p:sp>
        <p:nvSpPr>
          <p:cNvPr id="4" name="Shape 2"/>
          <p:cNvSpPr/>
          <p:nvPr/>
        </p:nvSpPr>
        <p:spPr>
          <a:xfrm>
            <a:off x="819150" y="1911350"/>
            <a:ext cx="3340100" cy="3543300"/>
          </a:xfrm>
          <a:prstGeom prst="roundRect">
            <a:avLst>
              <a:gd name="adj" fmla="val 3612"/>
            </a:avLst>
          </a:prstGeom>
          <a:solidFill>
            <a:srgbClr val="FFFDF8"/>
          </a:solidFill>
          <a:ln w="12700">
            <a:solidFill>
              <a:srgbClr val="E4DED0"/>
            </a:solidFill>
            <a:prstDash val="solid"/>
          </a:ln>
        </p:spPr>
      </p:sp>
      <p:sp>
        <p:nvSpPr>
          <p:cNvPr id="5" name="Text 3"/>
          <p:cNvSpPr/>
          <p:nvPr/>
        </p:nvSpPr>
        <p:spPr>
          <a:xfrm>
            <a:off x="1066800" y="2032000"/>
            <a:ext cx="2943225" cy="1168400"/>
          </a:xfrm>
          <a:prstGeom prst="rect">
            <a:avLst/>
          </a:prstGeom>
          <a:noFill/>
          <a:ln/>
        </p:spPr>
        <p:txBody>
          <a:bodyPr wrap="square" lIns="0" tIns="0" rIns="0" bIns="0" rtlCol="0" anchor="t">
            <a:normAutofit/>
          </a:bodyPr>
          <a:lstStyle/>
          <a:p>
            <a:pPr algn="l" indent="0" marL="0">
              <a:lnSpc>
                <a:spcPts val="9000"/>
              </a:lnSpc>
              <a:buNone/>
            </a:pPr>
            <a:r>
              <a:rPr lang="en-US" sz="9000" b="1" dirty="0">
                <a:solidFill>
                  <a:srgbClr val="2563A8"/>
                </a:solidFill>
                <a:latin typeface="Space Grotesk" pitchFamily="34" charset="0"/>
                <a:ea typeface="Space Grotesk" pitchFamily="34" charset="-122"/>
                <a:cs typeface="Space Grotesk" pitchFamily="34" charset="-120"/>
              </a:rPr>
              <a:t>G</a:t>
            </a:r>
            <a:endParaRPr lang="en-US" sz="9000" dirty="0"/>
          </a:p>
        </p:txBody>
      </p:sp>
      <p:sp>
        <p:nvSpPr>
          <p:cNvPr id="6" name="Text 4"/>
          <p:cNvSpPr/>
          <p:nvPr/>
        </p:nvSpPr>
        <p:spPr>
          <a:xfrm>
            <a:off x="1066800" y="3302000"/>
            <a:ext cx="2943225"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Space Grotesk" pitchFamily="34" charset="0"/>
                <a:ea typeface="Space Grotesk" pitchFamily="34" charset="-122"/>
                <a:cs typeface="Space Grotesk" pitchFamily="34" charset="-120"/>
              </a:rPr>
              <a:t>Generative</a:t>
            </a:r>
            <a:endParaRPr lang="en-US" sz="2200" dirty="0"/>
          </a:p>
        </p:txBody>
      </p:sp>
      <p:sp>
        <p:nvSpPr>
          <p:cNvPr id="7" name="Text 5"/>
          <p:cNvSpPr/>
          <p:nvPr/>
        </p:nvSpPr>
        <p:spPr>
          <a:xfrm>
            <a:off x="1066800" y="3746500"/>
            <a:ext cx="2943225"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D4657"/>
                </a:solidFill>
                <a:latin typeface="IBM Plex Sans" pitchFamily="34" charset="0"/>
                <a:ea typeface="IBM Plex Sans" pitchFamily="34" charset="-122"/>
                <a:cs typeface="IBM Plex Sans" pitchFamily="34" charset="-120"/>
              </a:rPr>
              <a:t>It </a:t>
            </a:r>
            <a:r>
              <a:rPr lang="en-US" sz="1500" b="1" dirty="0">
                <a:solidFill>
                  <a:srgbClr val="3D4657"/>
                </a:solidFill>
                <a:latin typeface="IBM Plex Sans" pitchFamily="34" charset="0"/>
                <a:ea typeface="IBM Plex Sans" pitchFamily="34" charset="-122"/>
                <a:cs typeface="IBM Plex Sans" pitchFamily="34" charset="-120"/>
              </a:rPr>
              <a:t>creates new data</a:t>
            </a:r>
            <a:r>
              <a:rPr lang="en-US" sz="1500" dirty="0">
                <a:solidFill>
                  <a:srgbClr val="3D4657"/>
                </a:solidFill>
                <a:latin typeface="IBM Plex Sans" pitchFamily="34" charset="0"/>
                <a:ea typeface="IBM Plex Sans" pitchFamily="34" charset="-122"/>
                <a:cs typeface="IBM Plex Sans" pitchFamily="34" charset="-120"/>
              </a:rPr>
              <a:t>: new images, not labels. Output is a picture.</a:t>
            </a:r>
            <a:endParaRPr lang="en-US" sz="1500" dirty="0"/>
          </a:p>
        </p:txBody>
      </p:sp>
      <p:sp>
        <p:nvSpPr>
          <p:cNvPr id="8" name="Text 6"/>
          <p:cNvSpPr/>
          <p:nvPr/>
        </p:nvSpPr>
        <p:spPr>
          <a:xfrm>
            <a:off x="1066800" y="4953000"/>
            <a:ext cx="294322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Question it answers: "What could a new sample look like?"</a:t>
            </a:r>
            <a:endParaRPr lang="en-US" sz="1200" dirty="0"/>
          </a:p>
        </p:txBody>
      </p:sp>
      <p:sp>
        <p:nvSpPr>
          <p:cNvPr id="9" name="Shape 7"/>
          <p:cNvSpPr/>
          <p:nvPr/>
        </p:nvSpPr>
        <p:spPr>
          <a:xfrm>
            <a:off x="4425950" y="1911350"/>
            <a:ext cx="3340100" cy="3543300"/>
          </a:xfrm>
          <a:prstGeom prst="roundRect">
            <a:avLst>
              <a:gd name="adj" fmla="val 3612"/>
            </a:avLst>
          </a:prstGeom>
          <a:solidFill>
            <a:srgbClr val="FFFDF8"/>
          </a:solidFill>
          <a:ln w="12700">
            <a:solidFill>
              <a:srgbClr val="E4DED0"/>
            </a:solidFill>
            <a:prstDash val="solid"/>
          </a:ln>
        </p:spPr>
      </p:sp>
      <p:sp>
        <p:nvSpPr>
          <p:cNvPr id="10" name="Text 8"/>
          <p:cNvSpPr/>
          <p:nvPr/>
        </p:nvSpPr>
        <p:spPr>
          <a:xfrm>
            <a:off x="4673600" y="2032000"/>
            <a:ext cx="2943225" cy="1168400"/>
          </a:xfrm>
          <a:prstGeom prst="rect">
            <a:avLst/>
          </a:prstGeom>
          <a:noFill/>
          <a:ln/>
        </p:spPr>
        <p:txBody>
          <a:bodyPr wrap="square" lIns="0" tIns="0" rIns="0" bIns="0" rtlCol="0" anchor="t">
            <a:normAutofit/>
          </a:bodyPr>
          <a:lstStyle/>
          <a:p>
            <a:pPr algn="l" indent="0" marL="0">
              <a:lnSpc>
                <a:spcPts val="9000"/>
              </a:lnSpc>
              <a:buNone/>
            </a:pPr>
            <a:r>
              <a:rPr lang="en-US" sz="9000" b="1" dirty="0">
                <a:solidFill>
                  <a:srgbClr val="B24E17"/>
                </a:solidFill>
                <a:latin typeface="Space Grotesk" pitchFamily="34" charset="0"/>
                <a:ea typeface="Space Grotesk" pitchFamily="34" charset="-122"/>
                <a:cs typeface="Space Grotesk" pitchFamily="34" charset="-120"/>
              </a:rPr>
              <a:t>A</a:t>
            </a:r>
            <a:endParaRPr lang="en-US" sz="9000" dirty="0"/>
          </a:p>
        </p:txBody>
      </p:sp>
      <p:sp>
        <p:nvSpPr>
          <p:cNvPr id="11" name="Text 9"/>
          <p:cNvSpPr/>
          <p:nvPr/>
        </p:nvSpPr>
        <p:spPr>
          <a:xfrm>
            <a:off x="4673600" y="3302000"/>
            <a:ext cx="2943225"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Space Grotesk" pitchFamily="34" charset="0"/>
                <a:ea typeface="Space Grotesk" pitchFamily="34" charset="-122"/>
                <a:cs typeface="Space Grotesk" pitchFamily="34" charset="-120"/>
              </a:rPr>
              <a:t>Adversarial</a:t>
            </a:r>
            <a:endParaRPr lang="en-US" sz="2200" dirty="0"/>
          </a:p>
        </p:txBody>
      </p:sp>
      <p:sp>
        <p:nvSpPr>
          <p:cNvPr id="12" name="Text 10"/>
          <p:cNvSpPr/>
          <p:nvPr/>
        </p:nvSpPr>
        <p:spPr>
          <a:xfrm>
            <a:off x="4673600" y="3746500"/>
            <a:ext cx="2943225"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D4657"/>
                </a:solidFill>
                <a:latin typeface="IBM Plex Sans" pitchFamily="34" charset="0"/>
                <a:ea typeface="IBM Plex Sans" pitchFamily="34" charset="-122"/>
                <a:cs typeface="IBM Plex Sans" pitchFamily="34" charset="-120"/>
              </a:rPr>
              <a:t>It </a:t>
            </a:r>
            <a:r>
              <a:rPr lang="en-US" sz="1500" b="1" dirty="0">
                <a:solidFill>
                  <a:srgbClr val="3D4657"/>
                </a:solidFill>
                <a:latin typeface="IBM Plex Sans" pitchFamily="34" charset="0"/>
                <a:ea typeface="IBM Plex Sans" pitchFamily="34" charset="-122"/>
                <a:cs typeface="IBM Plex Sans" pitchFamily="34" charset="-120"/>
              </a:rPr>
              <a:t>learns through a contest</a:t>
            </a:r>
            <a:r>
              <a:rPr lang="en-US" sz="1500" dirty="0">
                <a:solidFill>
                  <a:srgbClr val="3D4657"/>
                </a:solidFill>
                <a:latin typeface="IBM Plex Sans" pitchFamily="34" charset="0"/>
                <a:ea typeface="IBM Plex Sans" pitchFamily="34" charset="-122"/>
                <a:cs typeface="IBM Plex Sans" pitchFamily="34" charset="-120"/>
              </a:rPr>
              <a:t> between two opponents.</a:t>
            </a:r>
            <a:endParaRPr lang="en-US" sz="1500" dirty="0"/>
          </a:p>
        </p:txBody>
      </p:sp>
      <p:sp>
        <p:nvSpPr>
          <p:cNvPr id="13" name="Text 11"/>
          <p:cNvSpPr/>
          <p:nvPr/>
        </p:nvSpPr>
        <p:spPr>
          <a:xfrm>
            <a:off x="4673600" y="4953000"/>
            <a:ext cx="29432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Section 02 unpacks this word.</a:t>
            </a:r>
            <a:endParaRPr lang="en-US" sz="1200" dirty="0"/>
          </a:p>
        </p:txBody>
      </p:sp>
      <p:sp>
        <p:nvSpPr>
          <p:cNvPr id="14" name="Shape 12"/>
          <p:cNvSpPr/>
          <p:nvPr/>
        </p:nvSpPr>
        <p:spPr>
          <a:xfrm>
            <a:off x="8032750" y="1911350"/>
            <a:ext cx="3340100" cy="3543300"/>
          </a:xfrm>
          <a:prstGeom prst="roundRect">
            <a:avLst>
              <a:gd name="adj" fmla="val 3612"/>
            </a:avLst>
          </a:prstGeom>
          <a:solidFill>
            <a:srgbClr val="FFFDF8"/>
          </a:solidFill>
          <a:ln w="12700">
            <a:solidFill>
              <a:srgbClr val="E4DED0"/>
            </a:solidFill>
            <a:prstDash val="solid"/>
          </a:ln>
        </p:spPr>
      </p:sp>
      <p:sp>
        <p:nvSpPr>
          <p:cNvPr id="15" name="Text 13"/>
          <p:cNvSpPr/>
          <p:nvPr/>
        </p:nvSpPr>
        <p:spPr>
          <a:xfrm>
            <a:off x="8280400" y="2032000"/>
            <a:ext cx="2943225" cy="1168400"/>
          </a:xfrm>
          <a:prstGeom prst="rect">
            <a:avLst/>
          </a:prstGeom>
          <a:noFill/>
          <a:ln/>
        </p:spPr>
        <p:txBody>
          <a:bodyPr wrap="square" lIns="0" tIns="0" rIns="0" bIns="0" rtlCol="0" anchor="t">
            <a:normAutofit/>
          </a:bodyPr>
          <a:lstStyle/>
          <a:p>
            <a:pPr algn="l" indent="0" marL="0">
              <a:lnSpc>
                <a:spcPts val="9000"/>
              </a:lnSpc>
              <a:buNone/>
            </a:pPr>
            <a:r>
              <a:rPr lang="en-US" sz="9000" b="1" dirty="0">
                <a:solidFill>
                  <a:srgbClr val="14213D"/>
                </a:solidFill>
                <a:latin typeface="Space Grotesk" pitchFamily="34" charset="0"/>
                <a:ea typeface="Space Grotesk" pitchFamily="34" charset="-122"/>
                <a:cs typeface="Space Grotesk" pitchFamily="34" charset="-120"/>
              </a:rPr>
              <a:t>N</a:t>
            </a:r>
            <a:endParaRPr lang="en-US" sz="9000" dirty="0"/>
          </a:p>
        </p:txBody>
      </p:sp>
      <p:sp>
        <p:nvSpPr>
          <p:cNvPr id="16" name="Text 14"/>
          <p:cNvSpPr/>
          <p:nvPr/>
        </p:nvSpPr>
        <p:spPr>
          <a:xfrm>
            <a:off x="8280400" y="3302000"/>
            <a:ext cx="2943225"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Space Grotesk" pitchFamily="34" charset="0"/>
                <a:ea typeface="Space Grotesk" pitchFamily="34" charset="-122"/>
                <a:cs typeface="Space Grotesk" pitchFamily="34" charset="-120"/>
              </a:rPr>
              <a:t>Network(s)</a:t>
            </a:r>
            <a:endParaRPr lang="en-US" sz="2200" dirty="0"/>
          </a:p>
        </p:txBody>
      </p:sp>
      <p:sp>
        <p:nvSpPr>
          <p:cNvPr id="17" name="Text 15"/>
          <p:cNvSpPr/>
          <p:nvPr/>
        </p:nvSpPr>
        <p:spPr>
          <a:xfrm>
            <a:off x="8280400" y="3746500"/>
            <a:ext cx="2943225"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D4657"/>
                </a:solidFill>
                <a:latin typeface="IBM Plex Sans" pitchFamily="34" charset="0"/>
                <a:ea typeface="IBM Plex Sans" pitchFamily="34" charset="-122"/>
                <a:cs typeface="IBM Plex Sans" pitchFamily="34" charset="-120"/>
              </a:rPr>
              <a:t>Both players are </a:t>
            </a:r>
            <a:r>
              <a:rPr lang="en-US" sz="1500" b="1" dirty="0">
                <a:solidFill>
                  <a:srgbClr val="3D4657"/>
                </a:solidFill>
                <a:latin typeface="IBM Plex Sans" pitchFamily="34" charset="0"/>
                <a:ea typeface="IBM Plex Sans" pitchFamily="34" charset="-122"/>
                <a:cs typeface="IBM Plex Sans" pitchFamily="34" charset="-120"/>
              </a:rPr>
              <a:t>neural networks</a:t>
            </a:r>
            <a:r>
              <a:rPr lang="en-US" sz="1500" dirty="0">
                <a:solidFill>
                  <a:srgbClr val="3D4657"/>
                </a:solidFill>
                <a:latin typeface="IBM Plex Sans" pitchFamily="34" charset="0"/>
                <a:ea typeface="IBM Plex Sans" pitchFamily="34" charset="-122"/>
                <a:cs typeface="IBM Plex Sans" pitchFamily="34" charset="-120"/>
              </a:rPr>
              <a:t>, trained with backpropagation.</a:t>
            </a:r>
            <a:endParaRPr lang="en-US" sz="1500" dirty="0"/>
          </a:p>
        </p:txBody>
      </p:sp>
      <p:sp>
        <p:nvSpPr>
          <p:cNvPr id="18" name="Text 16"/>
          <p:cNvSpPr/>
          <p:nvPr/>
        </p:nvSpPr>
        <p:spPr>
          <a:xfrm>
            <a:off x="8280400" y="4953000"/>
            <a:ext cx="29432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Not one network: two.</a:t>
            </a:r>
            <a:endParaRPr lang="en-US" sz="1200" dirty="0"/>
          </a:p>
        </p:txBody>
      </p:sp>
      <p:sp>
        <p:nvSpPr>
          <p:cNvPr id="19" name="Text 17"/>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1 · 01 What GAN stands for · min 4–6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01 · THE G IN GAN</a:t>
            </a:r>
            <a:endParaRPr lang="en-US" sz="1200" dirty="0"/>
          </a:p>
        </p:txBody>
      </p:sp>
      <p:sp>
        <p:nvSpPr>
          <p:cNvPr id="3" name="Text 1"/>
          <p:cNvSpPr/>
          <p:nvPr/>
        </p:nvSpPr>
        <p:spPr>
          <a:xfrm>
            <a:off x="812800" y="82550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Discriminative models label. Generative models create.</a:t>
            </a:r>
            <a:endParaRPr lang="en-US" sz="3200" dirty="0"/>
          </a:p>
        </p:txBody>
      </p:sp>
      <p:sp>
        <p:nvSpPr>
          <p:cNvPr id="4" name="Text 2"/>
          <p:cNvSpPr/>
          <p:nvPr/>
        </p:nvSpPr>
        <p:spPr>
          <a:xfrm>
            <a:off x="812800" y="1905000"/>
            <a:ext cx="3924300"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6B7280"/>
                </a:solidFill>
                <a:latin typeface="IBM Plex Sans" pitchFamily="34" charset="0"/>
                <a:ea typeface="IBM Plex Sans" pitchFamily="34" charset="-122"/>
                <a:cs typeface="IBM Plex Sans" pitchFamily="34" charset="-120"/>
              </a:rPr>
              <a:t>DISCRIMINATIVE (WHAT YOU KNOW)</a:t>
            </a:r>
            <a:endParaRPr lang="en-US" sz="1300" dirty="0"/>
          </a:p>
        </p:txBody>
      </p:sp>
      <p:pic>
        <p:nvPicPr>
          <p:cNvPr id="5" name="Image 0" descr="Illustrated purple flower as input">    </p:cNvPr>
          <p:cNvPicPr>
            <a:picLocks noChangeAspect="1"/>
          </p:cNvPicPr>
          <p:nvPr/>
        </p:nvPicPr>
        <p:blipFill>
          <a:blip r:embed="rId1"/>
          <a:srcRect l="0" r="0" t="0" b="0"/>
          <a:stretch/>
        </p:blipFill>
        <p:spPr>
          <a:xfrm>
            <a:off x="812800" y="2222500"/>
            <a:ext cx="1270000" cy="1270000"/>
          </a:xfrm>
          <a:prstGeom prst="rect">
            <a:avLst/>
          </a:prstGeom>
        </p:spPr>
      </p:pic>
      <p:pic>
        <p:nvPicPr>
          <p:cNvPr id="6" name="Image 1" descr="arrow-right">    </p:cNvPr>
          <p:cNvPicPr>
            <a:picLocks noChangeAspect="1"/>
          </p:cNvPicPr>
          <p:nvPr/>
        </p:nvPicPr>
        <p:blipFill>
          <a:blip r:embed="rId2"/>
          <a:srcRect l="0" r="0" t="0" b="0"/>
          <a:stretch/>
        </p:blipFill>
        <p:spPr>
          <a:xfrm>
            <a:off x="2222500" y="2698750"/>
            <a:ext cx="571500" cy="317500"/>
          </a:xfrm>
          <a:prstGeom prst="rect">
            <a:avLst/>
          </a:prstGeom>
        </p:spPr>
      </p:pic>
      <p:sp>
        <p:nvSpPr>
          <p:cNvPr id="7" name="Shape 3"/>
          <p:cNvSpPr/>
          <p:nvPr/>
        </p:nvSpPr>
        <p:spPr>
          <a:xfrm>
            <a:off x="2921000" y="2476500"/>
            <a:ext cx="1905000" cy="762000"/>
          </a:xfrm>
          <a:prstGeom prst="roundRect">
            <a:avLst>
              <a:gd name="adj" fmla="val 13333"/>
            </a:avLst>
          </a:prstGeom>
          <a:solidFill>
            <a:srgbClr val="E4DED0"/>
          </a:solidFill>
          <a:ln/>
        </p:spPr>
      </p:sp>
      <p:sp>
        <p:nvSpPr>
          <p:cNvPr id="8" name="Text 4"/>
          <p:cNvSpPr/>
          <p:nvPr/>
        </p:nvSpPr>
        <p:spPr>
          <a:xfrm>
            <a:off x="2892425" y="2698750"/>
            <a:ext cx="1962150"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Classifier</a:t>
            </a:r>
            <a:endParaRPr lang="en-US" sz="1600" dirty="0"/>
          </a:p>
        </p:txBody>
      </p:sp>
      <p:pic>
        <p:nvPicPr>
          <p:cNvPr id="9" name="Image 2" descr="arrow-right">    </p:cNvPr>
          <p:cNvPicPr>
            <a:picLocks noChangeAspect="1"/>
          </p:cNvPicPr>
          <p:nvPr/>
        </p:nvPicPr>
        <p:blipFill>
          <a:blip r:embed="rId3"/>
          <a:srcRect l="0" r="0" t="0" b="0"/>
          <a:stretch/>
        </p:blipFill>
        <p:spPr>
          <a:xfrm>
            <a:off x="4953000" y="2698750"/>
            <a:ext cx="571500" cy="317500"/>
          </a:xfrm>
          <a:prstGeom prst="rect">
            <a:avLst/>
          </a:prstGeom>
        </p:spPr>
      </p:pic>
      <p:sp>
        <p:nvSpPr>
          <p:cNvPr id="10" name="Text 5"/>
          <p:cNvSpPr/>
          <p:nvPr/>
        </p:nvSpPr>
        <p:spPr>
          <a:xfrm>
            <a:off x="5651500" y="2635250"/>
            <a:ext cx="26162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14213D"/>
                </a:solidFill>
                <a:latin typeface="JetBrains Mono" pitchFamily="34" charset="0"/>
                <a:ea typeface="JetBrains Mono" pitchFamily="34" charset="-122"/>
                <a:cs typeface="JetBrains Mono" pitchFamily="34" charset="-120"/>
              </a:rPr>
              <a:t>"flower"</a:t>
            </a:r>
            <a:endParaRPr lang="en-US" sz="2000" dirty="0"/>
          </a:p>
        </p:txBody>
      </p:sp>
      <p:sp>
        <p:nvSpPr>
          <p:cNvPr id="11" name="Text 6"/>
          <p:cNvSpPr/>
          <p:nvPr/>
        </p:nvSpPr>
        <p:spPr>
          <a:xfrm>
            <a:off x="8255000" y="2413000"/>
            <a:ext cx="3217926"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D4657"/>
                </a:solidFill>
                <a:latin typeface="IBM Plex Sans" pitchFamily="34" charset="0"/>
                <a:ea typeface="IBM Plex Sans" pitchFamily="34" charset="-122"/>
                <a:cs typeface="IBM Plex Sans" pitchFamily="34" charset="-120"/>
              </a:rPr>
              <a:t>Input: an image</a:t>
            </a:r>
            <a:endParaRPr lang="en-US" sz="1500" dirty="0"/>
          </a:p>
          <a:p>
            <a:pPr algn="l" indent="0" marL="0">
              <a:lnSpc>
                <a:spcPts val="2025"/>
              </a:lnSpc>
              <a:buNone/>
            </a:pPr>
            <a:r>
              <a:rPr lang="en-US" sz="1500" dirty="0">
                <a:solidFill>
                  <a:srgbClr val="3D4657"/>
                </a:solidFill>
                <a:latin typeface="IBM Plex Sans" pitchFamily="34" charset="0"/>
                <a:ea typeface="IBM Plex Sans" pitchFamily="34" charset="-122"/>
                <a:cs typeface="IBM Plex Sans" pitchFamily="34" charset="-120"/>
              </a:rPr>
              <a:t>Output: a </a:t>
            </a:r>
            <a:r>
              <a:rPr lang="en-US" sz="1500" b="1" dirty="0">
                <a:solidFill>
                  <a:srgbClr val="3D4657"/>
                </a:solidFill>
                <a:latin typeface="IBM Plex Sans" pitchFamily="34" charset="0"/>
                <a:ea typeface="IBM Plex Sans" pitchFamily="34" charset="-122"/>
                <a:cs typeface="IBM Plex Sans" pitchFamily="34" charset="-120"/>
              </a:rPr>
              <a:t>label</a:t>
            </a:r>
            <a:endParaRPr lang="en-US" sz="1500" dirty="0"/>
          </a:p>
          <a:p>
            <a:pPr algn="l" indent="0" marL="0">
              <a:lnSpc>
                <a:spcPts val="2025"/>
              </a:lnSpc>
              <a:buNone/>
            </a:pPr>
            <a:r>
              <a:rPr lang="en-US" sz="1500" dirty="0">
                <a:solidFill>
                  <a:srgbClr val="3D4657"/>
                </a:solidFill>
                <a:latin typeface="IBM Plex Sans" pitchFamily="34" charset="0"/>
                <a:ea typeface="IBM Plex Sans" pitchFamily="34" charset="-122"/>
                <a:cs typeface="IBM Plex Sans" pitchFamily="34" charset="-120"/>
              </a:rPr>
              <a:t>Learns p(label | image)</a:t>
            </a:r>
            <a:endParaRPr lang="en-US" sz="1500" dirty="0"/>
          </a:p>
        </p:txBody>
      </p:sp>
      <p:pic>
        <p:nvPicPr>
          <p:cNvPr id="12" name="Image 3" descr="line">    </p:cNvPr>
          <p:cNvPicPr>
            <a:picLocks noChangeAspect="1"/>
          </p:cNvPicPr>
          <p:nvPr/>
        </p:nvPicPr>
        <p:blipFill>
          <a:blip r:embed="rId4"/>
          <a:srcRect l="0" r="0" t="0" b="0"/>
          <a:stretch/>
        </p:blipFill>
        <p:spPr>
          <a:xfrm>
            <a:off x="812800" y="3746500"/>
            <a:ext cx="10566400" cy="19050"/>
          </a:xfrm>
          <a:prstGeom prst="rect">
            <a:avLst/>
          </a:prstGeom>
        </p:spPr>
      </p:pic>
      <p:sp>
        <p:nvSpPr>
          <p:cNvPr id="13" name="Text 7"/>
          <p:cNvSpPr/>
          <p:nvPr/>
        </p:nvSpPr>
        <p:spPr>
          <a:xfrm>
            <a:off x="812800" y="3968750"/>
            <a:ext cx="3924300"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563A8"/>
                </a:solidFill>
                <a:latin typeface="IBM Plex Sans" pitchFamily="34" charset="0"/>
                <a:ea typeface="IBM Plex Sans" pitchFamily="34" charset="-122"/>
                <a:cs typeface="IBM Plex Sans" pitchFamily="34" charset="-120"/>
              </a:rPr>
              <a:t>GENERATIVE (TODAY)</a:t>
            </a:r>
            <a:endParaRPr lang="en-US" sz="1300" dirty="0"/>
          </a:p>
        </p:txBody>
      </p:sp>
      <p:pic>
        <p:nvPicPr>
          <p:cNvPr id="14" name="Image 4" descr="Random noise as input">    </p:cNvPr>
          <p:cNvPicPr>
            <a:picLocks noChangeAspect="1"/>
          </p:cNvPicPr>
          <p:nvPr/>
        </p:nvPicPr>
        <p:blipFill>
          <a:blip r:embed="rId5"/>
          <a:srcRect l="0" r="0" t="0" b="0"/>
          <a:stretch/>
        </p:blipFill>
        <p:spPr>
          <a:xfrm>
            <a:off x="939800" y="4381500"/>
            <a:ext cx="1016000" cy="1016000"/>
          </a:xfrm>
          <a:prstGeom prst="roundRect">
            <a:avLst>
              <a:gd name="adj" fmla="val 5000"/>
            </a:avLst>
          </a:prstGeom>
        </p:spPr>
      </p:pic>
      <p:pic>
        <p:nvPicPr>
          <p:cNvPr id="15" name="Image 5" descr="arrow-right">    </p:cNvPr>
          <p:cNvPicPr>
            <a:picLocks noChangeAspect="1"/>
          </p:cNvPicPr>
          <p:nvPr/>
        </p:nvPicPr>
        <p:blipFill>
          <a:blip r:embed="rId6"/>
          <a:srcRect l="0" r="0" t="0" b="0"/>
          <a:stretch/>
        </p:blipFill>
        <p:spPr>
          <a:xfrm>
            <a:off x="2222500" y="4730750"/>
            <a:ext cx="571500" cy="317500"/>
          </a:xfrm>
          <a:prstGeom prst="rect">
            <a:avLst/>
          </a:prstGeom>
        </p:spPr>
      </p:pic>
      <p:sp>
        <p:nvSpPr>
          <p:cNvPr id="16" name="Shape 8"/>
          <p:cNvSpPr/>
          <p:nvPr/>
        </p:nvSpPr>
        <p:spPr>
          <a:xfrm>
            <a:off x="2921000" y="4508500"/>
            <a:ext cx="1905000" cy="762000"/>
          </a:xfrm>
          <a:prstGeom prst="roundRect">
            <a:avLst>
              <a:gd name="adj" fmla="val 13333"/>
            </a:avLst>
          </a:prstGeom>
          <a:solidFill>
            <a:srgbClr val="2563A8"/>
          </a:solidFill>
          <a:ln/>
        </p:spPr>
      </p:sp>
      <p:sp>
        <p:nvSpPr>
          <p:cNvPr id="17" name="Text 9"/>
          <p:cNvSpPr/>
          <p:nvPr/>
        </p:nvSpPr>
        <p:spPr>
          <a:xfrm>
            <a:off x="2892425" y="4730750"/>
            <a:ext cx="1962150"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F6F3EC"/>
                </a:solidFill>
                <a:latin typeface="IBM Plex Sans" pitchFamily="34" charset="0"/>
                <a:ea typeface="IBM Plex Sans" pitchFamily="34" charset="-122"/>
                <a:cs typeface="IBM Plex Sans" pitchFamily="34" charset="-120"/>
              </a:rPr>
              <a:t>Generator</a:t>
            </a:r>
            <a:endParaRPr lang="en-US" sz="1600" dirty="0"/>
          </a:p>
        </p:txBody>
      </p:sp>
      <p:pic>
        <p:nvPicPr>
          <p:cNvPr id="18" name="Image 6" descr="arrow-right">    </p:cNvPr>
          <p:cNvPicPr>
            <a:picLocks noChangeAspect="1"/>
          </p:cNvPicPr>
          <p:nvPr/>
        </p:nvPicPr>
        <p:blipFill>
          <a:blip r:embed="rId7"/>
          <a:srcRect l="0" r="0" t="0" b="0"/>
          <a:stretch/>
        </p:blipFill>
        <p:spPr>
          <a:xfrm>
            <a:off x="4953000" y="4730750"/>
            <a:ext cx="571500" cy="317500"/>
          </a:xfrm>
          <a:prstGeom prst="rect">
            <a:avLst/>
          </a:prstGeom>
        </p:spPr>
      </p:pic>
      <p:pic>
        <p:nvPicPr>
          <p:cNvPr id="19" name="Image 7" descr="A new generated flower">    </p:cNvPr>
          <p:cNvPicPr>
            <a:picLocks noChangeAspect="1"/>
          </p:cNvPicPr>
          <p:nvPr/>
        </p:nvPicPr>
        <p:blipFill>
          <a:blip r:embed="rId8"/>
          <a:srcRect l="0" r="0" t="0" b="0"/>
          <a:stretch/>
        </p:blipFill>
        <p:spPr>
          <a:xfrm>
            <a:off x="5651500" y="4254500"/>
            <a:ext cx="1397000" cy="1397000"/>
          </a:xfrm>
          <a:prstGeom prst="rect">
            <a:avLst/>
          </a:prstGeom>
        </p:spPr>
      </p:pic>
      <p:sp>
        <p:nvSpPr>
          <p:cNvPr id="20" name="Text 10"/>
          <p:cNvSpPr/>
          <p:nvPr/>
        </p:nvSpPr>
        <p:spPr>
          <a:xfrm>
            <a:off x="8255000" y="4445000"/>
            <a:ext cx="3217926"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D4657"/>
                </a:solidFill>
                <a:latin typeface="IBM Plex Sans" pitchFamily="34" charset="0"/>
                <a:ea typeface="IBM Plex Sans" pitchFamily="34" charset="-122"/>
                <a:cs typeface="IBM Plex Sans" pitchFamily="34" charset="-120"/>
              </a:rPr>
              <a:t>Input: random numbers</a:t>
            </a:r>
            <a:endParaRPr lang="en-US" sz="1500" dirty="0"/>
          </a:p>
          <a:p>
            <a:pPr algn="l" indent="0" marL="0">
              <a:lnSpc>
                <a:spcPts val="2025"/>
              </a:lnSpc>
              <a:buNone/>
            </a:pPr>
            <a:r>
              <a:rPr lang="en-US" sz="1500" dirty="0">
                <a:solidFill>
                  <a:srgbClr val="3D4657"/>
                </a:solidFill>
                <a:latin typeface="IBM Plex Sans" pitchFamily="34" charset="0"/>
                <a:ea typeface="IBM Plex Sans" pitchFamily="34" charset="-122"/>
                <a:cs typeface="IBM Plex Sans" pitchFamily="34" charset="-120"/>
              </a:rPr>
              <a:t>Output: a </a:t>
            </a:r>
            <a:r>
              <a:rPr lang="en-US" sz="1500" b="1" dirty="0">
                <a:solidFill>
                  <a:srgbClr val="3D4657"/>
                </a:solidFill>
                <a:latin typeface="IBM Plex Sans" pitchFamily="34" charset="0"/>
                <a:ea typeface="IBM Plex Sans" pitchFamily="34" charset="-122"/>
                <a:cs typeface="IBM Plex Sans" pitchFamily="34" charset="-120"/>
              </a:rPr>
              <a:t>new image</a:t>
            </a:r>
            <a:endParaRPr lang="en-US" sz="1500" dirty="0"/>
          </a:p>
          <a:p>
            <a:pPr algn="l" indent="0" marL="0">
              <a:lnSpc>
                <a:spcPts val="2025"/>
              </a:lnSpc>
              <a:buNone/>
            </a:pPr>
            <a:r>
              <a:rPr lang="en-US" sz="1500" dirty="0">
                <a:solidFill>
                  <a:srgbClr val="3D4657"/>
                </a:solidFill>
                <a:latin typeface="IBM Plex Sans" pitchFamily="34" charset="0"/>
                <a:ea typeface="IBM Plex Sans" pitchFamily="34" charset="-122"/>
                <a:cs typeface="IBM Plex Sans" pitchFamily="34" charset="-120"/>
              </a:rPr>
              <a:t>Learns to sample like p(image)</a:t>
            </a:r>
            <a:endParaRPr lang="en-US" sz="1500" dirty="0"/>
          </a:p>
        </p:txBody>
      </p:sp>
      <p:sp>
        <p:nvSpPr>
          <p:cNvPr id="21" name="Text 11"/>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1 · 01 What GAN stands for · min 6–9 · notebook cell 1</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01 · WHY LEARN GANS?</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What GANs are used for</a:t>
            </a:r>
            <a:endParaRPr lang="en-US" sz="3200" dirty="0"/>
          </a:p>
        </p:txBody>
      </p:sp>
      <p:sp>
        <p:nvSpPr>
          <p:cNvPr id="4" name="Shape 2"/>
          <p:cNvSpPr/>
          <p:nvPr/>
        </p:nvSpPr>
        <p:spPr>
          <a:xfrm>
            <a:off x="819150" y="1847850"/>
            <a:ext cx="3352800" cy="1765300"/>
          </a:xfrm>
          <a:prstGeom prst="roundRect">
            <a:avLst>
              <a:gd name="adj" fmla="val 5396"/>
            </a:avLst>
          </a:prstGeom>
          <a:solidFill>
            <a:srgbClr val="FFFDF8"/>
          </a:solidFill>
          <a:ln w="12700">
            <a:solidFill>
              <a:srgbClr val="E4DED0"/>
            </a:solidFill>
            <a:prstDash val="solid"/>
          </a:ln>
        </p:spPr>
      </p:sp>
      <p:sp>
        <p:nvSpPr>
          <p:cNvPr id="5" name="Text 3"/>
          <p:cNvSpPr/>
          <p:nvPr/>
        </p:nvSpPr>
        <p:spPr>
          <a:xfrm>
            <a:off x="1047750" y="2019300"/>
            <a:ext cx="3074035"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Space Grotesk" pitchFamily="34" charset="0"/>
                <a:ea typeface="Space Grotesk" pitchFamily="34" charset="-122"/>
                <a:cs typeface="Space Grotesk" pitchFamily="34" charset="-120"/>
              </a:rPr>
              <a:t>New images</a:t>
            </a:r>
            <a:endParaRPr lang="en-US" sz="1800" dirty="0"/>
          </a:p>
        </p:txBody>
      </p:sp>
      <p:sp>
        <p:nvSpPr>
          <p:cNvPr id="6" name="Text 4"/>
          <p:cNvSpPr/>
          <p:nvPr/>
        </p:nvSpPr>
        <p:spPr>
          <a:xfrm>
            <a:off x="1047750" y="2400300"/>
            <a:ext cx="3074035"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657"/>
                </a:solidFill>
                <a:latin typeface="IBM Plex Sans" pitchFamily="34" charset="0"/>
                <a:ea typeface="IBM Plex Sans" pitchFamily="34" charset="-122"/>
                <a:cs typeface="IBM Plex Sans" pitchFamily="34" charset="-120"/>
              </a:rPr>
              <a:t>Realistic faces, objects and scenes that never existed (e.g. the StyleGAN family).</a:t>
            </a:r>
            <a:endParaRPr lang="en-US" sz="1400" dirty="0"/>
          </a:p>
        </p:txBody>
      </p:sp>
      <p:sp>
        <p:nvSpPr>
          <p:cNvPr id="7" name="Shape 5"/>
          <p:cNvSpPr/>
          <p:nvPr/>
        </p:nvSpPr>
        <p:spPr>
          <a:xfrm>
            <a:off x="4419600" y="1847850"/>
            <a:ext cx="3352800" cy="1765300"/>
          </a:xfrm>
          <a:prstGeom prst="roundRect">
            <a:avLst>
              <a:gd name="adj" fmla="val 5396"/>
            </a:avLst>
          </a:prstGeom>
          <a:solidFill>
            <a:srgbClr val="FFFDF8"/>
          </a:solidFill>
          <a:ln w="12700">
            <a:solidFill>
              <a:srgbClr val="E4DED0"/>
            </a:solidFill>
            <a:prstDash val="solid"/>
          </a:ln>
        </p:spPr>
      </p:sp>
      <p:sp>
        <p:nvSpPr>
          <p:cNvPr id="8" name="Text 6"/>
          <p:cNvSpPr/>
          <p:nvPr/>
        </p:nvSpPr>
        <p:spPr>
          <a:xfrm>
            <a:off x="4648200" y="2019300"/>
            <a:ext cx="3074035"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Space Grotesk" pitchFamily="34" charset="0"/>
                <a:ea typeface="Space Grotesk" pitchFamily="34" charset="-122"/>
                <a:cs typeface="Space Grotesk" pitchFamily="34" charset="-120"/>
              </a:rPr>
              <a:t>Image-to-image</a:t>
            </a:r>
            <a:endParaRPr lang="en-US" sz="1800" dirty="0"/>
          </a:p>
        </p:txBody>
      </p:sp>
      <p:sp>
        <p:nvSpPr>
          <p:cNvPr id="9" name="Text 7"/>
          <p:cNvSpPr/>
          <p:nvPr/>
        </p:nvSpPr>
        <p:spPr>
          <a:xfrm>
            <a:off x="4648200" y="2400300"/>
            <a:ext cx="3074035"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657"/>
                </a:solidFill>
                <a:latin typeface="IBM Plex Sans" pitchFamily="34" charset="0"/>
                <a:ea typeface="IBM Plex Sans" pitchFamily="34" charset="-122"/>
                <a:cs typeface="IBM Plex Sans" pitchFamily="34" charset="-120"/>
              </a:rPr>
              <a:t>Sketch → photo, day → night, horse → zebra (pix2pix, CycleGAN).</a:t>
            </a:r>
            <a:endParaRPr lang="en-US" sz="1400" dirty="0"/>
          </a:p>
        </p:txBody>
      </p:sp>
      <p:sp>
        <p:nvSpPr>
          <p:cNvPr id="10" name="Shape 8"/>
          <p:cNvSpPr/>
          <p:nvPr/>
        </p:nvSpPr>
        <p:spPr>
          <a:xfrm>
            <a:off x="8020050" y="1847850"/>
            <a:ext cx="3352800" cy="1765300"/>
          </a:xfrm>
          <a:prstGeom prst="roundRect">
            <a:avLst>
              <a:gd name="adj" fmla="val 5396"/>
            </a:avLst>
          </a:prstGeom>
          <a:solidFill>
            <a:srgbClr val="FFFDF8"/>
          </a:solidFill>
          <a:ln w="12700">
            <a:solidFill>
              <a:srgbClr val="E4DED0"/>
            </a:solidFill>
            <a:prstDash val="solid"/>
          </a:ln>
        </p:spPr>
      </p:sp>
      <p:sp>
        <p:nvSpPr>
          <p:cNvPr id="11" name="Text 9"/>
          <p:cNvSpPr/>
          <p:nvPr/>
        </p:nvSpPr>
        <p:spPr>
          <a:xfrm>
            <a:off x="8248650" y="2019300"/>
            <a:ext cx="3074035"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Space Grotesk" pitchFamily="34" charset="0"/>
                <a:ea typeface="Space Grotesk" pitchFamily="34" charset="-122"/>
                <a:cs typeface="Space Grotesk" pitchFamily="34" charset="-120"/>
              </a:rPr>
              <a:t>Super-resolution</a:t>
            </a:r>
            <a:endParaRPr lang="en-US" sz="1800" dirty="0"/>
          </a:p>
        </p:txBody>
      </p:sp>
      <p:sp>
        <p:nvSpPr>
          <p:cNvPr id="12" name="Text 10"/>
          <p:cNvSpPr/>
          <p:nvPr/>
        </p:nvSpPr>
        <p:spPr>
          <a:xfrm>
            <a:off x="8248650" y="2400300"/>
            <a:ext cx="3074035"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657"/>
                </a:solidFill>
                <a:latin typeface="IBM Plex Sans" pitchFamily="34" charset="0"/>
                <a:ea typeface="IBM Plex Sans" pitchFamily="34" charset="-122"/>
                <a:cs typeface="IBM Plex Sans" pitchFamily="34" charset="-120"/>
              </a:rPr>
              <a:t>Low-resolution photo → sharper, higher-resolution version (SRGAN).</a:t>
            </a:r>
            <a:endParaRPr lang="en-US" sz="1400" dirty="0"/>
          </a:p>
        </p:txBody>
      </p:sp>
      <p:sp>
        <p:nvSpPr>
          <p:cNvPr id="13" name="Shape 11"/>
          <p:cNvSpPr/>
          <p:nvPr/>
        </p:nvSpPr>
        <p:spPr>
          <a:xfrm>
            <a:off x="819150" y="3816350"/>
            <a:ext cx="3352800" cy="1765300"/>
          </a:xfrm>
          <a:prstGeom prst="roundRect">
            <a:avLst>
              <a:gd name="adj" fmla="val 5396"/>
            </a:avLst>
          </a:prstGeom>
          <a:solidFill>
            <a:srgbClr val="FFFDF8"/>
          </a:solidFill>
          <a:ln w="12700">
            <a:solidFill>
              <a:srgbClr val="E4DED0"/>
            </a:solidFill>
            <a:prstDash val="solid"/>
          </a:ln>
        </p:spPr>
      </p:sp>
      <p:sp>
        <p:nvSpPr>
          <p:cNvPr id="14" name="Text 12"/>
          <p:cNvSpPr/>
          <p:nvPr/>
        </p:nvSpPr>
        <p:spPr>
          <a:xfrm>
            <a:off x="1047750" y="3987800"/>
            <a:ext cx="3074035"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Space Grotesk" pitchFamily="34" charset="0"/>
                <a:ea typeface="Space Grotesk" pitchFamily="34" charset="-122"/>
                <a:cs typeface="Space Grotesk" pitchFamily="34" charset="-120"/>
              </a:rPr>
              <a:t>Data augmentation</a:t>
            </a:r>
            <a:endParaRPr lang="en-US" sz="1800" dirty="0"/>
          </a:p>
        </p:txBody>
      </p:sp>
      <p:sp>
        <p:nvSpPr>
          <p:cNvPr id="15" name="Text 13"/>
          <p:cNvSpPr/>
          <p:nvPr/>
        </p:nvSpPr>
        <p:spPr>
          <a:xfrm>
            <a:off x="1047750" y="4368800"/>
            <a:ext cx="3074035"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657"/>
                </a:solidFill>
                <a:latin typeface="IBM Plex Sans" pitchFamily="34" charset="0"/>
                <a:ea typeface="IBM Plex Sans" pitchFamily="34" charset="-122"/>
                <a:cs typeface="IBM Plex Sans" pitchFamily="34" charset="-120"/>
              </a:rPr>
              <a:t>Extra synthetic training images when real ones are rare or private.</a:t>
            </a:r>
            <a:endParaRPr lang="en-US" sz="1400" dirty="0"/>
          </a:p>
        </p:txBody>
      </p:sp>
      <p:sp>
        <p:nvSpPr>
          <p:cNvPr id="16" name="Shape 14"/>
          <p:cNvSpPr/>
          <p:nvPr/>
        </p:nvSpPr>
        <p:spPr>
          <a:xfrm>
            <a:off x="4419600" y="3816350"/>
            <a:ext cx="3352800" cy="1765300"/>
          </a:xfrm>
          <a:prstGeom prst="roundRect">
            <a:avLst>
              <a:gd name="adj" fmla="val 5396"/>
            </a:avLst>
          </a:prstGeom>
          <a:solidFill>
            <a:srgbClr val="FFFDF8"/>
          </a:solidFill>
          <a:ln w="12700">
            <a:solidFill>
              <a:srgbClr val="E4DED0"/>
            </a:solidFill>
            <a:prstDash val="solid"/>
          </a:ln>
        </p:spPr>
      </p:sp>
      <p:sp>
        <p:nvSpPr>
          <p:cNvPr id="17" name="Text 15"/>
          <p:cNvSpPr/>
          <p:nvPr/>
        </p:nvSpPr>
        <p:spPr>
          <a:xfrm>
            <a:off x="4648200" y="3987800"/>
            <a:ext cx="3074035"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Space Grotesk" pitchFamily="34" charset="0"/>
                <a:ea typeface="Space Grotesk" pitchFamily="34" charset="-122"/>
                <a:cs typeface="Space Grotesk" pitchFamily="34" charset="-120"/>
              </a:rPr>
              <a:t>Video and art</a:t>
            </a:r>
            <a:endParaRPr lang="en-US" sz="1800" dirty="0"/>
          </a:p>
        </p:txBody>
      </p:sp>
      <p:sp>
        <p:nvSpPr>
          <p:cNvPr id="18" name="Text 16"/>
          <p:cNvSpPr/>
          <p:nvPr/>
        </p:nvSpPr>
        <p:spPr>
          <a:xfrm>
            <a:off x="4648200" y="4368800"/>
            <a:ext cx="3074035"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657"/>
                </a:solidFill>
                <a:latin typeface="IBM Plex Sans" pitchFamily="34" charset="0"/>
                <a:ea typeface="IBM Plex Sans" pitchFamily="34" charset="-122"/>
                <a:cs typeface="IBM Plex Sans" pitchFamily="34" charset="-120"/>
              </a:rPr>
              <a:t>Predicting the next video frame; creative tools and generative art.</a:t>
            </a:r>
            <a:endParaRPr lang="en-US" sz="1400" dirty="0"/>
          </a:p>
        </p:txBody>
      </p:sp>
      <p:sp>
        <p:nvSpPr>
          <p:cNvPr id="19" name="Shape 17"/>
          <p:cNvSpPr/>
          <p:nvPr/>
        </p:nvSpPr>
        <p:spPr>
          <a:xfrm>
            <a:off x="8013700" y="3810000"/>
            <a:ext cx="3365500" cy="1778000"/>
          </a:xfrm>
          <a:prstGeom prst="roundRect">
            <a:avLst>
              <a:gd name="adj" fmla="val 5714"/>
            </a:avLst>
          </a:prstGeom>
          <a:solidFill>
            <a:srgbClr val="14213D"/>
          </a:solidFill>
          <a:ln/>
        </p:spPr>
      </p:sp>
      <p:sp>
        <p:nvSpPr>
          <p:cNvPr id="20" name="Text 18"/>
          <p:cNvSpPr/>
          <p:nvPr/>
        </p:nvSpPr>
        <p:spPr>
          <a:xfrm>
            <a:off x="8248650" y="3987800"/>
            <a:ext cx="3074035"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9B949"/>
                </a:solidFill>
                <a:latin typeface="Space Grotesk" pitchFamily="34" charset="0"/>
                <a:ea typeface="Space Grotesk" pitchFamily="34" charset="-122"/>
                <a:cs typeface="Space Grotesk" pitchFamily="34" charset="-120"/>
              </a:rPr>
              <a:t>A caution</a:t>
            </a:r>
            <a:endParaRPr lang="en-US" sz="1800" dirty="0"/>
          </a:p>
        </p:txBody>
      </p:sp>
      <p:sp>
        <p:nvSpPr>
          <p:cNvPr id="21" name="Text 19"/>
          <p:cNvSpPr/>
          <p:nvPr/>
        </p:nvSpPr>
        <p:spPr>
          <a:xfrm>
            <a:off x="8248650" y="4368800"/>
            <a:ext cx="3074035"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3EC"/>
                </a:solidFill>
                <a:latin typeface="IBM Plex Sans" pitchFamily="34" charset="0"/>
                <a:ea typeface="IBM Plex Sans" pitchFamily="34" charset="-122"/>
                <a:cs typeface="IBM Plex Sans" pitchFamily="34" charset="-120"/>
              </a:rPr>
              <a:t>The same power makes "deepfakes" possible. Detecting fakes is itself a research area.</a:t>
            </a:r>
            <a:endParaRPr lang="en-US" sz="1400" dirty="0"/>
          </a:p>
        </p:txBody>
      </p:sp>
      <p:sp>
        <p:nvSpPr>
          <p:cNvPr id="22" name="Text 20"/>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1 · 01 What GAN stands for · min 9–11</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01 · WHAT "GENERATE" REALLY MEANS</a:t>
            </a:r>
            <a:endParaRPr lang="en-US" sz="1200" dirty="0"/>
          </a:p>
        </p:txBody>
      </p:sp>
      <p:sp>
        <p:nvSpPr>
          <p:cNvPr id="3" name="Text 1"/>
          <p:cNvSpPr/>
          <p:nvPr/>
        </p:nvSpPr>
        <p:spPr>
          <a:xfrm>
            <a:off x="812800" y="82550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Goal: make the model's samples follow the data's distribution</a:t>
            </a:r>
            <a:endParaRPr lang="en-US" sz="3200" dirty="0"/>
          </a:p>
        </p:txBody>
      </p:sp>
      <p:sp>
        <p:nvSpPr>
          <p:cNvPr id="4" name="Text 2"/>
          <p:cNvSpPr/>
          <p:nvPr/>
        </p:nvSpPr>
        <p:spPr>
          <a:xfrm>
            <a:off x="812800" y="2032000"/>
            <a:ext cx="4970780"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657"/>
                </a:solidFill>
                <a:latin typeface="IBM Plex Sans" pitchFamily="34" charset="0"/>
                <a:ea typeface="IBM Plex Sans" pitchFamily="34" charset="-122"/>
                <a:cs typeface="IBM Plex Sans" pitchFamily="34" charset="-120"/>
              </a:rPr>
              <a:t>Every real flower photo is one </a:t>
            </a:r>
            <a:r>
              <a:rPr lang="en-US" sz="1600" b="1" dirty="0">
                <a:solidFill>
                  <a:srgbClr val="3D4657"/>
                </a:solidFill>
                <a:latin typeface="IBM Plex Sans" pitchFamily="34" charset="0"/>
                <a:ea typeface="IBM Plex Sans" pitchFamily="34" charset="-122"/>
                <a:cs typeface="IBM Plex Sans" pitchFamily="34" charset="-120"/>
              </a:rPr>
              <a:t>sample</a:t>
            </a:r>
            <a:r>
              <a:rPr lang="en-US" sz="1600" dirty="0">
                <a:solidFill>
                  <a:srgbClr val="3D4657"/>
                </a:solidFill>
                <a:latin typeface="IBM Plex Sans" pitchFamily="34" charset="0"/>
                <a:ea typeface="IBM Plex Sans" pitchFamily="34" charset="-122"/>
                <a:cs typeface="IBM Plex Sans" pitchFamily="34" charset="-120"/>
              </a:rPr>
              <a:t> from an unknown distribution </a:t>
            </a:r>
            <a:r>
              <a:rPr lang="en-US" sz="1600" b="1" dirty="0">
                <a:solidFill>
                  <a:srgbClr val="3D4657"/>
                </a:solidFill>
                <a:latin typeface="IBM Plex Sans" pitchFamily="34" charset="0"/>
                <a:ea typeface="IBM Plex Sans" pitchFamily="34" charset="-122"/>
                <a:cs typeface="IBM Plex Sans" pitchFamily="34" charset="-120"/>
              </a:rPr>
              <a:t>p_data</a:t>
            </a:r>
            <a:r>
              <a:rPr lang="en-US" sz="1600" dirty="0">
                <a:solidFill>
                  <a:srgbClr val="3D4657"/>
                </a:solidFill>
                <a:latin typeface="IBM Plex Sans" pitchFamily="34" charset="0"/>
                <a:ea typeface="IBM Plex Sans" pitchFamily="34" charset="-122"/>
                <a:cs typeface="IBM Plex Sans" pitchFamily="34" charset="-120"/>
              </a:rPr>
              <a:t>. We never see the formula, only examples.</a:t>
            </a:r>
            <a:endParaRPr lang="en-US" sz="1600" dirty="0"/>
          </a:p>
        </p:txBody>
      </p:sp>
      <p:sp>
        <p:nvSpPr>
          <p:cNvPr id="5" name="Text 3"/>
          <p:cNvSpPr/>
          <p:nvPr/>
        </p:nvSpPr>
        <p:spPr>
          <a:xfrm>
            <a:off x="812800" y="3175000"/>
            <a:ext cx="497078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657"/>
                </a:solidFill>
                <a:latin typeface="IBM Plex Sans" pitchFamily="34" charset="0"/>
                <a:ea typeface="IBM Plex Sans" pitchFamily="34" charset="-122"/>
                <a:cs typeface="IBM Plex Sans" pitchFamily="34" charset="-120"/>
              </a:rPr>
              <a:t>The generator defines its own distribution </a:t>
            </a:r>
            <a:r>
              <a:rPr lang="en-US" sz="1600" b="1" dirty="0">
                <a:solidFill>
                  <a:srgbClr val="2563A8"/>
                </a:solidFill>
                <a:latin typeface="IBM Plex Sans" pitchFamily="34" charset="0"/>
                <a:ea typeface="IBM Plex Sans" pitchFamily="34" charset="-122"/>
                <a:cs typeface="IBM Plex Sans" pitchFamily="34" charset="-120"/>
              </a:rPr>
              <a:t>p_g</a:t>
            </a:r>
            <a:r>
              <a:rPr lang="en-US" sz="1600" dirty="0">
                <a:solidFill>
                  <a:srgbClr val="3D4657"/>
                </a:solidFill>
                <a:latin typeface="IBM Plex Sans" pitchFamily="34" charset="0"/>
                <a:ea typeface="IBM Plex Sans" pitchFamily="34" charset="-122"/>
                <a:cs typeface="IBM Plex Sans" pitchFamily="34" charset="-120"/>
              </a:rPr>
              <a:t>: whatever comes out when we feed it random noise.</a:t>
            </a:r>
            <a:endParaRPr lang="en-US" sz="1600" dirty="0"/>
          </a:p>
        </p:txBody>
      </p:sp>
      <p:sp>
        <p:nvSpPr>
          <p:cNvPr id="6" name="Text 4"/>
          <p:cNvSpPr/>
          <p:nvPr/>
        </p:nvSpPr>
        <p:spPr>
          <a:xfrm>
            <a:off x="812800" y="4318000"/>
            <a:ext cx="4970780" cy="8787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Training = moving p_g until it sits on top of p_data.</a:t>
            </a:r>
            <a:r>
              <a:rPr lang="en-US" sz="1600" dirty="0">
                <a:solidFill>
                  <a:srgbClr val="14213D"/>
                </a:solidFill>
                <a:latin typeface="IBM Plex Sans" pitchFamily="34" charset="0"/>
                <a:ea typeface="IBM Plex Sans" pitchFamily="34" charset="-122"/>
                <a:cs typeface="IBM Plex Sans" pitchFamily="34" charset="-120"/>
              </a:rPr>
              <a:t> Then every new sample looks like it came from the real collection.</a:t>
            </a:r>
            <a:endParaRPr lang="en-US" sz="1600" dirty="0"/>
          </a:p>
        </p:txBody>
      </p:sp>
      <p:sp>
        <p:nvSpPr>
          <p:cNvPr id="7" name="Shape 5"/>
          <p:cNvSpPr/>
          <p:nvPr/>
        </p:nvSpPr>
        <p:spPr>
          <a:xfrm>
            <a:off x="6102350" y="1911350"/>
            <a:ext cx="5270500" cy="3797300"/>
          </a:xfrm>
          <a:prstGeom prst="roundRect">
            <a:avLst>
              <a:gd name="adj" fmla="val 3177"/>
            </a:avLst>
          </a:prstGeom>
          <a:solidFill>
            <a:srgbClr val="FFFDF8"/>
          </a:solidFill>
          <a:ln w="12700">
            <a:solidFill>
              <a:srgbClr val="E4DED0"/>
            </a:solidFill>
            <a:prstDash val="solid"/>
          </a:ln>
        </p:spPr>
      </p:sp>
      <p:pic>
        <p:nvPicPr>
          <p:cNvPr id="8" name="Image 0" descr="Model distribution, dashed blue, far to the left of the real data distribution, solid navy">    </p:cNvPr>
          <p:cNvPicPr>
            <a:picLocks noChangeAspect="1"/>
          </p:cNvPicPr>
          <p:nvPr/>
        </p:nvPicPr>
        <p:blipFill>
          <a:blip r:embed="rId1"/>
          <a:srcRect l="-211" r="-211" t="0" b="0"/>
          <a:stretch/>
        </p:blipFill>
        <p:spPr>
          <a:xfrm>
            <a:off x="6286500" y="2286000"/>
            <a:ext cx="4902200" cy="2603500"/>
          </a:xfrm>
          <a:prstGeom prst="rect">
            <a:avLst/>
          </a:prstGeom>
        </p:spPr>
      </p:pic>
      <p:sp>
        <p:nvSpPr>
          <p:cNvPr id="9" name="Shape 6"/>
          <p:cNvSpPr/>
          <p:nvPr/>
        </p:nvSpPr>
        <p:spPr>
          <a:xfrm>
            <a:off x="6286500" y="2286000"/>
            <a:ext cx="4902200" cy="2603500"/>
          </a:xfrm>
          <a:prstGeom prst="rect">
            <a:avLst/>
          </a:prstGeom>
          <a:solidFill>
            <a:srgbClr val="FFFDF8"/>
          </a:solidFill>
          <a:ln/>
        </p:spPr>
      </p:sp>
      <p:pic>
        <p:nvPicPr>
          <p:cNvPr id="10" name="Image 1" descr="Model distribution moved closer, overlapping the real distribution partly">    </p:cNvPr>
          <p:cNvPicPr>
            <a:picLocks noChangeAspect="1"/>
          </p:cNvPicPr>
          <p:nvPr/>
        </p:nvPicPr>
        <p:blipFill>
          <a:blip r:embed="rId2"/>
          <a:srcRect l="-211" r="-211" t="0" b="0"/>
          <a:stretch/>
        </p:blipFill>
        <p:spPr>
          <a:xfrm>
            <a:off x="6286500" y="2286000"/>
            <a:ext cx="4902200" cy="2603500"/>
          </a:xfrm>
          <a:prstGeom prst="rect">
            <a:avLst/>
          </a:prstGeom>
        </p:spPr>
      </p:pic>
      <p:sp>
        <p:nvSpPr>
          <p:cNvPr id="11" name="Shape 7"/>
          <p:cNvSpPr/>
          <p:nvPr/>
        </p:nvSpPr>
        <p:spPr>
          <a:xfrm>
            <a:off x="6286500" y="2286000"/>
            <a:ext cx="4902200" cy="2603500"/>
          </a:xfrm>
          <a:prstGeom prst="rect">
            <a:avLst/>
          </a:prstGeom>
          <a:solidFill>
            <a:srgbClr val="FFFDF8"/>
          </a:solidFill>
          <a:ln/>
        </p:spPr>
      </p:sp>
      <p:pic>
        <p:nvPicPr>
          <p:cNvPr id="12" name="Image 2" descr="Model distribution exactly on top of the real distribution">    </p:cNvPr>
          <p:cNvPicPr>
            <a:picLocks noChangeAspect="1"/>
          </p:cNvPicPr>
          <p:nvPr/>
        </p:nvPicPr>
        <p:blipFill>
          <a:blip r:embed="rId3"/>
          <a:srcRect l="-211" r="-211" t="0" b="0"/>
          <a:stretch/>
        </p:blipFill>
        <p:spPr>
          <a:xfrm>
            <a:off x="6286500" y="2286000"/>
            <a:ext cx="4902200" cy="2603500"/>
          </a:xfrm>
          <a:prstGeom prst="rect">
            <a:avLst/>
          </a:prstGeom>
        </p:spPr>
      </p:pic>
      <p:sp>
        <p:nvSpPr>
          <p:cNvPr id="13" name="Text 8"/>
          <p:cNvSpPr/>
          <p:nvPr/>
        </p:nvSpPr>
        <p:spPr>
          <a:xfrm>
            <a:off x="6350000" y="5016500"/>
            <a:ext cx="497078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Solid navy</a:t>
            </a:r>
            <a:r>
              <a:rPr lang="en-US" sz="1300" dirty="0">
                <a:solidFill>
                  <a:srgbClr val="14213D"/>
                </a:solidFill>
                <a:latin typeface="IBM Plex Sans" pitchFamily="34" charset="0"/>
                <a:ea typeface="IBM Plex Sans" pitchFamily="34" charset="-122"/>
                <a:cs typeface="IBM Plex Sans" pitchFamily="34" charset="-120"/>
              </a:rPr>
              <a:t> = p_data (real flowers)</a:t>
            </a:r>
            <a:endParaRPr lang="en-US" sz="1300" dirty="0"/>
          </a:p>
        </p:txBody>
      </p:sp>
      <p:sp>
        <p:nvSpPr>
          <p:cNvPr id="14" name="Text 9"/>
          <p:cNvSpPr/>
          <p:nvPr/>
        </p:nvSpPr>
        <p:spPr>
          <a:xfrm>
            <a:off x="6350000" y="5302250"/>
            <a:ext cx="497078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563A8"/>
                </a:solidFill>
                <a:latin typeface="IBM Plex Sans" pitchFamily="34" charset="0"/>
                <a:ea typeface="IBM Plex Sans" pitchFamily="34" charset="-122"/>
                <a:cs typeface="IBM Plex Sans" pitchFamily="34" charset="-120"/>
              </a:rPr>
              <a:t>Dashed blue</a:t>
            </a:r>
            <a:r>
              <a:rPr lang="en-US" sz="1300" dirty="0">
                <a:solidFill>
                  <a:srgbClr val="2563A8"/>
                </a:solidFill>
                <a:latin typeface="IBM Plex Sans" pitchFamily="34" charset="0"/>
                <a:ea typeface="IBM Plex Sans" pitchFamily="34" charset="-122"/>
                <a:cs typeface="IBM Plex Sans" pitchFamily="34" charset="-120"/>
              </a:rPr>
              <a:t> = p_g (generator)</a:t>
            </a:r>
            <a:endParaRPr lang="en-US" sz="1300" dirty="0"/>
          </a:p>
        </p:txBody>
      </p:sp>
      <p:sp>
        <p:nvSpPr>
          <p:cNvPr id="15" name="Text 10"/>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1 · 01 What GAN stands for · min 11–13</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01 · THE N IN GAN</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Two ordinary neural networks, wired together</a:t>
            </a:r>
            <a:endParaRPr lang="en-US" sz="3200" dirty="0"/>
          </a:p>
        </p:txBody>
      </p:sp>
      <p:sp>
        <p:nvSpPr>
          <p:cNvPr id="4" name="Shape 2"/>
          <p:cNvSpPr/>
          <p:nvPr/>
        </p:nvSpPr>
        <p:spPr>
          <a:xfrm>
            <a:off x="812800" y="2032000"/>
            <a:ext cx="5080000" cy="2286000"/>
          </a:xfrm>
          <a:prstGeom prst="roundRect">
            <a:avLst>
              <a:gd name="adj" fmla="val 5556"/>
            </a:avLst>
          </a:prstGeom>
          <a:solidFill>
            <a:srgbClr val="DCE8F5"/>
          </a:solidFill>
          <a:ln/>
        </p:spPr>
      </p:sp>
      <p:sp>
        <p:nvSpPr>
          <p:cNvPr id="5" name="Text 3"/>
          <p:cNvSpPr/>
          <p:nvPr/>
        </p:nvSpPr>
        <p:spPr>
          <a:xfrm>
            <a:off x="1117600" y="2260600"/>
            <a:ext cx="4709160" cy="391120"/>
          </a:xfrm>
          <a:prstGeom prst="rect">
            <a:avLst/>
          </a:prstGeom>
          <a:noFill/>
          <a:ln/>
        </p:spPr>
        <p:txBody>
          <a:bodyPr wrap="square" lIns="0" tIns="0" rIns="0" bIns="0" rtlCol="0" anchor="t">
            <a:normAutofit/>
          </a:bodyPr>
          <a:lstStyle/>
          <a:p>
            <a:pPr algn="l" indent="0" marL="0">
              <a:lnSpc>
                <a:spcPts val="2880"/>
              </a:lnSpc>
              <a:buNone/>
            </a:pPr>
            <a:r>
              <a:rPr lang="en-US" sz="2400" b="1" dirty="0">
                <a:solidFill>
                  <a:srgbClr val="2563A8"/>
                </a:solidFill>
                <a:latin typeface="Space Grotesk" pitchFamily="34" charset="0"/>
                <a:ea typeface="Space Grotesk" pitchFamily="34" charset="-122"/>
                <a:cs typeface="Space Grotesk" pitchFamily="34" charset="-120"/>
              </a:rPr>
              <a:t>Generator · G</a:t>
            </a:r>
            <a:endParaRPr lang="en-US" sz="2400" dirty="0"/>
          </a:p>
        </p:txBody>
      </p:sp>
      <p:sp>
        <p:nvSpPr>
          <p:cNvPr id="6" name="Text 4"/>
          <p:cNvSpPr/>
          <p:nvPr/>
        </p:nvSpPr>
        <p:spPr>
          <a:xfrm>
            <a:off x="1117600" y="2794000"/>
            <a:ext cx="4709160"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Random numbers in → image out.</a:t>
            </a:r>
            <a:endParaRPr lang="en-US" sz="1600" dirty="0"/>
          </a:p>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In our notebook: a small MLP with 100 inputs and 784 outputs.</a:t>
            </a:r>
            <a:endParaRPr lang="en-US" sz="1600" dirty="0"/>
          </a:p>
        </p:txBody>
      </p:sp>
      <p:sp>
        <p:nvSpPr>
          <p:cNvPr id="7" name="Shape 5"/>
          <p:cNvSpPr/>
          <p:nvPr/>
        </p:nvSpPr>
        <p:spPr>
          <a:xfrm>
            <a:off x="6299200" y="2032000"/>
            <a:ext cx="5080000" cy="2286000"/>
          </a:xfrm>
          <a:prstGeom prst="roundRect">
            <a:avLst>
              <a:gd name="adj" fmla="val 5556"/>
            </a:avLst>
          </a:prstGeom>
          <a:solidFill>
            <a:srgbClr val="F6E1D3"/>
          </a:solidFill>
          <a:ln/>
        </p:spPr>
      </p:sp>
      <p:sp>
        <p:nvSpPr>
          <p:cNvPr id="8" name="Text 6"/>
          <p:cNvSpPr/>
          <p:nvPr/>
        </p:nvSpPr>
        <p:spPr>
          <a:xfrm>
            <a:off x="6604000" y="2260600"/>
            <a:ext cx="4709160" cy="391120"/>
          </a:xfrm>
          <a:prstGeom prst="rect">
            <a:avLst/>
          </a:prstGeom>
          <a:noFill/>
          <a:ln/>
        </p:spPr>
        <p:txBody>
          <a:bodyPr wrap="square" lIns="0" tIns="0" rIns="0" bIns="0" rtlCol="0" anchor="t">
            <a:normAutofit/>
          </a:bodyPr>
          <a:lstStyle/>
          <a:p>
            <a:pPr algn="l" indent="0" marL="0">
              <a:lnSpc>
                <a:spcPts val="2880"/>
              </a:lnSpc>
              <a:buNone/>
            </a:pPr>
            <a:r>
              <a:rPr lang="en-US" sz="2400" b="1" dirty="0">
                <a:solidFill>
                  <a:srgbClr val="B24E17"/>
                </a:solidFill>
                <a:latin typeface="Space Grotesk" pitchFamily="34" charset="0"/>
                <a:ea typeface="Space Grotesk" pitchFamily="34" charset="-122"/>
                <a:cs typeface="Space Grotesk" pitchFamily="34" charset="-120"/>
              </a:rPr>
              <a:t>Discriminator · D</a:t>
            </a:r>
            <a:endParaRPr lang="en-US" sz="2400" dirty="0"/>
          </a:p>
        </p:txBody>
      </p:sp>
      <p:sp>
        <p:nvSpPr>
          <p:cNvPr id="9" name="Text 7"/>
          <p:cNvSpPr/>
          <p:nvPr/>
        </p:nvSpPr>
        <p:spPr>
          <a:xfrm>
            <a:off x="6604000" y="2794000"/>
            <a:ext cx="4709160"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Image in → one number out.</a:t>
            </a:r>
            <a:endParaRPr lang="en-US" sz="1600" dirty="0"/>
          </a:p>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In our notebook: a small MLP with 784 inputs and 1 output.</a:t>
            </a:r>
            <a:endParaRPr lang="en-US" sz="1600" dirty="0"/>
          </a:p>
        </p:txBody>
      </p:sp>
      <p:sp>
        <p:nvSpPr>
          <p:cNvPr id="10" name="Text 8"/>
          <p:cNvSpPr/>
          <p:nvPr/>
        </p:nvSpPr>
        <p:spPr>
          <a:xfrm>
            <a:off x="812800" y="4699000"/>
            <a:ext cx="10883392"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14213D"/>
                </a:solidFill>
                <a:latin typeface="IBM Plex Sans" pitchFamily="34" charset="0"/>
                <a:ea typeface="IBM Plex Sans" pitchFamily="34" charset="-122"/>
                <a:cs typeface="IBM Plex Sans" pitchFamily="34" charset="-120"/>
              </a:rPr>
              <a:t>Nothing exotic inside: Linear layers, activations, a loss, backprop, Adam. </a:t>
            </a:r>
            <a:r>
              <a:rPr lang="en-US" sz="1800" b="1" dirty="0">
                <a:solidFill>
                  <a:srgbClr val="14213D"/>
                </a:solidFill>
                <a:latin typeface="IBM Plex Sans" pitchFamily="34" charset="0"/>
                <a:ea typeface="IBM Plex Sans" pitchFamily="34" charset="-122"/>
                <a:cs typeface="IBM Plex Sans" pitchFamily="34" charset="-120"/>
              </a:rPr>
              <a:t>The new idea is the training game</a:t>
            </a:r>
            <a:r>
              <a:rPr lang="en-US" sz="1800" dirty="0">
                <a:solidFill>
                  <a:srgbClr val="14213D"/>
                </a:solidFill>
                <a:latin typeface="IBM Plex Sans" pitchFamily="34" charset="0"/>
                <a:ea typeface="IBM Plex Sans" pitchFamily="34" charset="-122"/>
                <a:cs typeface="IBM Plex Sans" pitchFamily="34" charset="-120"/>
              </a:rPr>
              <a:t> between them.</a:t>
            </a:r>
            <a:endParaRPr lang="en-US" sz="1800" dirty="0"/>
          </a:p>
        </p:txBody>
      </p:sp>
      <p:sp>
        <p:nvSpPr>
          <p:cNvPr id="11" name="Text 9"/>
          <p:cNvSpPr/>
          <p:nvPr/>
        </p:nvSpPr>
        <p:spPr>
          <a:xfrm>
            <a:off x="812800" y="53975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B7280"/>
                </a:solidFill>
                <a:latin typeface="IBM Plex Sans" pitchFamily="34" charset="0"/>
                <a:ea typeface="IBM Plex Sans" pitchFamily="34" charset="-122"/>
                <a:cs typeface="IBM Plex Sans" pitchFamily="34" charset="-120"/>
              </a:rPr>
              <a:t>Origin: Goodfellow et al., "Generative Adversarial Nets", NeurIPS 2014.</a:t>
            </a:r>
            <a:endParaRPr lang="en-US" sz="1400" dirty="0"/>
          </a:p>
        </p:txBody>
      </p:sp>
      <p:sp>
        <p:nvSpPr>
          <p:cNvPr id="12" name="Text 10"/>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1 · 01 What GAN stands for · min 13–15</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1905000"/>
            <a:ext cx="3924300"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E9B949"/>
                </a:solidFill>
                <a:latin typeface="Space Grotesk" pitchFamily="34" charset="0"/>
                <a:ea typeface="Space Grotesk" pitchFamily="34" charset="-122"/>
                <a:cs typeface="Space Grotesk" pitchFamily="34" charset="-120"/>
              </a:rPr>
              <a:t>02</a:t>
            </a:r>
            <a:endParaRPr lang="en-US" sz="8000" dirty="0"/>
          </a:p>
        </p:txBody>
      </p:sp>
      <p:sp>
        <p:nvSpPr>
          <p:cNvPr id="3" name="Text 1"/>
          <p:cNvSpPr/>
          <p:nvPr/>
        </p:nvSpPr>
        <p:spPr>
          <a:xfrm>
            <a:off x="812800" y="3175000"/>
            <a:ext cx="10464800"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6F3EC"/>
                </a:solidFill>
                <a:latin typeface="Space Grotesk" pitchFamily="34" charset="0"/>
                <a:ea typeface="Space Grotesk" pitchFamily="34" charset="-122"/>
                <a:cs typeface="Space Grotesk" pitchFamily="34" charset="-120"/>
              </a:rPr>
              <a:t>What does "adversarial" mean?</a:t>
            </a:r>
            <a:endParaRPr lang="en-US" sz="4400" dirty="0"/>
          </a:p>
        </p:txBody>
      </p:sp>
      <p:sp>
        <p:nvSpPr>
          <p:cNvPr id="4" name="Text 2"/>
          <p:cNvSpPr/>
          <p:nvPr/>
        </p:nvSpPr>
        <p:spPr>
          <a:xfrm>
            <a:off x="812800" y="4064000"/>
            <a:ext cx="9156700"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BFC8D6"/>
                </a:solidFill>
                <a:latin typeface="IBM Plex Sans" pitchFamily="34" charset="0"/>
                <a:ea typeface="IBM Plex Sans" pitchFamily="34" charset="-122"/>
                <a:cs typeface="IBM Plex Sans" pitchFamily="34" charset="-120"/>
              </a:rPr>
              <a:t>The word that makes a GAN a GAN.</a:t>
            </a:r>
            <a:endParaRPr lang="en-US" sz="1800" dirty="0"/>
          </a:p>
        </p:txBody>
      </p:sp>
      <p:sp>
        <p:nvSpPr>
          <p:cNvPr id="5" name="Text 3"/>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E9AAF"/>
                </a:solidFill>
                <a:latin typeface="IBM Plex Sans" pitchFamily="34" charset="0"/>
                <a:ea typeface="IBM Plex Sans" pitchFamily="34" charset="-122"/>
                <a:cs typeface="IBM Plex Sans" pitchFamily="34" charset="-120"/>
              </a:rPr>
              <a:t>GAN Class 1 · min 15–27</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02 · THE DICTIONARY MEANING</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An adversary is an opponent in a contest</a:t>
            </a:r>
            <a:endParaRPr lang="en-US" sz="3200" dirty="0"/>
          </a:p>
        </p:txBody>
      </p:sp>
      <p:sp>
        <p:nvSpPr>
          <p:cNvPr id="4" name="Shape 2"/>
          <p:cNvSpPr/>
          <p:nvPr/>
        </p:nvSpPr>
        <p:spPr>
          <a:xfrm>
            <a:off x="819150" y="1911350"/>
            <a:ext cx="10553700" cy="1447800"/>
          </a:xfrm>
          <a:prstGeom prst="roundRect">
            <a:avLst>
              <a:gd name="adj" fmla="val 6579"/>
            </a:avLst>
          </a:prstGeom>
          <a:solidFill>
            <a:srgbClr val="FFFDF8"/>
          </a:solidFill>
          <a:ln w="12700">
            <a:solidFill>
              <a:srgbClr val="E4DED0"/>
            </a:solidFill>
            <a:prstDash val="solid"/>
          </a:ln>
        </p:spPr>
      </p:sp>
      <p:sp>
        <p:nvSpPr>
          <p:cNvPr id="5" name="Text 3"/>
          <p:cNvSpPr/>
          <p:nvPr/>
        </p:nvSpPr>
        <p:spPr>
          <a:xfrm>
            <a:off x="1143000" y="2063750"/>
            <a:ext cx="10203180" cy="48766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14213D"/>
                </a:solidFill>
                <a:latin typeface="Space Grotesk" pitchFamily="34" charset="0"/>
                <a:ea typeface="Space Grotesk" pitchFamily="34" charset="-122"/>
                <a:cs typeface="Space Grotesk" pitchFamily="34" charset="-120"/>
              </a:rPr>
              <a:t>ad·ver·sary </a:t>
            </a:r>
            <a:r>
              <a:rPr lang="en-US" sz="2600" b="1" dirty="0">
                <a:solidFill>
                  <a:srgbClr val="6B7280"/>
                </a:solidFill>
                <a:latin typeface="Space Grotesk" pitchFamily="34" charset="0"/>
                <a:ea typeface="Space Grotesk" pitchFamily="34" charset="-122"/>
                <a:cs typeface="Space Grotesk" pitchFamily="34" charset="-120"/>
              </a:rPr>
              <a:t>(noun)</a:t>
            </a:r>
            <a:endParaRPr lang="en-US" sz="2600" dirty="0"/>
          </a:p>
        </p:txBody>
      </p:sp>
      <p:sp>
        <p:nvSpPr>
          <p:cNvPr id="6" name="Text 4"/>
          <p:cNvSpPr/>
          <p:nvPr/>
        </p:nvSpPr>
        <p:spPr>
          <a:xfrm>
            <a:off x="1143000" y="2603500"/>
            <a:ext cx="10203180" cy="608310"/>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3D4657"/>
                </a:solidFill>
                <a:latin typeface="IBM Plex Sans" pitchFamily="34" charset="0"/>
                <a:ea typeface="IBM Plex Sans" pitchFamily="34" charset="-122"/>
                <a:cs typeface="IBM Plex Sans" pitchFamily="34" charset="-120"/>
              </a:rPr>
              <a:t>One who opposes you; an opponent. From Latin </a:t>
            </a:r>
            <a:r>
              <a:rPr lang="en-US" sz="1700" i="1" dirty="0">
                <a:solidFill>
                  <a:srgbClr val="3D4657"/>
                </a:solidFill>
                <a:latin typeface="IBM Plex Sans" pitchFamily="34" charset="0"/>
                <a:ea typeface="IBM Plex Sans" pitchFamily="34" charset="-122"/>
                <a:cs typeface="IBM Plex Sans" pitchFamily="34" charset="-120"/>
              </a:rPr>
              <a:t>adversus</a:t>
            </a:r>
            <a:r>
              <a:rPr lang="en-US" sz="1700" dirty="0">
                <a:solidFill>
                  <a:srgbClr val="3D4657"/>
                </a:solidFill>
                <a:latin typeface="IBM Plex Sans" pitchFamily="34" charset="0"/>
                <a:ea typeface="IBM Plex Sans" pitchFamily="34" charset="-122"/>
                <a:cs typeface="IBM Plex Sans" pitchFamily="34" charset="-120"/>
              </a:rPr>
              <a:t>, "turned against". </a:t>
            </a:r>
            <a:r>
              <a:rPr lang="en-US" sz="1700" b="1" dirty="0">
                <a:solidFill>
                  <a:srgbClr val="3D4657"/>
                </a:solidFill>
                <a:latin typeface="IBM Plex Sans" pitchFamily="34" charset="0"/>
                <a:ea typeface="IBM Plex Sans" pitchFamily="34" charset="-122"/>
                <a:cs typeface="IBM Plex Sans" pitchFamily="34" charset="-120"/>
              </a:rPr>
              <a:t>Adversarial</a:t>
            </a:r>
            <a:r>
              <a:rPr lang="en-US" sz="1700" dirty="0">
                <a:solidFill>
                  <a:srgbClr val="3D4657"/>
                </a:solidFill>
                <a:latin typeface="IBM Plex Sans" pitchFamily="34" charset="0"/>
                <a:ea typeface="IBM Plex Sans" pitchFamily="34" charset="-122"/>
                <a:cs typeface="IBM Plex Sans" pitchFamily="34" charset="-120"/>
              </a:rPr>
              <a:t> = involving two sides who oppose each other.</a:t>
            </a:r>
            <a:endParaRPr lang="en-US" sz="1700" dirty="0"/>
          </a:p>
        </p:txBody>
      </p:sp>
      <p:sp>
        <p:nvSpPr>
          <p:cNvPr id="7" name="Text 5"/>
          <p:cNvSpPr/>
          <p:nvPr/>
        </p:nvSpPr>
        <p:spPr>
          <a:xfrm>
            <a:off x="812800" y="3746500"/>
            <a:ext cx="3401060" cy="539750"/>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4213D"/>
                </a:solidFill>
                <a:latin typeface="IBM Plex Sans" pitchFamily="34" charset="0"/>
                <a:ea typeface="IBM Plex Sans" pitchFamily="34" charset="-122"/>
                <a:cs typeface="IBM Plex Sans" pitchFamily="34" charset="-120"/>
              </a:rPr>
              <a:t>Chess:</a:t>
            </a:r>
            <a:r>
              <a:rPr lang="en-US" sz="1500" dirty="0">
                <a:solidFill>
                  <a:srgbClr val="14213D"/>
                </a:solidFill>
                <a:latin typeface="IBM Plex Sans" pitchFamily="34" charset="0"/>
                <a:ea typeface="IBM Plex Sans" pitchFamily="34" charset="-122"/>
                <a:cs typeface="IBM Plex Sans" pitchFamily="34" charset="-120"/>
              </a:rPr>
              <a:t> each move is chosen to beat the other player.</a:t>
            </a:r>
            <a:endParaRPr lang="en-US" sz="1500" dirty="0"/>
          </a:p>
        </p:txBody>
      </p:sp>
      <p:sp>
        <p:nvSpPr>
          <p:cNvPr id="8" name="Text 6"/>
          <p:cNvSpPr/>
          <p:nvPr/>
        </p:nvSpPr>
        <p:spPr>
          <a:xfrm>
            <a:off x="4445000" y="3746500"/>
            <a:ext cx="3401060" cy="539750"/>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4213D"/>
                </a:solidFill>
                <a:latin typeface="IBM Plex Sans" pitchFamily="34" charset="0"/>
                <a:ea typeface="IBM Plex Sans" pitchFamily="34" charset="-122"/>
                <a:cs typeface="IBM Plex Sans" pitchFamily="34" charset="-120"/>
              </a:rPr>
              <a:t>Courtroom:</a:t>
            </a:r>
            <a:r>
              <a:rPr lang="en-US" sz="1500" dirty="0">
                <a:solidFill>
                  <a:srgbClr val="14213D"/>
                </a:solidFill>
                <a:latin typeface="IBM Plex Sans" pitchFamily="34" charset="0"/>
                <a:ea typeface="IBM Plex Sans" pitchFamily="34" charset="-122"/>
                <a:cs typeface="IBM Plex Sans" pitchFamily="34" charset="-120"/>
              </a:rPr>
              <a:t> prosecution and defence argue opposite sides.</a:t>
            </a:r>
            <a:endParaRPr lang="en-US" sz="1500" dirty="0"/>
          </a:p>
        </p:txBody>
      </p:sp>
      <p:sp>
        <p:nvSpPr>
          <p:cNvPr id="9" name="Text 7"/>
          <p:cNvSpPr/>
          <p:nvPr/>
        </p:nvSpPr>
        <p:spPr>
          <a:xfrm>
            <a:off x="8077200" y="3746500"/>
            <a:ext cx="3401060" cy="539750"/>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4213D"/>
                </a:solidFill>
                <a:latin typeface="IBM Plex Sans" pitchFamily="34" charset="0"/>
                <a:ea typeface="IBM Plex Sans" pitchFamily="34" charset="-122"/>
                <a:cs typeface="IBM Plex Sans" pitchFamily="34" charset="-120"/>
              </a:rPr>
              <a:t>Sparring partner:</a:t>
            </a:r>
            <a:r>
              <a:rPr lang="en-US" sz="1500" dirty="0">
                <a:solidFill>
                  <a:srgbClr val="14213D"/>
                </a:solidFill>
                <a:latin typeface="IBM Plex Sans" pitchFamily="34" charset="0"/>
                <a:ea typeface="IBM Plex Sans" pitchFamily="34" charset="-122"/>
                <a:cs typeface="IBM Plex Sans" pitchFamily="34" charset="-120"/>
              </a:rPr>
              <a:t> they fight you, and that makes you better.</a:t>
            </a:r>
            <a:endParaRPr lang="en-US" sz="1500" dirty="0"/>
          </a:p>
        </p:txBody>
      </p:sp>
      <p:sp>
        <p:nvSpPr>
          <p:cNvPr id="10" name="Shape 8"/>
          <p:cNvSpPr/>
          <p:nvPr/>
        </p:nvSpPr>
        <p:spPr>
          <a:xfrm>
            <a:off x="812800" y="4953000"/>
            <a:ext cx="10566400" cy="825500"/>
          </a:xfrm>
          <a:prstGeom prst="roundRect">
            <a:avLst>
              <a:gd name="adj" fmla="val 12308"/>
            </a:avLst>
          </a:prstGeom>
          <a:solidFill>
            <a:srgbClr val="FBF0CF"/>
          </a:solidFill>
          <a:ln/>
        </p:spPr>
      </p:sp>
      <p:sp>
        <p:nvSpPr>
          <p:cNvPr id="11" name="Text 9"/>
          <p:cNvSpPr/>
          <p:nvPr/>
        </p:nvSpPr>
        <p:spPr>
          <a:xfrm>
            <a:off x="1079500" y="5111750"/>
            <a:ext cx="10399395" cy="316855"/>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14213D"/>
                </a:solidFill>
                <a:latin typeface="IBM Plex Sans" pitchFamily="34" charset="0"/>
                <a:ea typeface="IBM Plex Sans" pitchFamily="34" charset="-122"/>
                <a:cs typeface="IBM Plex Sans" pitchFamily="34" charset="-120"/>
              </a:rPr>
              <a:t>In a GAN: two networks with </a:t>
            </a:r>
            <a:r>
              <a:rPr lang="en-US" sz="1700" b="1" dirty="0">
                <a:solidFill>
                  <a:srgbClr val="14213D"/>
                </a:solidFill>
                <a:latin typeface="IBM Plex Sans" pitchFamily="34" charset="0"/>
                <a:ea typeface="IBM Plex Sans" pitchFamily="34" charset="-122"/>
                <a:cs typeface="IBM Plex Sans" pitchFamily="34" charset="-120"/>
              </a:rPr>
              <a:t>opposite goals</a:t>
            </a:r>
            <a:r>
              <a:rPr lang="en-US" sz="1700" dirty="0">
                <a:solidFill>
                  <a:srgbClr val="14213D"/>
                </a:solidFill>
                <a:latin typeface="IBM Plex Sans" pitchFamily="34" charset="0"/>
                <a:ea typeface="IBM Plex Sans" pitchFamily="34" charset="-122"/>
                <a:cs typeface="IBM Plex Sans" pitchFamily="34" charset="-120"/>
              </a:rPr>
              <a:t> on the same question: </a:t>
            </a:r>
            <a:r>
              <a:rPr lang="en-US" sz="1700" i="1" dirty="0">
                <a:solidFill>
                  <a:srgbClr val="14213D"/>
                </a:solidFill>
                <a:latin typeface="IBM Plex Sans" pitchFamily="34" charset="0"/>
                <a:ea typeface="IBM Plex Sans" pitchFamily="34" charset="-122"/>
                <a:cs typeface="IBM Plex Sans" pitchFamily="34" charset="-120"/>
              </a:rPr>
              <a:t>"is this image real or fake?"</a:t>
            </a:r>
            <a:endParaRPr lang="en-US" sz="1700" dirty="0"/>
          </a:p>
        </p:txBody>
      </p:sp>
      <p:sp>
        <p:nvSpPr>
          <p:cNvPr id="12" name="Text 10"/>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1 · 02 Adversarial · min 15–17</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02 · THE ANALOGY FROM THE ORIGINAL GAN PAPER</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The counterfeiter and the police</a:t>
            </a:r>
            <a:endParaRPr lang="en-US" sz="3200" dirty="0"/>
          </a:p>
        </p:txBody>
      </p:sp>
      <p:sp>
        <p:nvSpPr>
          <p:cNvPr id="4" name="Shape 2"/>
          <p:cNvSpPr/>
          <p:nvPr/>
        </p:nvSpPr>
        <p:spPr>
          <a:xfrm>
            <a:off x="812800" y="1841500"/>
            <a:ext cx="4445000" cy="2540000"/>
          </a:xfrm>
          <a:prstGeom prst="roundRect">
            <a:avLst>
              <a:gd name="adj" fmla="val 5000"/>
            </a:avLst>
          </a:prstGeom>
          <a:solidFill>
            <a:srgbClr val="DCE8F5"/>
          </a:solidFill>
          <a:ln/>
        </p:spPr>
      </p:sp>
      <p:pic>
        <p:nvPicPr>
          <p:cNvPr id="5" name="Image 0" descr="Tool">    </p:cNvPr>
          <p:cNvPicPr>
            <a:picLocks noChangeAspect="1"/>
          </p:cNvPicPr>
          <p:nvPr/>
        </p:nvPicPr>
        <p:blipFill>
          <a:blip r:embed="rId1"/>
          <a:srcRect l="0" r="0" t="0" b="0"/>
          <a:stretch/>
        </p:blipFill>
        <p:spPr>
          <a:xfrm>
            <a:off x="1117600" y="2095500"/>
            <a:ext cx="609600" cy="609600"/>
          </a:xfrm>
          <a:prstGeom prst="rect">
            <a:avLst/>
          </a:prstGeom>
        </p:spPr>
      </p:pic>
      <p:sp>
        <p:nvSpPr>
          <p:cNvPr id="6" name="Text 3"/>
          <p:cNvSpPr/>
          <p:nvPr/>
        </p:nvSpPr>
        <p:spPr>
          <a:xfrm>
            <a:off x="1879600" y="2159000"/>
            <a:ext cx="327025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2563A8"/>
                </a:solidFill>
                <a:latin typeface="Space Grotesk" pitchFamily="34" charset="0"/>
                <a:ea typeface="Space Grotesk" pitchFamily="34" charset="-122"/>
                <a:cs typeface="Space Grotesk" pitchFamily="34" charset="-120"/>
              </a:rPr>
              <a:t>Counterfeiter</a:t>
            </a:r>
            <a:endParaRPr lang="en-US" sz="2200" dirty="0"/>
          </a:p>
        </p:txBody>
      </p:sp>
      <p:sp>
        <p:nvSpPr>
          <p:cNvPr id="7" name="Text 4"/>
          <p:cNvSpPr/>
          <p:nvPr/>
        </p:nvSpPr>
        <p:spPr>
          <a:xfrm>
            <a:off x="1117600" y="2921000"/>
            <a:ext cx="405511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Prints fake banknotes and tries to spend them </a:t>
            </a:r>
            <a:r>
              <a:rPr lang="en-US" sz="1600" b="1" dirty="0">
                <a:solidFill>
                  <a:srgbClr val="14213D"/>
                </a:solidFill>
                <a:latin typeface="IBM Plex Sans" pitchFamily="34" charset="0"/>
                <a:ea typeface="IBM Plex Sans" pitchFamily="34" charset="-122"/>
                <a:cs typeface="IBM Plex Sans" pitchFamily="34" charset="-120"/>
              </a:rPr>
              <a:t>without being caught</a:t>
            </a:r>
            <a:r>
              <a:rPr lang="en-US" sz="1600" dirty="0">
                <a:solidFill>
                  <a:srgbClr val="14213D"/>
                </a:solidFill>
                <a:latin typeface="IBM Plex Sans" pitchFamily="34" charset="0"/>
                <a:ea typeface="IBM Plex Sans" pitchFamily="34" charset="-122"/>
                <a:cs typeface="IBM Plex Sans" pitchFamily="34" charset="-120"/>
              </a:rPr>
              <a:t>.</a:t>
            </a:r>
            <a:endParaRPr lang="en-US" sz="1600" dirty="0"/>
          </a:p>
        </p:txBody>
      </p:sp>
      <p:sp>
        <p:nvSpPr>
          <p:cNvPr id="8" name="Text 5"/>
          <p:cNvSpPr/>
          <p:nvPr/>
        </p:nvSpPr>
        <p:spPr>
          <a:xfrm>
            <a:off x="1117600" y="3873500"/>
            <a:ext cx="405511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2563A8"/>
                </a:solidFill>
                <a:latin typeface="IBM Plex Sans" pitchFamily="34" charset="0"/>
                <a:ea typeface="IBM Plex Sans" pitchFamily="34" charset="-122"/>
                <a:cs typeface="IBM Plex Sans" pitchFamily="34" charset="-120"/>
              </a:rPr>
              <a:t>= the Generator (G)</a:t>
            </a:r>
            <a:endParaRPr lang="en-US" sz="1700" dirty="0"/>
          </a:p>
        </p:txBody>
      </p:sp>
      <p:sp>
        <p:nvSpPr>
          <p:cNvPr id="9" name="Shape 6"/>
          <p:cNvSpPr/>
          <p:nvPr/>
        </p:nvSpPr>
        <p:spPr>
          <a:xfrm>
            <a:off x="6934200" y="1841500"/>
            <a:ext cx="4445000" cy="2540000"/>
          </a:xfrm>
          <a:prstGeom prst="roundRect">
            <a:avLst>
              <a:gd name="adj" fmla="val 5000"/>
            </a:avLst>
          </a:prstGeom>
          <a:solidFill>
            <a:srgbClr val="F6E1D3"/>
          </a:solidFill>
          <a:ln/>
        </p:spPr>
      </p:sp>
      <p:pic>
        <p:nvPicPr>
          <p:cNvPr id="10" name="Image 1" descr="Search">    </p:cNvPr>
          <p:cNvPicPr>
            <a:picLocks noChangeAspect="1"/>
          </p:cNvPicPr>
          <p:nvPr/>
        </p:nvPicPr>
        <p:blipFill>
          <a:blip r:embed="rId2"/>
          <a:srcRect l="0" r="0" t="0" b="0"/>
          <a:stretch/>
        </p:blipFill>
        <p:spPr>
          <a:xfrm>
            <a:off x="7239000" y="2095500"/>
            <a:ext cx="609600" cy="609600"/>
          </a:xfrm>
          <a:prstGeom prst="rect">
            <a:avLst/>
          </a:prstGeom>
        </p:spPr>
      </p:pic>
      <p:sp>
        <p:nvSpPr>
          <p:cNvPr id="11" name="Text 7"/>
          <p:cNvSpPr/>
          <p:nvPr/>
        </p:nvSpPr>
        <p:spPr>
          <a:xfrm>
            <a:off x="8001000" y="2159000"/>
            <a:ext cx="327025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B24E17"/>
                </a:solidFill>
                <a:latin typeface="Space Grotesk" pitchFamily="34" charset="0"/>
                <a:ea typeface="Space Grotesk" pitchFamily="34" charset="-122"/>
                <a:cs typeface="Space Grotesk" pitchFamily="34" charset="-120"/>
              </a:rPr>
              <a:t>Police</a:t>
            </a:r>
            <a:endParaRPr lang="en-US" sz="2200" dirty="0"/>
          </a:p>
        </p:txBody>
      </p:sp>
      <p:sp>
        <p:nvSpPr>
          <p:cNvPr id="12" name="Text 8"/>
          <p:cNvSpPr/>
          <p:nvPr/>
        </p:nvSpPr>
        <p:spPr>
          <a:xfrm>
            <a:off x="7239000" y="2921000"/>
            <a:ext cx="405511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Inspects notes and tries to </a:t>
            </a:r>
            <a:r>
              <a:rPr lang="en-US" sz="1600" b="1" dirty="0">
                <a:solidFill>
                  <a:srgbClr val="14213D"/>
                </a:solidFill>
                <a:latin typeface="IBM Plex Sans" pitchFamily="34" charset="0"/>
                <a:ea typeface="IBM Plex Sans" pitchFamily="34" charset="-122"/>
                <a:cs typeface="IBM Plex Sans" pitchFamily="34" charset="-120"/>
              </a:rPr>
              <a:t>detect the fakes</a:t>
            </a:r>
            <a:r>
              <a:rPr lang="en-US" sz="1600" dirty="0">
                <a:solidFill>
                  <a:srgbClr val="14213D"/>
                </a:solidFill>
                <a:latin typeface="IBM Plex Sans" pitchFamily="34" charset="0"/>
                <a:ea typeface="IBM Plex Sans" pitchFamily="34" charset="-122"/>
                <a:cs typeface="IBM Plex Sans" pitchFamily="34" charset="-120"/>
              </a:rPr>
              <a:t>.</a:t>
            </a:r>
            <a:endParaRPr lang="en-US" sz="1600" dirty="0"/>
          </a:p>
        </p:txBody>
      </p:sp>
      <p:sp>
        <p:nvSpPr>
          <p:cNvPr id="13" name="Text 9"/>
          <p:cNvSpPr/>
          <p:nvPr/>
        </p:nvSpPr>
        <p:spPr>
          <a:xfrm>
            <a:off x="7239000" y="3873500"/>
            <a:ext cx="405511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B24E17"/>
                </a:solidFill>
                <a:latin typeface="IBM Plex Sans" pitchFamily="34" charset="0"/>
                <a:ea typeface="IBM Plex Sans" pitchFamily="34" charset="-122"/>
                <a:cs typeface="IBM Plex Sans" pitchFamily="34" charset="-120"/>
              </a:rPr>
              <a:t>= the Discriminator (D)</a:t>
            </a:r>
            <a:endParaRPr lang="en-US" sz="1700" dirty="0"/>
          </a:p>
        </p:txBody>
      </p:sp>
      <p:sp>
        <p:nvSpPr>
          <p:cNvPr id="14" name="Text 10"/>
          <p:cNvSpPr/>
          <p:nvPr/>
        </p:nvSpPr>
        <p:spPr>
          <a:xfrm>
            <a:off x="5499100" y="2794000"/>
            <a:ext cx="1193800" cy="594320"/>
          </a:xfrm>
          <a:prstGeom prst="rect">
            <a:avLst/>
          </a:prstGeom>
          <a:noFill/>
          <a:ln/>
        </p:spPr>
        <p:txBody>
          <a:bodyPr wrap="square" lIns="0" tIns="0" rIns="0" bIns="0" rtlCol="0" anchor="t">
            <a:normAutofit/>
          </a:bodyPr>
          <a:lstStyle/>
          <a:p>
            <a:pPr algn="ctr" indent="0" marL="0">
              <a:lnSpc>
                <a:spcPts val="4480"/>
              </a:lnSpc>
              <a:buNone/>
            </a:pPr>
            <a:r>
              <a:rPr lang="en-US" sz="3200" b="1" dirty="0">
                <a:solidFill>
                  <a:srgbClr val="14213D"/>
                </a:solidFill>
                <a:latin typeface="Space Grotesk" pitchFamily="34" charset="0"/>
                <a:ea typeface="Space Grotesk" pitchFamily="34" charset="-122"/>
                <a:cs typeface="Space Grotesk" pitchFamily="34" charset="-120"/>
              </a:rPr>
              <a:t>vs</a:t>
            </a:r>
            <a:endParaRPr lang="en-US" sz="3200" dirty="0"/>
          </a:p>
        </p:txBody>
      </p:sp>
      <p:sp>
        <p:nvSpPr>
          <p:cNvPr id="15" name="Shape 11"/>
          <p:cNvSpPr/>
          <p:nvPr/>
        </p:nvSpPr>
        <p:spPr>
          <a:xfrm>
            <a:off x="819150" y="4705350"/>
            <a:ext cx="10553700" cy="1066800"/>
          </a:xfrm>
          <a:prstGeom prst="roundRect">
            <a:avLst>
              <a:gd name="adj" fmla="val 8929"/>
            </a:avLst>
          </a:prstGeom>
          <a:solidFill>
            <a:srgbClr val="FFFDF8"/>
          </a:solidFill>
          <a:ln w="12700">
            <a:solidFill>
              <a:srgbClr val="E4DED0"/>
            </a:solidFill>
            <a:prstDash val="solid"/>
          </a:ln>
        </p:spPr>
      </p:sp>
      <p:sp>
        <p:nvSpPr>
          <p:cNvPr id="16" name="Text 12"/>
          <p:cNvSpPr/>
          <p:nvPr/>
        </p:nvSpPr>
        <p:spPr>
          <a:xfrm>
            <a:off x="1143000" y="4826000"/>
            <a:ext cx="10333990" cy="558800"/>
          </a:xfrm>
          <a:prstGeom prst="rect">
            <a:avLst/>
          </a:prstGeom>
          <a:noFill/>
          <a:ln/>
        </p:spPr>
        <p:txBody>
          <a:bodyPr wrap="square" lIns="0" tIns="0" rIns="0" bIns="0" rtlCol="0" anchor="t">
            <a:normAutofit/>
          </a:bodyPr>
          <a:lstStyle/>
          <a:p>
            <a:pPr algn="l" indent="0" marL="0">
              <a:lnSpc>
                <a:spcPts val="2100"/>
              </a:lnSpc>
              <a:buNone/>
            </a:pPr>
            <a:r>
              <a:rPr lang="en-US" sz="1500" i="1" dirty="0">
                <a:solidFill>
                  <a:srgbClr val="14213D"/>
                </a:solidFill>
                <a:latin typeface="IBM Plex Sans" pitchFamily="34" charset="0"/>
                <a:ea typeface="IBM Plex Sans" pitchFamily="34" charset="-122"/>
                <a:cs typeface="IBM Plex Sans" pitchFamily="34" charset="-120"/>
              </a:rPr>
              <a:t>"Competition in this game drives both teams to improve their methods until the counterfeits are indistinguishable from the genuine articles."</a:t>
            </a:r>
            <a:r>
              <a:rPr lang="en-US" sz="1500" dirty="0">
                <a:solidFill>
                  <a:srgbClr val="14213D"/>
                </a:solidFill>
                <a:latin typeface="IBM Plex Sans" pitchFamily="34" charset="0"/>
                <a:ea typeface="IBM Plex Sans" pitchFamily="34" charset="-122"/>
                <a:cs typeface="IBM Plex Sans" pitchFamily="34" charset="-120"/>
              </a:rPr>
              <a:t> </a:t>
            </a:r>
            <a:r>
              <a:rPr lang="en-US" sz="1500" dirty="0">
                <a:solidFill>
                  <a:srgbClr val="6B7280"/>
                </a:solidFill>
                <a:latin typeface="IBM Plex Sans" pitchFamily="34" charset="0"/>
                <a:ea typeface="IBM Plex Sans" pitchFamily="34" charset="-122"/>
                <a:cs typeface="IBM Plex Sans" pitchFamily="34" charset="-120"/>
              </a:rPr>
              <a:t>Goodfellow et al., 2014</a:t>
            </a:r>
            <a:endParaRPr lang="en-US" sz="1500" dirty="0"/>
          </a:p>
        </p:txBody>
      </p:sp>
      <p:sp>
        <p:nvSpPr>
          <p:cNvPr id="17" name="Text 13"/>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1 · 02 Adversarial · min 17–20</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02 · THE CONTEST OVER TIME</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Round after round, both sides get better</a:t>
            </a:r>
            <a:endParaRPr lang="en-US" sz="3200" dirty="0"/>
          </a:p>
        </p:txBody>
      </p:sp>
      <p:pic>
        <p:nvPicPr>
          <p:cNvPr id="4" name="Image 0" descr="line">    </p:cNvPr>
          <p:cNvPicPr>
            <a:picLocks noChangeAspect="1"/>
          </p:cNvPicPr>
          <p:nvPr/>
        </p:nvPicPr>
        <p:blipFill>
          <a:blip r:embed="rId1"/>
          <a:srcRect l="0" r="0" t="0" b="0"/>
          <a:stretch/>
        </p:blipFill>
        <p:spPr>
          <a:xfrm>
            <a:off x="812800" y="3556000"/>
            <a:ext cx="10566400" cy="25400"/>
          </a:xfrm>
          <a:prstGeom prst="rect">
            <a:avLst/>
          </a:prstGeom>
        </p:spPr>
      </p:pic>
      <p:pic>
        <p:nvPicPr>
          <p:cNvPr id="5" name="Image 1" descr="Round 1 fake: pure noise">    </p:cNvPr>
          <p:cNvPicPr>
            <a:picLocks noChangeAspect="1"/>
          </p:cNvPicPr>
          <p:nvPr/>
        </p:nvPicPr>
        <p:blipFill>
          <a:blip r:embed="rId2"/>
          <a:srcRect l="0" r="0" t="0" b="0"/>
          <a:stretch/>
        </p:blipFill>
        <p:spPr>
          <a:xfrm>
            <a:off x="1003300" y="1905000"/>
            <a:ext cx="1397000" cy="1397000"/>
          </a:xfrm>
          <a:prstGeom prst="roundRect">
            <a:avLst>
              <a:gd name="adj" fmla="val 4545"/>
            </a:avLst>
          </a:prstGeom>
        </p:spPr>
      </p:pic>
      <p:sp>
        <p:nvSpPr>
          <p:cNvPr id="6" name="Text 2"/>
          <p:cNvSpPr/>
          <p:nvPr/>
        </p:nvSpPr>
        <p:spPr>
          <a:xfrm>
            <a:off x="812800" y="3746500"/>
            <a:ext cx="248539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Round 1</a:t>
            </a:r>
            <a:endParaRPr lang="en-US" sz="1500" dirty="0"/>
          </a:p>
        </p:txBody>
      </p:sp>
      <p:sp>
        <p:nvSpPr>
          <p:cNvPr id="7" name="Text 3"/>
          <p:cNvSpPr/>
          <p:nvPr/>
        </p:nvSpPr>
        <p:spPr>
          <a:xfrm>
            <a:off x="812800" y="4064000"/>
            <a:ext cx="2485390" cy="50542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2563A8"/>
                </a:solidFill>
                <a:latin typeface="IBM Plex Sans" pitchFamily="34" charset="0"/>
                <a:ea typeface="IBM Plex Sans" pitchFamily="34" charset="-122"/>
                <a:cs typeface="IBM Plex Sans" pitchFamily="34" charset="-120"/>
              </a:rPr>
              <a:t>G:</a:t>
            </a:r>
            <a:r>
              <a:rPr lang="en-US" sz="1400" dirty="0">
                <a:solidFill>
                  <a:srgbClr val="3D4657"/>
                </a:solidFill>
                <a:latin typeface="IBM Plex Sans" pitchFamily="34" charset="0"/>
                <a:ea typeface="IBM Plex Sans" pitchFamily="34" charset="-122"/>
                <a:cs typeface="IBM Plex Sans" pitchFamily="34" charset="-120"/>
              </a:rPr>
              <a:t> random scribble</a:t>
            </a:r>
            <a:endParaRPr lang="en-US" sz="1400" dirty="0"/>
          </a:p>
          <a:p>
            <a:pPr algn="l" indent="0" marL="0">
              <a:lnSpc>
                <a:spcPts val="1890"/>
              </a:lnSpc>
              <a:buNone/>
            </a:pPr>
            <a:r>
              <a:rPr lang="en-US" sz="1400" b="1" dirty="0">
                <a:solidFill>
                  <a:srgbClr val="B24E17"/>
                </a:solidFill>
                <a:latin typeface="IBM Plex Sans" pitchFamily="34" charset="0"/>
                <a:ea typeface="IBM Plex Sans" pitchFamily="34" charset="-122"/>
                <a:cs typeface="IBM Plex Sans" pitchFamily="34" charset="-120"/>
              </a:rPr>
              <a:t>D:</a:t>
            </a:r>
            <a:r>
              <a:rPr lang="en-US" sz="1400" dirty="0">
                <a:solidFill>
                  <a:srgbClr val="3D4657"/>
                </a:solidFill>
                <a:latin typeface="IBM Plex Sans" pitchFamily="34" charset="0"/>
                <a:ea typeface="IBM Plex Sans" pitchFamily="34" charset="-122"/>
                <a:cs typeface="IBM Plex Sans" pitchFamily="34" charset="-120"/>
              </a:rPr>
              <a:t> catches it easily</a:t>
            </a:r>
            <a:endParaRPr lang="en-US" sz="1400" dirty="0"/>
          </a:p>
        </p:txBody>
      </p:sp>
      <p:pic>
        <p:nvPicPr>
          <p:cNvPr id="8" name="Image 2" descr="Round 2 fake: noisy blob of colour">    </p:cNvPr>
          <p:cNvPicPr>
            <a:picLocks noChangeAspect="1"/>
          </p:cNvPicPr>
          <p:nvPr/>
        </p:nvPicPr>
        <p:blipFill>
          <a:blip r:embed="rId3"/>
          <a:srcRect l="0" r="0" t="0" b="0"/>
          <a:stretch/>
        </p:blipFill>
        <p:spPr>
          <a:xfrm>
            <a:off x="3670300" y="1905000"/>
            <a:ext cx="1397000" cy="1397000"/>
          </a:xfrm>
          <a:prstGeom prst="roundRect">
            <a:avLst>
              <a:gd name="adj" fmla="val 4545"/>
            </a:avLst>
          </a:prstGeom>
        </p:spPr>
      </p:pic>
      <p:sp>
        <p:nvSpPr>
          <p:cNvPr id="9" name="Text 4"/>
          <p:cNvSpPr/>
          <p:nvPr/>
        </p:nvSpPr>
        <p:spPr>
          <a:xfrm>
            <a:off x="3479800" y="3746500"/>
            <a:ext cx="248539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Round 2</a:t>
            </a:r>
            <a:endParaRPr lang="en-US" sz="1500" dirty="0"/>
          </a:p>
        </p:txBody>
      </p:sp>
      <p:sp>
        <p:nvSpPr>
          <p:cNvPr id="10" name="Text 5"/>
          <p:cNvSpPr/>
          <p:nvPr/>
        </p:nvSpPr>
        <p:spPr>
          <a:xfrm>
            <a:off x="3479800" y="4064000"/>
            <a:ext cx="2485390" cy="74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2563A8"/>
                </a:solidFill>
                <a:latin typeface="IBM Plex Sans" pitchFamily="34" charset="0"/>
                <a:ea typeface="IBM Plex Sans" pitchFamily="34" charset="-122"/>
                <a:cs typeface="IBM Plex Sans" pitchFamily="34" charset="-120"/>
              </a:rPr>
              <a:t>G:</a:t>
            </a:r>
            <a:r>
              <a:rPr lang="en-US" sz="1400" dirty="0">
                <a:solidFill>
                  <a:srgbClr val="3D4657"/>
                </a:solidFill>
                <a:latin typeface="IBM Plex Sans" pitchFamily="34" charset="0"/>
                <a:ea typeface="IBM Plex Sans" pitchFamily="34" charset="-122"/>
                <a:cs typeface="IBM Plex Sans" pitchFamily="34" charset="-120"/>
              </a:rPr>
              <a:t> learns "flowers are colourful blobs"</a:t>
            </a:r>
            <a:endParaRPr lang="en-US" sz="1400" dirty="0"/>
          </a:p>
          <a:p>
            <a:pPr algn="l" indent="0" marL="0">
              <a:lnSpc>
                <a:spcPts val="1890"/>
              </a:lnSpc>
              <a:buNone/>
            </a:pPr>
            <a:r>
              <a:rPr lang="en-US" sz="1400" b="1" dirty="0">
                <a:solidFill>
                  <a:srgbClr val="B24E17"/>
                </a:solidFill>
                <a:latin typeface="IBM Plex Sans" pitchFamily="34" charset="0"/>
                <a:ea typeface="IBM Plex Sans" pitchFamily="34" charset="-122"/>
                <a:cs typeface="IBM Plex Sans" pitchFamily="34" charset="-120"/>
              </a:rPr>
              <a:t>D:</a:t>
            </a:r>
            <a:r>
              <a:rPr lang="en-US" sz="1400" dirty="0">
                <a:solidFill>
                  <a:srgbClr val="3D4657"/>
                </a:solidFill>
                <a:latin typeface="IBM Plex Sans" pitchFamily="34" charset="0"/>
                <a:ea typeface="IBM Plex Sans" pitchFamily="34" charset="-122"/>
                <a:cs typeface="IBM Plex Sans" pitchFamily="34" charset="-120"/>
              </a:rPr>
              <a:t> learns to check shape</a:t>
            </a:r>
            <a:endParaRPr lang="en-US" sz="1400" dirty="0"/>
          </a:p>
        </p:txBody>
      </p:sp>
      <p:pic>
        <p:nvPicPr>
          <p:cNvPr id="11" name="Image 3" descr="Round 3 fake: rough flower shape with noise">    </p:cNvPr>
          <p:cNvPicPr>
            <a:picLocks noChangeAspect="1"/>
          </p:cNvPicPr>
          <p:nvPr/>
        </p:nvPicPr>
        <p:blipFill>
          <a:blip r:embed="rId4"/>
          <a:srcRect l="0" r="0" t="0" b="0"/>
          <a:stretch/>
        </p:blipFill>
        <p:spPr>
          <a:xfrm>
            <a:off x="6337300" y="1905000"/>
            <a:ext cx="1397000" cy="1397000"/>
          </a:xfrm>
          <a:prstGeom prst="roundRect">
            <a:avLst>
              <a:gd name="adj" fmla="val 4545"/>
            </a:avLst>
          </a:prstGeom>
        </p:spPr>
      </p:pic>
      <p:sp>
        <p:nvSpPr>
          <p:cNvPr id="12" name="Text 6"/>
          <p:cNvSpPr/>
          <p:nvPr/>
        </p:nvSpPr>
        <p:spPr>
          <a:xfrm>
            <a:off x="6146800" y="3746500"/>
            <a:ext cx="248539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Round 3</a:t>
            </a:r>
            <a:endParaRPr lang="en-US" sz="1500" dirty="0"/>
          </a:p>
        </p:txBody>
      </p:sp>
      <p:sp>
        <p:nvSpPr>
          <p:cNvPr id="13" name="Text 7"/>
          <p:cNvSpPr/>
          <p:nvPr/>
        </p:nvSpPr>
        <p:spPr>
          <a:xfrm>
            <a:off x="6146800" y="4064000"/>
            <a:ext cx="2485390" cy="50542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2563A8"/>
                </a:solidFill>
                <a:latin typeface="IBM Plex Sans" pitchFamily="34" charset="0"/>
                <a:ea typeface="IBM Plex Sans" pitchFamily="34" charset="-122"/>
                <a:cs typeface="IBM Plex Sans" pitchFamily="34" charset="-120"/>
              </a:rPr>
              <a:t>G:</a:t>
            </a:r>
            <a:r>
              <a:rPr lang="en-US" sz="1400" dirty="0">
                <a:solidFill>
                  <a:srgbClr val="3D4657"/>
                </a:solidFill>
                <a:latin typeface="IBM Plex Sans" pitchFamily="34" charset="0"/>
                <a:ea typeface="IBM Plex Sans" pitchFamily="34" charset="-122"/>
                <a:cs typeface="IBM Plex Sans" pitchFamily="34" charset="-120"/>
              </a:rPr>
              <a:t> petals and a centre</a:t>
            </a:r>
            <a:endParaRPr lang="en-US" sz="1400" dirty="0"/>
          </a:p>
          <a:p>
            <a:pPr algn="l" indent="0" marL="0">
              <a:lnSpc>
                <a:spcPts val="1890"/>
              </a:lnSpc>
              <a:buNone/>
            </a:pPr>
            <a:r>
              <a:rPr lang="en-US" sz="1400" b="1" dirty="0">
                <a:solidFill>
                  <a:srgbClr val="B24E17"/>
                </a:solidFill>
                <a:latin typeface="IBM Plex Sans" pitchFamily="34" charset="0"/>
                <a:ea typeface="IBM Plex Sans" pitchFamily="34" charset="-122"/>
                <a:cs typeface="IBM Plex Sans" pitchFamily="34" charset="-120"/>
              </a:rPr>
              <a:t>D:</a:t>
            </a:r>
            <a:r>
              <a:rPr lang="en-US" sz="1400" dirty="0">
                <a:solidFill>
                  <a:srgbClr val="3D4657"/>
                </a:solidFill>
                <a:latin typeface="IBM Plex Sans" pitchFamily="34" charset="0"/>
                <a:ea typeface="IBM Plex Sans" pitchFamily="34" charset="-122"/>
                <a:cs typeface="IBM Plex Sans" pitchFamily="34" charset="-120"/>
              </a:rPr>
              <a:t> checks petal detail</a:t>
            </a:r>
            <a:endParaRPr lang="en-US" sz="1400" dirty="0"/>
          </a:p>
        </p:txBody>
      </p:sp>
      <p:pic>
        <p:nvPicPr>
          <p:cNvPr id="14" name="Image 4" descr="Round N fake: convincing flower">    </p:cNvPr>
          <p:cNvPicPr>
            <a:picLocks noChangeAspect="1"/>
          </p:cNvPicPr>
          <p:nvPr/>
        </p:nvPicPr>
        <p:blipFill>
          <a:blip r:embed="rId5"/>
          <a:srcRect l="0" r="0" t="0" b="0"/>
          <a:stretch/>
        </p:blipFill>
        <p:spPr>
          <a:xfrm>
            <a:off x="9004300" y="1905000"/>
            <a:ext cx="1397000" cy="1397000"/>
          </a:xfrm>
          <a:prstGeom prst="roundRect">
            <a:avLst>
              <a:gd name="adj" fmla="val 4545"/>
            </a:avLst>
          </a:prstGeom>
        </p:spPr>
      </p:pic>
      <p:sp>
        <p:nvSpPr>
          <p:cNvPr id="15" name="Text 8"/>
          <p:cNvSpPr/>
          <p:nvPr/>
        </p:nvSpPr>
        <p:spPr>
          <a:xfrm>
            <a:off x="8813800" y="3746500"/>
            <a:ext cx="264236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Round N</a:t>
            </a:r>
            <a:endParaRPr lang="en-US" sz="1500" dirty="0"/>
          </a:p>
        </p:txBody>
      </p:sp>
      <p:sp>
        <p:nvSpPr>
          <p:cNvPr id="16" name="Text 9"/>
          <p:cNvSpPr/>
          <p:nvPr/>
        </p:nvSpPr>
        <p:spPr>
          <a:xfrm>
            <a:off x="8813800" y="4064000"/>
            <a:ext cx="2642362" cy="50542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2563A8"/>
                </a:solidFill>
                <a:latin typeface="IBM Plex Sans" pitchFamily="34" charset="0"/>
                <a:ea typeface="IBM Plex Sans" pitchFamily="34" charset="-122"/>
                <a:cs typeface="IBM Plex Sans" pitchFamily="34" charset="-120"/>
              </a:rPr>
              <a:t>G:</a:t>
            </a:r>
            <a:r>
              <a:rPr lang="en-US" sz="1400" dirty="0">
                <a:solidFill>
                  <a:srgbClr val="3D4657"/>
                </a:solidFill>
                <a:latin typeface="IBM Plex Sans" pitchFamily="34" charset="0"/>
                <a:ea typeface="IBM Plex Sans" pitchFamily="34" charset="-122"/>
                <a:cs typeface="IBM Plex Sans" pitchFamily="34" charset="-120"/>
              </a:rPr>
              <a:t> convincing flowers</a:t>
            </a:r>
            <a:endParaRPr lang="en-US" sz="1400" dirty="0"/>
          </a:p>
          <a:p>
            <a:pPr algn="l" indent="0" marL="0">
              <a:lnSpc>
                <a:spcPts val="1890"/>
              </a:lnSpc>
              <a:buNone/>
            </a:pPr>
            <a:r>
              <a:rPr lang="en-US" sz="1400" b="1" dirty="0">
                <a:solidFill>
                  <a:srgbClr val="B24E17"/>
                </a:solidFill>
                <a:latin typeface="IBM Plex Sans" pitchFamily="34" charset="0"/>
                <a:ea typeface="IBM Plex Sans" pitchFamily="34" charset="-122"/>
                <a:cs typeface="IBM Plex Sans" pitchFamily="34" charset="-120"/>
              </a:rPr>
              <a:t>D:</a:t>
            </a:r>
            <a:r>
              <a:rPr lang="en-US" sz="1400" dirty="0">
                <a:solidFill>
                  <a:srgbClr val="3D4657"/>
                </a:solidFill>
                <a:latin typeface="IBM Plex Sans" pitchFamily="34" charset="0"/>
                <a:ea typeface="IBM Plex Sans" pitchFamily="34" charset="-122"/>
                <a:cs typeface="IBM Plex Sans" pitchFamily="34" charset="-120"/>
              </a:rPr>
              <a:t> can only guess, about 50/50</a:t>
            </a:r>
            <a:endParaRPr lang="en-US" sz="1400" dirty="0"/>
          </a:p>
        </p:txBody>
      </p:sp>
      <p:sp>
        <p:nvSpPr>
          <p:cNvPr id="17" name="Text 10"/>
          <p:cNvSpPr/>
          <p:nvPr/>
        </p:nvSpPr>
        <p:spPr>
          <a:xfrm>
            <a:off x="812800" y="5270500"/>
            <a:ext cx="10883392" cy="316855"/>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14213D"/>
                </a:solidFill>
                <a:latin typeface="IBM Plex Sans" pitchFamily="34" charset="0"/>
                <a:ea typeface="IBM Plex Sans" pitchFamily="34" charset="-122"/>
                <a:cs typeface="IBM Plex Sans" pitchFamily="34" charset="-120"/>
              </a:rPr>
              <a:t>Each side's improvement </a:t>
            </a:r>
            <a:r>
              <a:rPr lang="en-US" sz="1700" b="1" dirty="0">
                <a:solidFill>
                  <a:srgbClr val="14213D"/>
                </a:solidFill>
                <a:latin typeface="IBM Plex Sans" pitchFamily="34" charset="0"/>
                <a:ea typeface="IBM Plex Sans" pitchFamily="34" charset="-122"/>
                <a:cs typeface="IBM Plex Sans" pitchFamily="34" charset="-120"/>
              </a:rPr>
              <a:t>forces</a:t>
            </a:r>
            <a:r>
              <a:rPr lang="en-US" sz="1700" dirty="0">
                <a:solidFill>
                  <a:srgbClr val="14213D"/>
                </a:solidFill>
                <a:latin typeface="IBM Plex Sans" pitchFamily="34" charset="0"/>
                <a:ea typeface="IBM Plex Sans" pitchFamily="34" charset="-122"/>
                <a:cs typeface="IBM Plex Sans" pitchFamily="34" charset="-120"/>
              </a:rPr>
              <a:t> the other to improve. That feedback loop is the "adversarial" training signal.</a:t>
            </a:r>
            <a:endParaRPr lang="en-US" sz="1700" dirty="0"/>
          </a:p>
        </p:txBody>
      </p:sp>
      <p:sp>
        <p:nvSpPr>
          <p:cNvPr id="18" name="Text 11"/>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1 · 02 Adversarial · min 20–22 · images are illustrations, not real GAN outputs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02 · WINNERS AND LOSERS</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A zero-sum game: one side's gain is the other's loss</a:t>
            </a:r>
            <a:endParaRPr lang="en-US" sz="3200" dirty="0"/>
          </a:p>
        </p:txBody>
      </p:sp>
      <p:sp>
        <p:nvSpPr>
          <p:cNvPr id="4" name="Shape 2"/>
          <p:cNvSpPr/>
          <p:nvPr/>
        </p:nvSpPr>
        <p:spPr>
          <a:xfrm>
            <a:off x="812800" y="2032000"/>
            <a:ext cx="5080000" cy="1778000"/>
          </a:xfrm>
          <a:prstGeom prst="roundRect">
            <a:avLst>
              <a:gd name="adj" fmla="val 7143"/>
            </a:avLst>
          </a:prstGeom>
          <a:solidFill>
            <a:srgbClr val="F6E1D3"/>
          </a:solidFill>
          <a:ln/>
        </p:spPr>
      </p:sp>
      <p:sp>
        <p:nvSpPr>
          <p:cNvPr id="5" name="Text 3"/>
          <p:cNvSpPr/>
          <p:nvPr/>
        </p:nvSpPr>
        <p:spPr>
          <a:xfrm>
            <a:off x="1079500" y="2190750"/>
            <a:ext cx="4709160"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B24E17"/>
                </a:solidFill>
                <a:latin typeface="IBM Plex Sans" pitchFamily="34" charset="0"/>
                <a:ea typeface="IBM Plex Sans" pitchFamily="34" charset="-122"/>
                <a:cs typeface="IBM Plex Sans" pitchFamily="34" charset="-120"/>
              </a:rPr>
              <a:t>CASE 1 · D CATCHES THE FAKE</a:t>
            </a:r>
            <a:endParaRPr lang="en-US" sz="1300" dirty="0"/>
          </a:p>
        </p:txBody>
      </p:sp>
      <p:sp>
        <p:nvSpPr>
          <p:cNvPr id="6" name="Text 4"/>
          <p:cNvSpPr/>
          <p:nvPr/>
        </p:nvSpPr>
        <p:spPr>
          <a:xfrm>
            <a:off x="1079500" y="2540000"/>
            <a:ext cx="470916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D wins this round. </a:t>
            </a:r>
            <a:r>
              <a:rPr lang="en-US" sz="1600" b="1" dirty="0">
                <a:solidFill>
                  <a:srgbClr val="14213D"/>
                </a:solidFill>
                <a:latin typeface="IBM Plex Sans" pitchFamily="34" charset="0"/>
                <a:ea typeface="IBM Plex Sans" pitchFamily="34" charset="-122"/>
                <a:cs typeface="IBM Plex Sans" pitchFamily="34" charset="-120"/>
              </a:rPr>
              <a:t>G is the loser, so G must update</a:t>
            </a:r>
            <a:r>
              <a:rPr lang="en-US" sz="1600" dirty="0">
                <a:solidFill>
                  <a:srgbClr val="14213D"/>
                </a:solidFill>
                <a:latin typeface="IBM Plex Sans" pitchFamily="34" charset="0"/>
                <a:ea typeface="IBM Plex Sans" pitchFamily="34" charset="-122"/>
                <a:cs typeface="IBM Plex Sans" pitchFamily="34" charset="-120"/>
              </a:rPr>
              <a:t> its weights to make better fakes.</a:t>
            </a:r>
            <a:endParaRPr lang="en-US" sz="1600" dirty="0"/>
          </a:p>
        </p:txBody>
      </p:sp>
      <p:sp>
        <p:nvSpPr>
          <p:cNvPr id="7" name="Shape 5"/>
          <p:cNvSpPr/>
          <p:nvPr/>
        </p:nvSpPr>
        <p:spPr>
          <a:xfrm>
            <a:off x="6299200" y="2032000"/>
            <a:ext cx="5080000" cy="1778000"/>
          </a:xfrm>
          <a:prstGeom prst="roundRect">
            <a:avLst>
              <a:gd name="adj" fmla="val 7143"/>
            </a:avLst>
          </a:prstGeom>
          <a:solidFill>
            <a:srgbClr val="DCE8F5"/>
          </a:solidFill>
          <a:ln/>
        </p:spPr>
      </p:sp>
      <p:sp>
        <p:nvSpPr>
          <p:cNvPr id="8" name="Text 6"/>
          <p:cNvSpPr/>
          <p:nvPr/>
        </p:nvSpPr>
        <p:spPr>
          <a:xfrm>
            <a:off x="6565900" y="2190750"/>
            <a:ext cx="4709160"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563A8"/>
                </a:solidFill>
                <a:latin typeface="IBM Plex Sans" pitchFamily="34" charset="0"/>
                <a:ea typeface="IBM Plex Sans" pitchFamily="34" charset="-122"/>
                <a:cs typeface="IBM Plex Sans" pitchFamily="34" charset="-120"/>
              </a:rPr>
              <a:t>CASE 2 · G FOOLS D</a:t>
            </a:r>
            <a:endParaRPr lang="en-US" sz="1300" dirty="0"/>
          </a:p>
        </p:txBody>
      </p:sp>
      <p:sp>
        <p:nvSpPr>
          <p:cNvPr id="9" name="Text 7"/>
          <p:cNvSpPr/>
          <p:nvPr/>
        </p:nvSpPr>
        <p:spPr>
          <a:xfrm>
            <a:off x="6565900" y="2540000"/>
            <a:ext cx="470916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G wins this round. </a:t>
            </a:r>
            <a:r>
              <a:rPr lang="en-US" sz="1600" b="1" dirty="0">
                <a:solidFill>
                  <a:srgbClr val="14213D"/>
                </a:solidFill>
                <a:latin typeface="IBM Plex Sans" pitchFamily="34" charset="0"/>
                <a:ea typeface="IBM Plex Sans" pitchFamily="34" charset="-122"/>
                <a:cs typeface="IBM Plex Sans" pitchFamily="34" charset="-120"/>
              </a:rPr>
              <a:t>D is the loser, so D must update</a:t>
            </a:r>
            <a:r>
              <a:rPr lang="en-US" sz="1600" dirty="0">
                <a:solidFill>
                  <a:srgbClr val="14213D"/>
                </a:solidFill>
                <a:latin typeface="IBM Plex Sans" pitchFamily="34" charset="0"/>
                <a:ea typeface="IBM Plex Sans" pitchFamily="34" charset="-122"/>
                <a:cs typeface="IBM Plex Sans" pitchFamily="34" charset="-120"/>
              </a:rPr>
              <a:t> to spot fakes better.</a:t>
            </a:r>
            <a:endParaRPr lang="en-US" sz="1600" dirty="0"/>
          </a:p>
        </p:txBody>
      </p:sp>
      <p:sp>
        <p:nvSpPr>
          <p:cNvPr id="10" name="Shape 8"/>
          <p:cNvSpPr/>
          <p:nvPr/>
        </p:nvSpPr>
        <p:spPr>
          <a:xfrm>
            <a:off x="819150" y="4133850"/>
            <a:ext cx="10553700" cy="1638300"/>
          </a:xfrm>
          <a:prstGeom prst="roundRect">
            <a:avLst>
              <a:gd name="adj" fmla="val 5814"/>
            </a:avLst>
          </a:prstGeom>
          <a:solidFill>
            <a:srgbClr val="FFFDF8"/>
          </a:solidFill>
          <a:ln w="12700">
            <a:solidFill>
              <a:srgbClr val="E4DED0"/>
            </a:solidFill>
            <a:prstDash val="solid"/>
          </a:ln>
        </p:spPr>
      </p:sp>
      <p:sp>
        <p:nvSpPr>
          <p:cNvPr id="11" name="Text 9"/>
          <p:cNvSpPr/>
          <p:nvPr/>
        </p:nvSpPr>
        <p:spPr>
          <a:xfrm>
            <a:off x="1143000" y="4267200"/>
            <a:ext cx="10333990"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8A6A10"/>
                </a:solidFill>
                <a:latin typeface="IBM Plex Sans" pitchFamily="34" charset="0"/>
                <a:ea typeface="IBM Plex Sans" pitchFamily="34" charset="-122"/>
                <a:cs typeface="IBM Plex Sans" pitchFamily="34" charset="-120"/>
              </a:rPr>
              <a:t>PRECISE VERSION, AS IN OUR NOTEBOOK</a:t>
            </a:r>
            <a:endParaRPr lang="en-US" sz="1300" dirty="0"/>
          </a:p>
        </p:txBody>
      </p:sp>
      <p:sp>
        <p:nvSpPr>
          <p:cNvPr id="12" name="Text 10"/>
          <p:cNvSpPr/>
          <p:nvPr/>
        </p:nvSpPr>
        <p:spPr>
          <a:xfrm>
            <a:off x="1143000" y="4584700"/>
            <a:ext cx="1033399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"Winner and loser" is an intuition. In code, </a:t>
            </a:r>
            <a:r>
              <a:rPr lang="en-US" sz="1600" b="1" dirty="0">
                <a:solidFill>
                  <a:srgbClr val="14213D"/>
                </a:solidFill>
                <a:latin typeface="IBM Plex Sans" pitchFamily="34" charset="0"/>
                <a:ea typeface="IBM Plex Sans" pitchFamily="34" charset="-122"/>
                <a:cs typeface="IBM Plex Sans" pitchFamily="34" charset="-120"/>
              </a:rPr>
              <a:t>both networks take one gradient step on every batch</a:t>
            </a:r>
            <a:r>
              <a:rPr lang="en-US" sz="1600" dirty="0">
                <a:solidFill>
                  <a:srgbClr val="14213D"/>
                </a:solidFill>
                <a:latin typeface="IBM Plex Sans" pitchFamily="34" charset="0"/>
                <a:ea typeface="IBM Plex Sans" pitchFamily="34" charset="-122"/>
                <a:cs typeface="IBM Plex Sans" pitchFamily="34" charset="-120"/>
              </a:rPr>
              <a:t>: first D, then G. How much each changes depends on how badly it did, which the loss measures.</a:t>
            </a:r>
            <a:endParaRPr lang="en-US" sz="1600" dirty="0"/>
          </a:p>
        </p:txBody>
      </p:sp>
      <p:sp>
        <p:nvSpPr>
          <p:cNvPr id="13" name="Text 11"/>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1 · 02 Adversarial · min 22–24</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02 · COMMON CONFUSIONS</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What "adversarial" does and doesn't mean here</a:t>
            </a:r>
            <a:endParaRPr lang="en-US" sz="3200" dirty="0"/>
          </a:p>
        </p:txBody>
      </p:sp>
      <p:sp>
        <p:nvSpPr>
          <p:cNvPr id="4" name="Shape 2"/>
          <p:cNvSpPr/>
          <p:nvPr/>
        </p:nvSpPr>
        <p:spPr>
          <a:xfrm>
            <a:off x="819150" y="1911350"/>
            <a:ext cx="5067300" cy="3543300"/>
          </a:xfrm>
          <a:prstGeom prst="roundRect">
            <a:avLst>
              <a:gd name="adj" fmla="val 2688"/>
            </a:avLst>
          </a:prstGeom>
          <a:solidFill>
            <a:srgbClr val="FFFDF8"/>
          </a:solidFill>
          <a:ln w="12700">
            <a:solidFill>
              <a:srgbClr val="E4DED0"/>
            </a:solidFill>
            <a:prstDash val="solid"/>
          </a:ln>
        </p:spPr>
      </p:sp>
      <p:sp>
        <p:nvSpPr>
          <p:cNvPr id="5" name="Text 3"/>
          <p:cNvSpPr/>
          <p:nvPr/>
        </p:nvSpPr>
        <p:spPr>
          <a:xfrm>
            <a:off x="1079500" y="2127250"/>
            <a:ext cx="470916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Space Grotesk" pitchFamily="34" charset="0"/>
                <a:ea typeface="Space Grotesk" pitchFamily="34" charset="-122"/>
                <a:cs typeface="Space Grotesk" pitchFamily="34" charset="-120"/>
              </a:rPr>
              <a:t>It does mean</a:t>
            </a:r>
            <a:endParaRPr lang="en-US" sz="2000" dirty="0"/>
          </a:p>
        </p:txBody>
      </p:sp>
      <p:sp>
        <p:nvSpPr>
          <p:cNvPr id="6" name="Text 4"/>
          <p:cNvSpPr/>
          <p:nvPr/>
        </p:nvSpPr>
        <p:spPr>
          <a:xfrm>
            <a:off x="1079500" y="2603500"/>
            <a:ext cx="4709160" cy="19589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D4657"/>
                </a:solidFill>
                <a:latin typeface="IBM Plex Sans" pitchFamily="34" charset="0"/>
                <a:ea typeface="IBM Plex Sans" pitchFamily="34" charset="-122"/>
                <a:cs typeface="IBM Plex Sans" pitchFamily="34" charset="-120"/>
              </a:rPr>
              <a:t>Two networks with </a:t>
            </a:r>
            <a:r>
              <a:rPr lang="en-US" sz="1500" b="1" dirty="0">
                <a:solidFill>
                  <a:srgbClr val="3D4657"/>
                </a:solidFill>
                <a:latin typeface="IBM Plex Sans" pitchFamily="34" charset="0"/>
                <a:ea typeface="IBM Plex Sans" pitchFamily="34" charset="-122"/>
                <a:cs typeface="IBM Plex Sans" pitchFamily="34" charset="-120"/>
              </a:rPr>
              <a:t>opposite objectives</a:t>
            </a:r>
            <a:r>
              <a:rPr lang="en-US" sz="1500" dirty="0">
                <a:solidFill>
                  <a:srgbClr val="3D4657"/>
                </a:solidFill>
                <a:latin typeface="IBM Plex Sans" pitchFamily="34" charset="0"/>
                <a:ea typeface="IBM Plex Sans" pitchFamily="34" charset="-122"/>
                <a:cs typeface="IBM Plex Sans" pitchFamily="34" charset="-120"/>
              </a:rPr>
              <a:t> on the same score</a:t>
            </a:r>
            <a:endParaRPr lang="en-US" sz="1500" dirty="0"/>
          </a:p>
          <a:p>
            <a:pPr algn="l" indent="0" marL="0">
              <a:lnSpc>
                <a:spcPts val="2175"/>
              </a:lnSpc>
              <a:buNone/>
            </a:pPr>
            <a:endParaRPr lang="en-US" sz="1500" dirty="0"/>
          </a:p>
          <a:p>
            <a:pPr algn="l" indent="0" marL="0">
              <a:lnSpc>
                <a:spcPts val="2175"/>
              </a:lnSpc>
              <a:buNone/>
            </a:pPr>
            <a:r>
              <a:rPr lang="en-US" sz="1500" dirty="0">
                <a:solidFill>
                  <a:srgbClr val="3D4657"/>
                </a:solidFill>
                <a:latin typeface="IBM Plex Sans" pitchFamily="34" charset="0"/>
                <a:ea typeface="IBM Plex Sans" pitchFamily="34" charset="-122"/>
                <a:cs typeface="IBM Plex Sans" pitchFamily="34" charset="-120"/>
              </a:rPr>
              <a:t>Opponents during training, but </a:t>
            </a:r>
            <a:r>
              <a:rPr lang="en-US" sz="1500" b="1" dirty="0">
                <a:solidFill>
                  <a:srgbClr val="3D4657"/>
                </a:solidFill>
                <a:latin typeface="IBM Plex Sans" pitchFamily="34" charset="0"/>
                <a:ea typeface="IBM Plex Sans" pitchFamily="34" charset="-122"/>
                <a:cs typeface="IBM Plex Sans" pitchFamily="34" charset="-120"/>
              </a:rPr>
              <a:t>partners in the result</a:t>
            </a:r>
            <a:r>
              <a:rPr lang="en-US" sz="1500" dirty="0">
                <a:solidFill>
                  <a:srgbClr val="3D4657"/>
                </a:solidFill>
                <a:latin typeface="IBM Plex Sans" pitchFamily="34" charset="0"/>
                <a:ea typeface="IBM Plex Sans" pitchFamily="34" charset="-122"/>
                <a:cs typeface="IBM Plex Sans" pitchFamily="34" charset="-120"/>
              </a:rPr>
              <a:t>: D's job is to push G to improve</a:t>
            </a:r>
            <a:endParaRPr lang="en-US" sz="1500" dirty="0"/>
          </a:p>
          <a:p>
            <a:pPr algn="l" indent="0" marL="0">
              <a:lnSpc>
                <a:spcPts val="2175"/>
              </a:lnSpc>
              <a:buNone/>
            </a:pPr>
            <a:endParaRPr lang="en-US" sz="1500" dirty="0"/>
          </a:p>
          <a:p>
            <a:pPr algn="l" indent="0" marL="0">
              <a:lnSpc>
                <a:spcPts val="2175"/>
              </a:lnSpc>
              <a:buNone/>
            </a:pPr>
            <a:r>
              <a:rPr lang="en-US" sz="1500" dirty="0">
                <a:solidFill>
                  <a:srgbClr val="3D4657"/>
                </a:solidFill>
                <a:latin typeface="IBM Plex Sans" pitchFamily="34" charset="0"/>
                <a:ea typeface="IBM Plex Sans" pitchFamily="34" charset="-122"/>
                <a:cs typeface="IBM Plex Sans" pitchFamily="34" charset="-120"/>
              </a:rPr>
              <a:t>After training we usually keep </a:t>
            </a:r>
            <a:r>
              <a:rPr lang="en-US" sz="1500" b="1" dirty="0">
                <a:solidFill>
                  <a:srgbClr val="3D4657"/>
                </a:solidFill>
                <a:latin typeface="IBM Plex Sans" pitchFamily="34" charset="0"/>
                <a:ea typeface="IBM Plex Sans" pitchFamily="34" charset="-122"/>
                <a:cs typeface="IBM Plex Sans" pitchFamily="34" charset="-120"/>
              </a:rPr>
              <a:t>G</a:t>
            </a:r>
            <a:r>
              <a:rPr lang="en-US" sz="1500" dirty="0">
                <a:solidFill>
                  <a:srgbClr val="3D4657"/>
                </a:solidFill>
                <a:latin typeface="IBM Plex Sans" pitchFamily="34" charset="0"/>
                <a:ea typeface="IBM Plex Sans" pitchFamily="34" charset="-122"/>
                <a:cs typeface="IBM Plex Sans" pitchFamily="34" charset="-120"/>
              </a:rPr>
              <a:t> and set D aside</a:t>
            </a:r>
            <a:endParaRPr lang="en-US" sz="1500" dirty="0"/>
          </a:p>
        </p:txBody>
      </p:sp>
      <p:sp>
        <p:nvSpPr>
          <p:cNvPr id="7" name="Shape 5"/>
          <p:cNvSpPr/>
          <p:nvPr/>
        </p:nvSpPr>
        <p:spPr>
          <a:xfrm>
            <a:off x="6305550" y="1911350"/>
            <a:ext cx="5067300" cy="3543300"/>
          </a:xfrm>
          <a:prstGeom prst="roundRect">
            <a:avLst>
              <a:gd name="adj" fmla="val 2688"/>
            </a:avLst>
          </a:prstGeom>
          <a:solidFill>
            <a:srgbClr val="FFFDF8"/>
          </a:solidFill>
          <a:ln w="12700">
            <a:solidFill>
              <a:srgbClr val="E4DED0"/>
            </a:solidFill>
            <a:prstDash val="solid"/>
          </a:ln>
        </p:spPr>
      </p:sp>
      <p:sp>
        <p:nvSpPr>
          <p:cNvPr id="8" name="Text 6"/>
          <p:cNvSpPr/>
          <p:nvPr/>
        </p:nvSpPr>
        <p:spPr>
          <a:xfrm>
            <a:off x="6565900" y="2127250"/>
            <a:ext cx="470916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B24E17"/>
                </a:solidFill>
                <a:latin typeface="Space Grotesk" pitchFamily="34" charset="0"/>
                <a:ea typeface="Space Grotesk" pitchFamily="34" charset="-122"/>
                <a:cs typeface="Space Grotesk" pitchFamily="34" charset="-120"/>
              </a:rPr>
              <a:t>It does not mean</a:t>
            </a:r>
            <a:endParaRPr lang="en-US" sz="2000" dirty="0"/>
          </a:p>
        </p:txBody>
      </p:sp>
      <p:sp>
        <p:nvSpPr>
          <p:cNvPr id="9" name="Text 7"/>
          <p:cNvSpPr/>
          <p:nvPr/>
        </p:nvSpPr>
        <p:spPr>
          <a:xfrm>
            <a:off x="6565900" y="2603500"/>
            <a:ext cx="4709160" cy="19589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D4657"/>
                </a:solidFill>
                <a:latin typeface="IBM Plex Sans" pitchFamily="34" charset="0"/>
                <a:ea typeface="IBM Plex Sans" pitchFamily="34" charset="-122"/>
                <a:cs typeface="IBM Plex Sans" pitchFamily="34" charset="-120"/>
              </a:rPr>
              <a:t>Hacking, attacking or anything malicious</a:t>
            </a:r>
            <a:endParaRPr lang="en-US" sz="1500" dirty="0"/>
          </a:p>
          <a:p>
            <a:pPr algn="l" indent="0" marL="0">
              <a:lnSpc>
                <a:spcPts val="2175"/>
              </a:lnSpc>
              <a:buNone/>
            </a:pPr>
            <a:endParaRPr lang="en-US" sz="1500" dirty="0"/>
          </a:p>
          <a:p>
            <a:pPr algn="l" indent="0" marL="0">
              <a:lnSpc>
                <a:spcPts val="2175"/>
              </a:lnSpc>
              <a:buNone/>
            </a:pPr>
            <a:r>
              <a:rPr lang="en-US" sz="1500" b="1" dirty="0">
                <a:solidFill>
                  <a:srgbClr val="3D4657"/>
                </a:solidFill>
                <a:latin typeface="IBM Plex Sans" pitchFamily="34" charset="0"/>
                <a:ea typeface="IBM Plex Sans" pitchFamily="34" charset="-122"/>
                <a:cs typeface="IBM Plex Sans" pitchFamily="34" charset="-120"/>
              </a:rPr>
              <a:t>"Adversarial examples/attacks"</a:t>
            </a:r>
            <a:r>
              <a:rPr lang="en-US" sz="1500" dirty="0">
                <a:solidFill>
                  <a:srgbClr val="3D4657"/>
                </a:solidFill>
                <a:latin typeface="IBM Plex Sans" pitchFamily="34" charset="0"/>
                <a:ea typeface="IBM Plex Sans" pitchFamily="34" charset="-122"/>
                <a:cs typeface="IBM Plex Sans" pitchFamily="34" charset="-120"/>
              </a:rPr>
              <a:t>: a different topic, where tiny input changes fool a trained classifier</a:t>
            </a:r>
            <a:endParaRPr lang="en-US" sz="1500" dirty="0"/>
          </a:p>
          <a:p>
            <a:pPr algn="l" indent="0" marL="0">
              <a:lnSpc>
                <a:spcPts val="2175"/>
              </a:lnSpc>
              <a:buNone/>
            </a:pPr>
            <a:endParaRPr lang="en-US" sz="1500" dirty="0"/>
          </a:p>
          <a:p>
            <a:pPr algn="l" indent="0" marL="0">
              <a:lnSpc>
                <a:spcPts val="2175"/>
              </a:lnSpc>
              <a:buNone/>
            </a:pPr>
            <a:r>
              <a:rPr lang="en-US" sz="1500" dirty="0">
                <a:solidFill>
                  <a:srgbClr val="3D4657"/>
                </a:solidFill>
                <a:latin typeface="IBM Plex Sans" pitchFamily="34" charset="0"/>
                <a:ea typeface="IBM Plex Sans" pitchFamily="34" charset="-122"/>
                <a:cs typeface="IBM Plex Sans" pitchFamily="34" charset="-120"/>
              </a:rPr>
              <a:t>That one network destroys the other: they improve together</a:t>
            </a:r>
            <a:endParaRPr lang="en-US" sz="1500" dirty="0"/>
          </a:p>
        </p:txBody>
      </p:sp>
      <p:sp>
        <p:nvSpPr>
          <p:cNvPr id="10" name="Text 8"/>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1 · 02 Adversarial · min 24–25</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0CF"/>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0"/>
                </a:solidFill>
                <a:latin typeface="IBM Plex Sans" pitchFamily="34" charset="0"/>
                <a:ea typeface="IBM Plex Sans" pitchFamily="34" charset="-122"/>
                <a:cs typeface="IBM Plex Sans" pitchFamily="34" charset="-120"/>
              </a:rPr>
              <a:t>CHECKPOINT · TURN TO YOUR NEIGHBOUR · 60 SECONDS</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Can you explain GAN in one breath?</a:t>
            </a:r>
            <a:endParaRPr lang="en-US" sz="3200" dirty="0"/>
          </a:p>
        </p:txBody>
      </p:sp>
      <p:sp>
        <p:nvSpPr>
          <p:cNvPr id="4" name="Text 2"/>
          <p:cNvSpPr/>
          <p:nvPr/>
        </p:nvSpPr>
        <p:spPr>
          <a:xfrm>
            <a:off x="812800" y="1905000"/>
            <a:ext cx="536321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4213D"/>
                </a:solidFill>
                <a:latin typeface="IBM Plex Sans" pitchFamily="34" charset="0"/>
                <a:ea typeface="IBM Plex Sans" pitchFamily="34" charset="-122"/>
                <a:cs typeface="IBM Plex Sans" pitchFamily="34" charset="-120"/>
              </a:rPr>
              <a:t>Q1.</a:t>
            </a:r>
            <a:r>
              <a:rPr lang="en-US" sz="1700" dirty="0">
                <a:solidFill>
                  <a:srgbClr val="14213D"/>
                </a:solidFill>
                <a:latin typeface="IBM Plex Sans" pitchFamily="34" charset="0"/>
                <a:ea typeface="IBM Plex Sans" pitchFamily="34" charset="-122"/>
                <a:cs typeface="IBM Plex Sans" pitchFamily="34" charset="-120"/>
              </a:rPr>
              <a:t> What does GAN stand for?</a:t>
            </a:r>
            <a:endParaRPr lang="en-US" sz="1700" dirty="0"/>
          </a:p>
        </p:txBody>
      </p:sp>
      <p:sp>
        <p:nvSpPr>
          <p:cNvPr id="5" name="Text 3"/>
          <p:cNvSpPr/>
          <p:nvPr/>
        </p:nvSpPr>
        <p:spPr>
          <a:xfrm>
            <a:off x="6350000" y="1905000"/>
            <a:ext cx="518007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563A8"/>
                </a:solidFill>
                <a:latin typeface="IBM Plex Sans" pitchFamily="34" charset="0"/>
                <a:ea typeface="IBM Plex Sans" pitchFamily="34" charset="-122"/>
                <a:cs typeface="IBM Plex Sans" pitchFamily="34" charset="-120"/>
              </a:rPr>
              <a:t>Generative Adversarial Network(s)</a:t>
            </a:r>
            <a:endParaRPr lang="en-US" sz="1600" dirty="0"/>
          </a:p>
        </p:txBody>
      </p:sp>
      <p:sp>
        <p:nvSpPr>
          <p:cNvPr id="6" name="Text 4"/>
          <p:cNvSpPr/>
          <p:nvPr/>
        </p:nvSpPr>
        <p:spPr>
          <a:xfrm>
            <a:off x="812800" y="2730500"/>
            <a:ext cx="536321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4213D"/>
                </a:solidFill>
                <a:latin typeface="IBM Plex Sans" pitchFamily="34" charset="0"/>
                <a:ea typeface="IBM Plex Sans" pitchFamily="34" charset="-122"/>
                <a:cs typeface="IBM Plex Sans" pitchFamily="34" charset="-120"/>
              </a:rPr>
              <a:t>Q2.</a:t>
            </a:r>
            <a:r>
              <a:rPr lang="en-US" sz="1700" dirty="0">
                <a:solidFill>
                  <a:srgbClr val="14213D"/>
                </a:solidFill>
                <a:latin typeface="IBM Plex Sans" pitchFamily="34" charset="0"/>
                <a:ea typeface="IBM Plex Sans" pitchFamily="34" charset="-122"/>
                <a:cs typeface="IBM Plex Sans" pitchFamily="34" charset="-120"/>
              </a:rPr>
              <a:t> In the counterfeiter story, who is G and who is D?</a:t>
            </a:r>
            <a:endParaRPr lang="en-US" sz="1700" dirty="0"/>
          </a:p>
        </p:txBody>
      </p:sp>
      <p:sp>
        <p:nvSpPr>
          <p:cNvPr id="7" name="Text 5"/>
          <p:cNvSpPr/>
          <p:nvPr/>
        </p:nvSpPr>
        <p:spPr>
          <a:xfrm>
            <a:off x="6350000" y="2730500"/>
            <a:ext cx="5180076"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563A8"/>
                </a:solidFill>
                <a:latin typeface="IBM Plex Sans" pitchFamily="34" charset="0"/>
                <a:ea typeface="IBM Plex Sans" pitchFamily="34" charset="-122"/>
                <a:cs typeface="IBM Plex Sans" pitchFamily="34" charset="-120"/>
              </a:rPr>
              <a:t>Counterfeiter = G (makes fakes). Police = D (detects fakes).</a:t>
            </a:r>
            <a:endParaRPr lang="en-US" sz="1600" dirty="0"/>
          </a:p>
        </p:txBody>
      </p:sp>
      <p:sp>
        <p:nvSpPr>
          <p:cNvPr id="8" name="Text 6"/>
          <p:cNvSpPr/>
          <p:nvPr/>
        </p:nvSpPr>
        <p:spPr>
          <a:xfrm>
            <a:off x="812800" y="3810000"/>
            <a:ext cx="536321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4213D"/>
                </a:solidFill>
                <a:latin typeface="IBM Plex Sans" pitchFamily="34" charset="0"/>
                <a:ea typeface="IBM Plex Sans" pitchFamily="34" charset="-122"/>
                <a:cs typeface="IBM Plex Sans" pitchFamily="34" charset="-120"/>
              </a:rPr>
              <a:t>Q3.</a:t>
            </a:r>
            <a:r>
              <a:rPr lang="en-US" sz="1700" dirty="0">
                <a:solidFill>
                  <a:srgbClr val="14213D"/>
                </a:solidFill>
                <a:latin typeface="IBM Plex Sans" pitchFamily="34" charset="0"/>
                <a:ea typeface="IBM Plex Sans" pitchFamily="34" charset="-122"/>
                <a:cs typeface="IBM Plex Sans" pitchFamily="34" charset="-120"/>
              </a:rPr>
              <a:t> Why is it called "adversarial"?</a:t>
            </a:r>
            <a:endParaRPr lang="en-US" sz="1700" dirty="0"/>
          </a:p>
        </p:txBody>
      </p:sp>
      <p:sp>
        <p:nvSpPr>
          <p:cNvPr id="9" name="Text 7"/>
          <p:cNvSpPr/>
          <p:nvPr/>
        </p:nvSpPr>
        <p:spPr>
          <a:xfrm>
            <a:off x="6350000" y="3810000"/>
            <a:ext cx="5180076"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563A8"/>
                </a:solidFill>
                <a:latin typeface="IBM Plex Sans" pitchFamily="34" charset="0"/>
                <a:ea typeface="IBM Plex Sans" pitchFamily="34" charset="-122"/>
                <a:cs typeface="IBM Plex Sans" pitchFamily="34" charset="-120"/>
              </a:rPr>
              <a:t>They have opposite goals on the same score: D wants fakes scored "fake"; G wants them scored "real".</a:t>
            </a:r>
            <a:endParaRPr lang="en-US" sz="1600" dirty="0"/>
          </a:p>
        </p:txBody>
      </p:sp>
      <p:sp>
        <p:nvSpPr>
          <p:cNvPr id="10" name="Text 8"/>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1 · 02 Adversarial · min 25–27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1905000"/>
            <a:ext cx="3924300"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E9B949"/>
                </a:solidFill>
                <a:latin typeface="Space Grotesk" pitchFamily="34" charset="0"/>
                <a:ea typeface="Space Grotesk" pitchFamily="34" charset="-122"/>
                <a:cs typeface="Space Grotesk" pitchFamily="34" charset="-120"/>
              </a:rPr>
              <a:t>03</a:t>
            </a:r>
            <a:endParaRPr lang="en-US" sz="8000" dirty="0"/>
          </a:p>
        </p:txBody>
      </p:sp>
      <p:sp>
        <p:nvSpPr>
          <p:cNvPr id="3" name="Text 1"/>
          <p:cNvSpPr/>
          <p:nvPr/>
        </p:nvSpPr>
        <p:spPr>
          <a:xfrm>
            <a:off x="812800" y="3175000"/>
            <a:ext cx="7194550" cy="125472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6F3EC"/>
                </a:solidFill>
                <a:latin typeface="Space Grotesk" pitchFamily="34" charset="0"/>
                <a:ea typeface="Space Grotesk" pitchFamily="34" charset="-122"/>
                <a:cs typeface="Space Grotesk" pitchFamily="34" charset="-120"/>
              </a:rPr>
              <a:t>Our running example: the flower forger</a:t>
            </a:r>
            <a:endParaRPr lang="en-US" sz="4400" dirty="0"/>
          </a:p>
        </p:txBody>
      </p:sp>
      <p:sp>
        <p:nvSpPr>
          <p:cNvPr id="4" name="Text 2"/>
          <p:cNvSpPr/>
          <p:nvPr/>
        </p:nvSpPr>
        <p:spPr>
          <a:xfrm>
            <a:off x="812800" y="4699000"/>
            <a:ext cx="7194550"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BFC8D6"/>
                </a:solidFill>
                <a:latin typeface="IBM Plex Sans" pitchFamily="34" charset="0"/>
                <a:ea typeface="IBM Plex Sans" pitchFamily="34" charset="-122"/>
                <a:cs typeface="IBM Plex Sans" pitchFamily="34" charset="-120"/>
              </a:rPr>
              <a:t>We keep this one story until the notebook.</a:t>
            </a:r>
            <a:endParaRPr lang="en-US" sz="1800" dirty="0"/>
          </a:p>
        </p:txBody>
      </p:sp>
      <p:sp>
        <p:nvSpPr>
          <p:cNvPr id="5" name="Shape 3"/>
          <p:cNvSpPr/>
          <p:nvPr/>
        </p:nvSpPr>
        <p:spPr>
          <a:xfrm>
            <a:off x="8445500" y="1905000"/>
            <a:ext cx="2921000" cy="2921000"/>
          </a:xfrm>
          <a:prstGeom prst="roundRect">
            <a:avLst>
              <a:gd name="adj" fmla="val 5217"/>
            </a:avLst>
          </a:prstGeom>
          <a:solidFill>
            <a:srgbClr val="F6F3EC"/>
          </a:solidFill>
          <a:ln/>
        </p:spPr>
      </p:sp>
      <p:pic>
        <p:nvPicPr>
          <p:cNvPr id="6" name="Image 0" descr="Illustrated real yellow flower">    </p:cNvPr>
          <p:cNvPicPr>
            <a:picLocks noChangeAspect="1"/>
          </p:cNvPicPr>
          <p:nvPr/>
        </p:nvPicPr>
        <p:blipFill>
          <a:blip r:embed="rId1"/>
          <a:srcRect l="0" r="0" t="0" b="0"/>
          <a:stretch/>
        </p:blipFill>
        <p:spPr>
          <a:xfrm>
            <a:off x="8572500" y="2032000"/>
            <a:ext cx="2667000" cy="2667000"/>
          </a:xfrm>
          <a:prstGeom prst="rect">
            <a:avLst/>
          </a:prstGeom>
        </p:spPr>
      </p:pic>
      <p:sp>
        <p:nvSpPr>
          <p:cNvPr id="7" name="Text 4"/>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E9AAF"/>
                </a:solidFill>
                <a:latin typeface="IBM Plex Sans" pitchFamily="34" charset="0"/>
                <a:ea typeface="IBM Plex Sans" pitchFamily="34" charset="-122"/>
                <a:cs typeface="IBM Plex Sans" pitchFamily="34" charset="-120"/>
              </a:rPr>
              <a:t>GAN Class 1 · min 27–30</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03 · THE CAST OF OUR STORY</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Same two players, many names</a:t>
            </a:r>
            <a:endParaRPr lang="en-US" sz="3200" dirty="0"/>
          </a:p>
        </p:txBody>
      </p:sp>
      <p:sp>
        <p:nvSpPr>
          <p:cNvPr id="4" name="Shape 2"/>
          <p:cNvSpPr/>
          <p:nvPr/>
        </p:nvSpPr>
        <p:spPr>
          <a:xfrm>
            <a:off x="819150" y="1784350"/>
            <a:ext cx="10553700" cy="4051300"/>
          </a:xfrm>
          <a:prstGeom prst="roundRect">
            <a:avLst>
              <a:gd name="adj" fmla="val 2351"/>
            </a:avLst>
          </a:prstGeom>
          <a:solidFill>
            <a:srgbClr val="FFFDF8"/>
          </a:solidFill>
          <a:ln w="12700">
            <a:solidFill>
              <a:srgbClr val="E4DED0"/>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1028700" y="1917700"/>
          <a:ext cx="10147300" cy="2063750"/>
        </p:xfrm>
        <a:graphic>
          <a:graphicData uri="http://schemas.openxmlformats.org/drawingml/2006/table">
            <a:tbl>
              <a:tblPr/>
              <a:tblGrid>
                <a:gridCol w="3450082"/>
                <a:gridCol w="3247136"/>
                <a:gridCol w="3450082"/>
              </a:tblGrid>
              <a:tr h="412750">
                <a:tc>
                  <a:txBody>
                    <a:bodyPr/>
                    <a:lstStyle/>
                    <a:p>
                      <a:pPr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In our story</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Original GAN paper (2014)</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Notebook code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r>
              <a:tr h="41275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Real flower photos (the dataset)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genuine money</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train_loader (MNIST)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1275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The forger = Generator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0B9C3"/>
                      </a:solidFill>
                      <a:prstDash val="solid"/>
                      <a:round/>
                      <a:headEnd type="none" w="med" len="med"/>
                      <a:tailEnd type="none" w="med" len="med"/>
                    </a:lnB>
                    <a:solidFill>
                      <a:srgbClr val="DCE8F5"/>
                    </a:solidFill>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counterfeiter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0B9C3"/>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0B9C3"/>
                      </a:solidFill>
                      <a:prstDash val="solid"/>
                      <a:round/>
                      <a:headEnd type="none" w="med" len="med"/>
                      <a:tailEnd type="none" w="med" len="med"/>
                    </a:lnB>
                    <a:solidFill>
                      <a:srgbClr val="DCE8F5"/>
                    </a:solidFill>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Generator()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0B9C3"/>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0B9C3"/>
                      </a:solidFill>
                      <a:prstDash val="solid"/>
                      <a:round/>
                      <a:headEnd type="none" w="med" len="med"/>
                      <a:tailEnd type="none" w="med" len="med"/>
                    </a:lnB>
                    <a:solidFill>
                      <a:srgbClr val="DCE8F5"/>
                    </a:solidFill>
                  </a:tcPr>
                </a:tc>
              </a:tr>
              <a:tr h="41275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The inspector = Discriminator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B4A9"/>
                      </a:solidFill>
                      <a:prstDash val="solid"/>
                      <a:round/>
                      <a:headEnd type="none" w="med" len="med"/>
                      <a:tailEnd type="none" w="med" len="med"/>
                    </a:lnR>
                    <a:lnT w="12700" cap="flat" cmpd="sng" algn="ctr">
                      <a:solidFill>
                        <a:srgbClr val="B0B9C3"/>
                      </a:solidFill>
                      <a:prstDash val="solid"/>
                      <a:round/>
                      <a:headEnd type="none" w="med" len="med"/>
                      <a:tailEnd type="none" w="med" len="med"/>
                    </a:lnT>
                    <a:lnB w="12700" cap="flat" cmpd="sng" algn="ctr">
                      <a:solidFill>
                        <a:srgbClr val="C4B4A9"/>
                      </a:solidFill>
                      <a:prstDash val="solid"/>
                      <a:round/>
                      <a:headEnd type="none" w="med" len="med"/>
                      <a:tailEnd type="none" w="med" len="med"/>
                    </a:lnB>
                    <a:solidFill>
                      <a:srgbClr val="F6E1D3"/>
                    </a:solidFill>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police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B4A9"/>
                      </a:solidFill>
                      <a:prstDash val="solid"/>
                      <a:round/>
                      <a:headEnd type="none" w="med" len="med"/>
                      <a:tailEnd type="none" w="med" len="med"/>
                    </a:lnL>
                    <a:lnR w="12700" cap="flat" cmpd="sng" algn="ctr">
                      <a:solidFill>
                        <a:srgbClr val="C4B4A9"/>
                      </a:solidFill>
                      <a:prstDash val="solid"/>
                      <a:round/>
                      <a:headEnd type="none" w="med" len="med"/>
                      <a:tailEnd type="none" w="med" len="med"/>
                    </a:lnR>
                    <a:lnT w="12700" cap="flat" cmpd="sng" algn="ctr">
                      <a:solidFill>
                        <a:srgbClr val="B0B9C3"/>
                      </a:solidFill>
                      <a:prstDash val="solid"/>
                      <a:round/>
                      <a:headEnd type="none" w="med" len="med"/>
                      <a:tailEnd type="none" w="med" len="med"/>
                    </a:lnT>
                    <a:lnB w="12700" cap="flat" cmpd="sng" algn="ctr">
                      <a:solidFill>
                        <a:srgbClr val="C4B4A9"/>
                      </a:solidFill>
                      <a:prstDash val="solid"/>
                      <a:round/>
                      <a:headEnd type="none" w="med" len="med"/>
                      <a:tailEnd type="none" w="med" len="med"/>
                    </a:lnB>
                    <a:solidFill>
                      <a:srgbClr val="F6E1D3"/>
                    </a:solidFill>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Discriminator()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B4A9"/>
                      </a:solidFill>
                      <a:prstDash val="solid"/>
                      <a:round/>
                      <a:headEnd type="none" w="med" len="med"/>
                      <a:tailEnd type="none" w="med" len="med"/>
                    </a:lnL>
                    <a:lnR w="12700" cap="flat" cmpd="sng" algn="ctr">
                      <a:solidFill>
                        <a:srgbClr val="C4B4A9"/>
                      </a:solidFill>
                      <a:prstDash val="solid"/>
                      <a:round/>
                      <a:headEnd type="none" w="med" len="med"/>
                      <a:tailEnd type="none" w="med" len="med"/>
                    </a:lnR>
                    <a:lnT w="12700" cap="flat" cmpd="sng" algn="ctr">
                      <a:solidFill>
                        <a:srgbClr val="B0B9C3"/>
                      </a:solidFill>
                      <a:prstDash val="solid"/>
                      <a:round/>
                      <a:headEnd type="none" w="med" len="med"/>
                      <a:tailEnd type="none" w="med" len="med"/>
                    </a:lnT>
                    <a:lnB w="12700" cap="flat" cmpd="sng" algn="ctr">
                      <a:solidFill>
                        <a:srgbClr val="C4B4A9"/>
                      </a:solidFill>
                      <a:prstDash val="solid"/>
                      <a:round/>
                      <a:headEnd type="none" w="med" len="med"/>
                      <a:tailEnd type="none" w="med" len="med"/>
                    </a:lnB>
                    <a:solidFill>
                      <a:srgbClr val="F6E1D3"/>
                    </a:solidFill>
                  </a:tcPr>
                </a:tc>
              </a:tr>
              <a:tr h="41275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The verdict, P(real)</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B4A9"/>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caught / not caught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B4A9"/>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Sigmoid, 0 to 1</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B4A9"/>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6" name="Text 3"/>
          <p:cNvSpPr/>
          <p:nvPr/>
        </p:nvSpPr>
        <p:spPr>
          <a:xfrm>
            <a:off x="1016000" y="4826000"/>
            <a:ext cx="1046480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D4657"/>
                </a:solidFill>
                <a:latin typeface="IBM Plex Sans" pitchFamily="34" charset="0"/>
                <a:ea typeface="IBM Plex Sans" pitchFamily="34" charset="-122"/>
                <a:cs typeface="IBM Plex Sans" pitchFamily="34" charset="-120"/>
              </a:rPr>
              <a:t>Original GAN paper: Goodfellow et al., </a:t>
            </a:r>
            <a:r>
              <a:rPr lang="en-US" sz="1300" u="sng" dirty="0">
                <a:solidFill>
                  <a:srgbClr val="3D4657"/>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"Generative Adversarial Nets"</a:t>
            </a:r>
            <a:r>
              <a:rPr lang="en-US" sz="1300" dirty="0">
                <a:solidFill>
                  <a:srgbClr val="3D4657"/>
                </a:solidFill>
                <a:latin typeface="IBM Plex Sans" pitchFamily="34" charset="0"/>
                <a:ea typeface="IBM Plex Sans" pitchFamily="34" charset="-122"/>
                <a:cs typeface="IBM Plex Sans" pitchFamily="34" charset="-120"/>
              </a:rPr>
              <a:t>, NeurIPS 2014 · arxiv.org/abs/1406.2661</a:t>
            </a:r>
            <a:endParaRPr lang="en-US" sz="1300" dirty="0"/>
          </a:p>
        </p:txBody>
      </p:sp>
      <p:sp>
        <p:nvSpPr>
          <p:cNvPr id="7" name="Text 4"/>
          <p:cNvSpPr/>
          <p:nvPr/>
        </p:nvSpPr>
        <p:spPr>
          <a:xfrm>
            <a:off x="1016000" y="5302250"/>
            <a:ext cx="1046480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4213D"/>
                </a:solidFill>
                <a:latin typeface="IBM Plex Sans" pitchFamily="34" charset="0"/>
                <a:ea typeface="IBM Plex Sans" pitchFamily="34" charset="-122"/>
                <a:cs typeface="IBM Plex Sans" pitchFamily="34" charset="-120"/>
              </a:rPr>
              <a:t>One rule for the rest of the deck: </a:t>
            </a:r>
            <a:r>
              <a:rPr lang="en-US" sz="1500" b="1" dirty="0">
                <a:solidFill>
                  <a:srgbClr val="2563A8"/>
                </a:solidFill>
                <a:latin typeface="IBM Plex Sans" pitchFamily="34" charset="0"/>
                <a:ea typeface="IBM Plex Sans" pitchFamily="34" charset="-122"/>
                <a:cs typeface="IBM Plex Sans" pitchFamily="34" charset="-120"/>
              </a:rPr>
              <a:t>blue = forger = Generator</a:t>
            </a:r>
            <a:r>
              <a:rPr lang="en-US" sz="1500" dirty="0">
                <a:solidFill>
                  <a:srgbClr val="14213D"/>
                </a:solidFill>
                <a:latin typeface="IBM Plex Sans" pitchFamily="34" charset="0"/>
                <a:ea typeface="IBM Plex Sans" pitchFamily="34" charset="-122"/>
                <a:cs typeface="IBM Plex Sans" pitchFamily="34" charset="-120"/>
              </a:rPr>
              <a:t>, </a:t>
            </a:r>
            <a:r>
              <a:rPr lang="en-US" sz="1500" b="1" dirty="0">
                <a:solidFill>
                  <a:srgbClr val="B24E17"/>
                </a:solidFill>
                <a:latin typeface="IBM Plex Sans" pitchFamily="34" charset="0"/>
                <a:ea typeface="IBM Plex Sans" pitchFamily="34" charset="-122"/>
                <a:cs typeface="IBM Plex Sans" pitchFamily="34" charset="-120"/>
              </a:rPr>
              <a:t>orange = inspector = Discriminator</a:t>
            </a:r>
            <a:r>
              <a:rPr lang="en-US" sz="1500" dirty="0">
                <a:solidFill>
                  <a:srgbClr val="14213D"/>
                </a:solidFill>
                <a:latin typeface="IBM Plex Sans" pitchFamily="34" charset="0"/>
                <a:ea typeface="IBM Plex Sans" pitchFamily="34" charset="-122"/>
                <a:cs typeface="IBM Plex Sans" pitchFamily="34" charset="-120"/>
              </a:rPr>
              <a:t>.</a:t>
            </a:r>
            <a:endParaRPr lang="en-US" sz="1500" dirty="0"/>
          </a:p>
        </p:txBody>
      </p:sp>
      <p:sp>
        <p:nvSpPr>
          <p:cNvPr id="8" name="Text 5"/>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1 · 03 Running example · min 27–30</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2563A8"/>
        </a:solidFill>
      </p:bgPr>
    </p:bg>
    <p:spTree>
      <p:nvGrpSpPr>
        <p:cNvPr id="1" name=""/>
        <p:cNvGrpSpPr/>
        <p:nvPr/>
      </p:nvGrpSpPr>
      <p:grpSpPr>
        <a:xfrm>
          <a:off x="0" y="0"/>
          <a:ext cx="0" cy="0"/>
          <a:chOff x="0" y="0"/>
          <a:chExt cx="0" cy="0"/>
        </a:xfrm>
      </p:grpSpPr>
      <p:sp>
        <p:nvSpPr>
          <p:cNvPr id="2" name="Text 0"/>
          <p:cNvSpPr/>
          <p:nvPr/>
        </p:nvSpPr>
        <p:spPr>
          <a:xfrm>
            <a:off x="812800" y="1905000"/>
            <a:ext cx="3924300"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F6F3EC"/>
                </a:solidFill>
                <a:latin typeface="Space Grotesk" pitchFamily="34" charset="0"/>
                <a:ea typeface="Space Grotesk" pitchFamily="34" charset="-122"/>
                <a:cs typeface="Space Grotesk" pitchFamily="34" charset="-120"/>
              </a:rPr>
              <a:t>04</a:t>
            </a:r>
            <a:endParaRPr lang="en-US" sz="8000" dirty="0"/>
          </a:p>
        </p:txBody>
      </p:sp>
      <p:sp>
        <p:nvSpPr>
          <p:cNvPr id="3" name="Text 1"/>
          <p:cNvSpPr/>
          <p:nvPr/>
        </p:nvSpPr>
        <p:spPr>
          <a:xfrm>
            <a:off x="812800" y="3175000"/>
            <a:ext cx="9810750"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6F3EC"/>
                </a:solidFill>
                <a:latin typeface="Space Grotesk" pitchFamily="34" charset="0"/>
                <a:ea typeface="Space Grotesk" pitchFamily="34" charset="-122"/>
                <a:cs typeface="Space Grotesk" pitchFamily="34" charset="-120"/>
              </a:rPr>
              <a:t>The Generator: the forger</a:t>
            </a:r>
            <a:endParaRPr lang="en-US" sz="4400" dirty="0"/>
          </a:p>
        </p:txBody>
      </p:sp>
      <p:sp>
        <p:nvSpPr>
          <p:cNvPr id="4" name="Text 2"/>
          <p:cNvSpPr/>
          <p:nvPr/>
        </p:nvSpPr>
        <p:spPr>
          <a:xfrm>
            <a:off x="812800" y="4064000"/>
            <a:ext cx="9156700"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DCE8F5"/>
                </a:solidFill>
                <a:latin typeface="IBM Plex Sans" pitchFamily="34" charset="0"/>
                <a:ea typeface="IBM Plex Sans" pitchFamily="34" charset="-122"/>
                <a:cs typeface="IBM Plex Sans" pitchFamily="34" charset="-120"/>
              </a:rPr>
              <a:t>What goes in, what comes out, and how it learns without ever seeing a real flower.</a:t>
            </a:r>
            <a:endParaRPr lang="en-US" sz="1800" dirty="0"/>
          </a:p>
        </p:txBody>
      </p:sp>
      <p:sp>
        <p:nvSpPr>
          <p:cNvPr id="5" name="Text 3"/>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8F5"/>
                </a:solidFill>
                <a:latin typeface="IBM Plex Sans" pitchFamily="34" charset="0"/>
                <a:ea typeface="IBM Plex Sans" pitchFamily="34" charset="-122"/>
                <a:cs typeface="IBM Plex Sans" pitchFamily="34" charset="-120"/>
              </a:rPr>
              <a:t>GAN Class 1 · min 30–42</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63A8"/>
                </a:solidFill>
                <a:latin typeface="IBM Plex Sans" pitchFamily="34" charset="0"/>
                <a:ea typeface="IBM Plex Sans" pitchFamily="34" charset="-122"/>
                <a:cs typeface="IBM Plex Sans" pitchFamily="34" charset="-120"/>
              </a:rPr>
              <a:t>04 · GENERATOR · ITS JOB</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G turns a random vector into an image</a:t>
            </a:r>
            <a:endParaRPr lang="en-US" sz="3200" dirty="0"/>
          </a:p>
        </p:txBody>
      </p:sp>
      <p:sp>
        <p:nvSpPr>
          <p:cNvPr id="4" name="Shape 2"/>
          <p:cNvSpPr/>
          <p:nvPr/>
        </p:nvSpPr>
        <p:spPr>
          <a:xfrm>
            <a:off x="822325" y="2041525"/>
            <a:ext cx="1377950" cy="2520950"/>
          </a:xfrm>
          <a:prstGeom prst="roundRect">
            <a:avLst>
              <a:gd name="adj" fmla="val 6682"/>
            </a:avLst>
          </a:prstGeom>
          <a:solidFill>
            <a:srgbClr val="FFFDF8"/>
          </a:solidFill>
          <a:ln w="19050">
            <a:solidFill>
              <a:srgbClr val="2563A8"/>
            </a:solidFill>
            <a:prstDash val="dash"/>
          </a:ln>
        </p:spPr>
      </p:sp>
      <p:sp>
        <p:nvSpPr>
          <p:cNvPr id="5" name="Text 3"/>
          <p:cNvSpPr/>
          <p:nvPr/>
        </p:nvSpPr>
        <p:spPr>
          <a:xfrm>
            <a:off x="787400" y="2190750"/>
            <a:ext cx="1447800" cy="1793180"/>
          </a:xfrm>
          <a:prstGeom prst="rect">
            <a:avLst/>
          </a:prstGeom>
          <a:noFill/>
          <a:ln/>
        </p:spPr>
        <p:txBody>
          <a:bodyPr wrap="square" lIns="0" tIns="0" rIns="0" bIns="0" rtlCol="0" anchor="t">
            <a:normAutofit/>
          </a:bodyPr>
          <a:lstStyle/>
          <a:p>
            <a:pPr algn="ctr" indent="0" marL="0">
              <a:lnSpc>
                <a:spcPts val="2320"/>
              </a:lnSpc>
              <a:buNone/>
            </a:pPr>
            <a:r>
              <a:rPr lang="en-US" sz="1600" dirty="0">
                <a:solidFill>
                  <a:srgbClr val="14213D"/>
                </a:solidFill>
                <a:latin typeface="JetBrains Mono" pitchFamily="34" charset="0"/>
                <a:ea typeface="JetBrains Mono" pitchFamily="34" charset="-122"/>
                <a:cs typeface="JetBrains Mono" pitchFamily="34" charset="-120"/>
              </a:rPr>
              <a:t>0.41</a:t>
            </a:r>
            <a:endParaRPr lang="en-US" sz="1600" dirty="0"/>
          </a:p>
          <a:p>
            <a:pPr algn="ctr" indent="0" marL="0">
              <a:lnSpc>
                <a:spcPts val="2320"/>
              </a:lnSpc>
              <a:buNone/>
            </a:pPr>
            <a:r>
              <a:rPr lang="en-US" sz="1600" dirty="0">
                <a:solidFill>
                  <a:srgbClr val="14213D"/>
                </a:solidFill>
                <a:latin typeface="JetBrains Mono" pitchFamily="34" charset="0"/>
                <a:ea typeface="JetBrains Mono" pitchFamily="34" charset="-122"/>
                <a:cs typeface="JetBrains Mono" pitchFamily="34" charset="-120"/>
              </a:rPr>
              <a:t>−1.07</a:t>
            </a:r>
            <a:endParaRPr lang="en-US" sz="1600" dirty="0"/>
          </a:p>
          <a:p>
            <a:pPr algn="ctr" indent="0" marL="0">
              <a:lnSpc>
                <a:spcPts val="2320"/>
              </a:lnSpc>
              <a:buNone/>
            </a:pPr>
            <a:r>
              <a:rPr lang="en-US" sz="1600" dirty="0">
                <a:solidFill>
                  <a:srgbClr val="14213D"/>
                </a:solidFill>
                <a:latin typeface="JetBrains Mono" pitchFamily="34" charset="0"/>
                <a:ea typeface="JetBrains Mono" pitchFamily="34" charset="-122"/>
                <a:cs typeface="JetBrains Mono" pitchFamily="34" charset="-120"/>
              </a:rPr>
              <a:t>0.88</a:t>
            </a:r>
            <a:endParaRPr lang="en-US" sz="1600" dirty="0"/>
          </a:p>
          <a:p>
            <a:pPr algn="ctr" indent="0" marL="0">
              <a:lnSpc>
                <a:spcPts val="2320"/>
              </a:lnSpc>
              <a:buNone/>
            </a:pPr>
            <a:r>
              <a:rPr lang="en-US" sz="1600" dirty="0">
                <a:solidFill>
                  <a:srgbClr val="14213D"/>
                </a:solidFill>
                <a:latin typeface="JetBrains Mono" pitchFamily="34" charset="0"/>
                <a:ea typeface="JetBrains Mono" pitchFamily="34" charset="-122"/>
                <a:cs typeface="JetBrains Mono" pitchFamily="34" charset="-120"/>
              </a:rPr>
              <a:t>−0.25</a:t>
            </a:r>
            <a:endParaRPr lang="en-US" sz="1600" dirty="0"/>
          </a:p>
          <a:p>
            <a:pPr algn="ctr" indent="0" marL="0">
              <a:lnSpc>
                <a:spcPts val="2320"/>
              </a:lnSpc>
              <a:buNone/>
            </a:pPr>
            <a:r>
              <a:rPr lang="en-US" sz="1600" dirty="0">
                <a:solidFill>
                  <a:srgbClr val="14213D"/>
                </a:solidFill>
                <a:latin typeface="JetBrains Mono" pitchFamily="34" charset="0"/>
                <a:ea typeface="JetBrains Mono" pitchFamily="34" charset="-122"/>
                <a:cs typeface="JetBrains Mono" pitchFamily="34" charset="-120"/>
              </a:rPr>
              <a:t>⋮</a:t>
            </a:r>
            <a:endParaRPr lang="en-US" sz="1600" dirty="0"/>
          </a:p>
          <a:p>
            <a:pPr algn="ctr" indent="0" marL="0">
              <a:lnSpc>
                <a:spcPts val="2320"/>
              </a:lnSpc>
              <a:buNone/>
            </a:pPr>
            <a:r>
              <a:rPr lang="en-US" sz="1600" dirty="0">
                <a:solidFill>
                  <a:srgbClr val="14213D"/>
                </a:solidFill>
                <a:latin typeface="JetBrains Mono" pitchFamily="34" charset="0"/>
                <a:ea typeface="JetBrains Mono" pitchFamily="34" charset="-122"/>
                <a:cs typeface="JetBrains Mono" pitchFamily="34" charset="-120"/>
              </a:rPr>
              <a:t>1.62</a:t>
            </a:r>
            <a:endParaRPr lang="en-US" sz="1600" dirty="0"/>
          </a:p>
        </p:txBody>
      </p:sp>
      <p:sp>
        <p:nvSpPr>
          <p:cNvPr id="6" name="Text 4"/>
          <p:cNvSpPr/>
          <p:nvPr/>
        </p:nvSpPr>
        <p:spPr>
          <a:xfrm>
            <a:off x="787400" y="4667250"/>
            <a:ext cx="1447800"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2563A8"/>
                </a:solidFill>
                <a:latin typeface="IBM Plex Sans" pitchFamily="34" charset="0"/>
                <a:ea typeface="IBM Plex Sans" pitchFamily="34" charset="-122"/>
                <a:cs typeface="IBM Plex Sans" pitchFamily="34" charset="-120"/>
              </a:rPr>
              <a:t>z (noise)</a:t>
            </a:r>
            <a:endParaRPr lang="en-US" sz="1500" dirty="0"/>
          </a:p>
        </p:txBody>
      </p:sp>
      <p:pic>
        <p:nvPicPr>
          <p:cNvPr id="7" name="Image 0" descr="arrow-right">    </p:cNvPr>
          <p:cNvPicPr>
            <a:picLocks noChangeAspect="1"/>
          </p:cNvPicPr>
          <p:nvPr/>
        </p:nvPicPr>
        <p:blipFill>
          <a:blip r:embed="rId1"/>
          <a:srcRect l="0" r="0" t="0" b="0"/>
          <a:stretch/>
        </p:blipFill>
        <p:spPr>
          <a:xfrm>
            <a:off x="2413000" y="3111500"/>
            <a:ext cx="762000" cy="381000"/>
          </a:xfrm>
          <a:prstGeom prst="rect">
            <a:avLst/>
          </a:prstGeom>
        </p:spPr>
      </p:pic>
      <p:sp>
        <p:nvSpPr>
          <p:cNvPr id="8" name="Shape 5"/>
          <p:cNvSpPr/>
          <p:nvPr/>
        </p:nvSpPr>
        <p:spPr>
          <a:xfrm>
            <a:off x="3365500" y="2540000"/>
            <a:ext cx="2667000" cy="1524000"/>
          </a:xfrm>
          <a:prstGeom prst="roundRect">
            <a:avLst>
              <a:gd name="adj" fmla="val 10000"/>
            </a:avLst>
          </a:prstGeom>
          <a:solidFill>
            <a:srgbClr val="2563A8"/>
          </a:solidFill>
          <a:ln/>
        </p:spPr>
      </p:sp>
      <p:sp>
        <p:nvSpPr>
          <p:cNvPr id="9" name="Text 6"/>
          <p:cNvSpPr/>
          <p:nvPr/>
        </p:nvSpPr>
        <p:spPr>
          <a:xfrm>
            <a:off x="3325495" y="2825750"/>
            <a:ext cx="2747010" cy="523230"/>
          </a:xfrm>
          <a:prstGeom prst="rect">
            <a:avLst/>
          </a:prstGeom>
          <a:noFill/>
          <a:ln/>
        </p:spPr>
        <p:txBody>
          <a:bodyPr wrap="square" lIns="0" tIns="0" rIns="0" bIns="0" rtlCol="0" anchor="t">
            <a:normAutofit/>
          </a:bodyPr>
          <a:lstStyle/>
          <a:p>
            <a:pPr algn="ctr" indent="0" marL="0">
              <a:lnSpc>
                <a:spcPts val="3920"/>
              </a:lnSpc>
              <a:buNone/>
            </a:pPr>
            <a:r>
              <a:rPr lang="en-US" sz="2800" b="1" dirty="0">
                <a:solidFill>
                  <a:srgbClr val="F6F3EC"/>
                </a:solidFill>
                <a:latin typeface="Space Grotesk" pitchFamily="34" charset="0"/>
                <a:ea typeface="Space Grotesk" pitchFamily="34" charset="-122"/>
                <a:cs typeface="Space Grotesk" pitchFamily="34" charset="-120"/>
              </a:rPr>
              <a:t>G(z)</a:t>
            </a:r>
            <a:endParaRPr lang="en-US" sz="2800" dirty="0"/>
          </a:p>
        </p:txBody>
      </p:sp>
      <p:sp>
        <p:nvSpPr>
          <p:cNvPr id="10" name="Text 7"/>
          <p:cNvSpPr/>
          <p:nvPr/>
        </p:nvSpPr>
        <p:spPr>
          <a:xfrm>
            <a:off x="3325495" y="3429000"/>
            <a:ext cx="2747010" cy="274290"/>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DCE8F5"/>
                </a:solidFill>
                <a:latin typeface="IBM Plex Sans" pitchFamily="34" charset="0"/>
                <a:ea typeface="IBM Plex Sans" pitchFamily="34" charset="-122"/>
                <a:cs typeface="IBM Plex Sans" pitchFamily="34" charset="-120"/>
              </a:rPr>
              <a:t>trainable weights θ</a:t>
            </a:r>
            <a:r>
              <a:rPr lang="en-US" sz="1400" dirty="0">
                <a:solidFill>
                  <a:srgbClr val="DCE8F5"/>
                </a:solidFill>
                <a:latin typeface="IBM Plex Sans" pitchFamily="34" charset="0"/>
                <a:ea typeface="IBM Plex Sans" pitchFamily="34" charset="-122"/>
                <a:cs typeface="IBM Plex Sans" pitchFamily="34" charset="-120"/>
              </a:rPr>
              <a:t>_G</a:t>
            </a:r>
            <a:endParaRPr lang="en-US" sz="1400" dirty="0"/>
          </a:p>
        </p:txBody>
      </p:sp>
      <p:pic>
        <p:nvPicPr>
          <p:cNvPr id="11" name="Image 1" descr="arrow-right">    </p:cNvPr>
          <p:cNvPicPr>
            <a:picLocks noChangeAspect="1"/>
          </p:cNvPicPr>
          <p:nvPr/>
        </p:nvPicPr>
        <p:blipFill>
          <a:blip r:embed="rId2"/>
          <a:srcRect l="0" r="0" t="0" b="0"/>
          <a:stretch/>
        </p:blipFill>
        <p:spPr>
          <a:xfrm>
            <a:off x="6223000" y="3111500"/>
            <a:ext cx="762000" cy="381000"/>
          </a:xfrm>
          <a:prstGeom prst="rect">
            <a:avLst/>
          </a:prstGeom>
        </p:spPr>
      </p:pic>
      <p:sp>
        <p:nvSpPr>
          <p:cNvPr id="12" name="Shape 8"/>
          <p:cNvSpPr/>
          <p:nvPr/>
        </p:nvSpPr>
        <p:spPr>
          <a:xfrm>
            <a:off x="7185025" y="2168525"/>
            <a:ext cx="2266950" cy="2266950"/>
          </a:xfrm>
          <a:prstGeom prst="roundRect">
            <a:avLst>
              <a:gd name="adj" fmla="val 5182"/>
            </a:avLst>
          </a:prstGeom>
          <a:solidFill>
            <a:srgbClr val="FFFDF8"/>
          </a:solidFill>
          <a:ln w="19050">
            <a:solidFill>
              <a:srgbClr val="2563A8"/>
            </a:solidFill>
            <a:prstDash val="solid"/>
          </a:ln>
        </p:spPr>
      </p:sp>
      <p:pic>
        <p:nvPicPr>
          <p:cNvPr id="13" name="Image 2" descr="A generated flower">    </p:cNvPr>
          <p:cNvPicPr>
            <a:picLocks noChangeAspect="1"/>
          </p:cNvPicPr>
          <p:nvPr/>
        </p:nvPicPr>
        <p:blipFill>
          <a:blip r:embed="rId3"/>
          <a:srcRect l="0" r="0" t="0" b="0"/>
          <a:stretch/>
        </p:blipFill>
        <p:spPr>
          <a:xfrm>
            <a:off x="7302500" y="2286000"/>
            <a:ext cx="2032000" cy="2032000"/>
          </a:xfrm>
          <a:prstGeom prst="rect">
            <a:avLst/>
          </a:prstGeom>
        </p:spPr>
      </p:pic>
      <p:sp>
        <p:nvSpPr>
          <p:cNvPr id="14" name="Text 9"/>
          <p:cNvSpPr/>
          <p:nvPr/>
        </p:nvSpPr>
        <p:spPr>
          <a:xfrm>
            <a:off x="7141210" y="4667250"/>
            <a:ext cx="2354580"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2563A8"/>
                </a:solidFill>
                <a:latin typeface="IBM Plex Sans" pitchFamily="34" charset="0"/>
                <a:ea typeface="IBM Plex Sans" pitchFamily="34" charset="-122"/>
                <a:cs typeface="IBM Plex Sans" pitchFamily="34" charset="-120"/>
              </a:rPr>
              <a:t>fake image G(z)</a:t>
            </a:r>
            <a:endParaRPr lang="en-US" sz="1500" dirty="0"/>
          </a:p>
        </p:txBody>
      </p:sp>
      <p:sp>
        <p:nvSpPr>
          <p:cNvPr id="15" name="Text 10"/>
          <p:cNvSpPr/>
          <p:nvPr/>
        </p:nvSpPr>
        <p:spPr>
          <a:xfrm>
            <a:off x="9779000" y="2286000"/>
            <a:ext cx="1651000" cy="102096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Input</a:t>
            </a:r>
            <a:endParaRPr lang="en-US" sz="1400" dirty="0"/>
          </a:p>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a random vector, not a photo, not a label</a:t>
            </a:r>
            <a:endParaRPr lang="en-US" sz="1400" dirty="0"/>
          </a:p>
        </p:txBody>
      </p:sp>
      <p:sp>
        <p:nvSpPr>
          <p:cNvPr id="16" name="Text 11"/>
          <p:cNvSpPr/>
          <p:nvPr/>
        </p:nvSpPr>
        <p:spPr>
          <a:xfrm>
            <a:off x="9779000" y="3556000"/>
            <a:ext cx="1651000" cy="77207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Output</a:t>
            </a:r>
            <a:endParaRPr lang="en-US" sz="1400" dirty="0"/>
          </a:p>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every pixel of a new image</a:t>
            </a:r>
            <a:endParaRPr lang="en-US" sz="1400" dirty="0"/>
          </a:p>
        </p:txBody>
      </p:sp>
      <p:sp>
        <p:nvSpPr>
          <p:cNvPr id="17" name="Text 12"/>
          <p:cNvSpPr/>
          <p:nvPr/>
        </p:nvSpPr>
        <p:spPr>
          <a:xfrm>
            <a:off x="812800" y="5270500"/>
            <a:ext cx="10883392"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4213D"/>
                </a:solidFill>
                <a:latin typeface="IBM Plex Sans" pitchFamily="34" charset="0"/>
                <a:ea typeface="IBM Plex Sans" pitchFamily="34" charset="-122"/>
                <a:cs typeface="IBM Plex Sans" pitchFamily="34" charset="-120"/>
              </a:rPr>
              <a:t>In one line: the generator takes a random input vector and uses it to create its own fake flower.</a:t>
            </a:r>
            <a:endParaRPr lang="en-US" sz="1600" dirty="0"/>
          </a:p>
        </p:txBody>
      </p:sp>
      <p:sp>
        <p:nvSpPr>
          <p:cNvPr id="18" name="Text 13"/>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1 · 04 Generator · min 30–33</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63A8"/>
                </a:solidFill>
                <a:latin typeface="IBM Plex Sans" pitchFamily="34" charset="0"/>
                <a:ea typeface="IBM Plex Sans" pitchFamily="34" charset="-122"/>
                <a:cs typeface="IBM Plex Sans" pitchFamily="34" charset="-120"/>
              </a:rPr>
              <a:t>04 · GENERATOR · WHY RANDOM INPUT?</a:t>
            </a:r>
            <a:endParaRPr lang="en-US" sz="1200" dirty="0"/>
          </a:p>
        </p:txBody>
      </p:sp>
      <p:sp>
        <p:nvSpPr>
          <p:cNvPr id="3" name="Text 1"/>
          <p:cNvSpPr/>
          <p:nvPr/>
        </p:nvSpPr>
        <p:spPr>
          <a:xfrm>
            <a:off x="812800" y="82550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Different z, different flower: noise is the source of variety</a:t>
            </a:r>
            <a:endParaRPr lang="en-US" sz="3200" dirty="0"/>
          </a:p>
        </p:txBody>
      </p:sp>
      <p:sp>
        <p:nvSpPr>
          <p:cNvPr id="4" name="Text 2"/>
          <p:cNvSpPr/>
          <p:nvPr/>
        </p:nvSpPr>
        <p:spPr>
          <a:xfrm>
            <a:off x="812800" y="2159000"/>
            <a:ext cx="196215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JetBrains Mono" pitchFamily="34" charset="0"/>
                <a:ea typeface="JetBrains Mono" pitchFamily="34" charset="-122"/>
                <a:cs typeface="JetBrains Mono" pitchFamily="34" charset="-120"/>
              </a:rPr>
              <a:t>z₁ = [0.4, −1.1, …]</a:t>
            </a:r>
            <a:endParaRPr lang="en-US" sz="1500" dirty="0"/>
          </a:p>
        </p:txBody>
      </p:sp>
      <p:pic>
        <p:nvPicPr>
          <p:cNvPr id="5" name="Image 0" descr="arrow-right">    </p:cNvPr>
          <p:cNvPicPr>
            <a:picLocks noChangeAspect="1"/>
          </p:cNvPicPr>
          <p:nvPr/>
        </p:nvPicPr>
        <p:blipFill>
          <a:blip r:embed="rId1"/>
          <a:srcRect l="0" r="0" t="0" b="0"/>
          <a:stretch/>
        </p:blipFill>
        <p:spPr>
          <a:xfrm>
            <a:off x="2984500" y="2159000"/>
            <a:ext cx="508000" cy="254000"/>
          </a:xfrm>
          <a:prstGeom prst="rect">
            <a:avLst/>
          </a:prstGeom>
        </p:spPr>
      </p:pic>
      <p:sp>
        <p:nvSpPr>
          <p:cNvPr id="6" name="Shape 3"/>
          <p:cNvSpPr/>
          <p:nvPr/>
        </p:nvSpPr>
        <p:spPr>
          <a:xfrm>
            <a:off x="3683000" y="2095500"/>
            <a:ext cx="825500" cy="381000"/>
          </a:xfrm>
          <a:prstGeom prst="roundRect">
            <a:avLst>
              <a:gd name="adj" fmla="val 20000"/>
            </a:avLst>
          </a:prstGeom>
          <a:solidFill>
            <a:srgbClr val="2563A8"/>
          </a:solidFill>
          <a:ln/>
        </p:spPr>
      </p:sp>
      <p:sp>
        <p:nvSpPr>
          <p:cNvPr id="7" name="Text 4"/>
          <p:cNvSpPr/>
          <p:nvPr/>
        </p:nvSpPr>
        <p:spPr>
          <a:xfrm>
            <a:off x="3657600" y="2146300"/>
            <a:ext cx="876300"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F6F3EC"/>
                </a:solidFill>
                <a:latin typeface="IBM Plex Sans" pitchFamily="34" charset="0"/>
                <a:ea typeface="IBM Plex Sans" pitchFamily="34" charset="-122"/>
                <a:cs typeface="IBM Plex Sans" pitchFamily="34" charset="-120"/>
              </a:rPr>
              <a:t>G</a:t>
            </a:r>
            <a:endParaRPr lang="en-US" sz="1500" dirty="0"/>
          </a:p>
        </p:txBody>
      </p:sp>
      <p:pic>
        <p:nvPicPr>
          <p:cNvPr id="8" name="Image 1" descr="arrow-right">    </p:cNvPr>
          <p:cNvPicPr>
            <a:picLocks noChangeAspect="1"/>
          </p:cNvPicPr>
          <p:nvPr/>
        </p:nvPicPr>
        <p:blipFill>
          <a:blip r:embed="rId2"/>
          <a:srcRect l="0" r="0" t="0" b="0"/>
          <a:stretch/>
        </p:blipFill>
        <p:spPr>
          <a:xfrm>
            <a:off x="4699000" y="2159000"/>
            <a:ext cx="508000" cy="254000"/>
          </a:xfrm>
          <a:prstGeom prst="rect">
            <a:avLst/>
          </a:prstGeom>
        </p:spPr>
      </p:pic>
      <p:pic>
        <p:nvPicPr>
          <p:cNvPr id="9" name="Image 2" descr="Yellow flower">    </p:cNvPr>
          <p:cNvPicPr>
            <a:picLocks noChangeAspect="1"/>
          </p:cNvPicPr>
          <p:nvPr/>
        </p:nvPicPr>
        <p:blipFill>
          <a:blip r:embed="rId3"/>
          <a:srcRect l="0" r="0" t="0" b="0"/>
          <a:stretch/>
        </p:blipFill>
        <p:spPr>
          <a:xfrm>
            <a:off x="5397500" y="1778000"/>
            <a:ext cx="1079500" cy="1079500"/>
          </a:xfrm>
          <a:prstGeom prst="rect">
            <a:avLst/>
          </a:prstGeom>
        </p:spPr>
      </p:pic>
      <p:sp>
        <p:nvSpPr>
          <p:cNvPr id="10" name="Text 5"/>
          <p:cNvSpPr/>
          <p:nvPr/>
        </p:nvSpPr>
        <p:spPr>
          <a:xfrm>
            <a:off x="812800" y="3365500"/>
            <a:ext cx="196215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JetBrains Mono" pitchFamily="34" charset="0"/>
                <a:ea typeface="JetBrains Mono" pitchFamily="34" charset="-122"/>
                <a:cs typeface="JetBrains Mono" pitchFamily="34" charset="-120"/>
              </a:rPr>
              <a:t>z₂ = [−0.7, 0.2, …]</a:t>
            </a:r>
            <a:endParaRPr lang="en-US" sz="1500" dirty="0"/>
          </a:p>
        </p:txBody>
      </p:sp>
      <p:pic>
        <p:nvPicPr>
          <p:cNvPr id="11" name="Image 3" descr="arrow-right">    </p:cNvPr>
          <p:cNvPicPr>
            <a:picLocks noChangeAspect="1"/>
          </p:cNvPicPr>
          <p:nvPr/>
        </p:nvPicPr>
        <p:blipFill>
          <a:blip r:embed="rId4"/>
          <a:srcRect l="0" r="0" t="0" b="0"/>
          <a:stretch/>
        </p:blipFill>
        <p:spPr>
          <a:xfrm>
            <a:off x="2984500" y="3365500"/>
            <a:ext cx="508000" cy="254000"/>
          </a:xfrm>
          <a:prstGeom prst="rect">
            <a:avLst/>
          </a:prstGeom>
        </p:spPr>
      </p:pic>
      <p:sp>
        <p:nvSpPr>
          <p:cNvPr id="12" name="Shape 6"/>
          <p:cNvSpPr/>
          <p:nvPr/>
        </p:nvSpPr>
        <p:spPr>
          <a:xfrm>
            <a:off x="3683000" y="3302000"/>
            <a:ext cx="825500" cy="381000"/>
          </a:xfrm>
          <a:prstGeom prst="roundRect">
            <a:avLst>
              <a:gd name="adj" fmla="val 20000"/>
            </a:avLst>
          </a:prstGeom>
          <a:solidFill>
            <a:srgbClr val="2563A8"/>
          </a:solidFill>
          <a:ln/>
        </p:spPr>
      </p:sp>
      <p:sp>
        <p:nvSpPr>
          <p:cNvPr id="13" name="Text 7"/>
          <p:cNvSpPr/>
          <p:nvPr/>
        </p:nvSpPr>
        <p:spPr>
          <a:xfrm>
            <a:off x="3657600" y="3352800"/>
            <a:ext cx="876300"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F6F3EC"/>
                </a:solidFill>
                <a:latin typeface="IBM Plex Sans" pitchFamily="34" charset="0"/>
                <a:ea typeface="IBM Plex Sans" pitchFamily="34" charset="-122"/>
                <a:cs typeface="IBM Plex Sans" pitchFamily="34" charset="-120"/>
              </a:rPr>
              <a:t>G</a:t>
            </a:r>
            <a:endParaRPr lang="en-US" sz="1500" dirty="0"/>
          </a:p>
        </p:txBody>
      </p:sp>
      <p:pic>
        <p:nvPicPr>
          <p:cNvPr id="14" name="Image 4" descr="arrow-right">    </p:cNvPr>
          <p:cNvPicPr>
            <a:picLocks noChangeAspect="1"/>
          </p:cNvPicPr>
          <p:nvPr/>
        </p:nvPicPr>
        <p:blipFill>
          <a:blip r:embed="rId5"/>
          <a:srcRect l="0" r="0" t="0" b="0"/>
          <a:stretch/>
        </p:blipFill>
        <p:spPr>
          <a:xfrm>
            <a:off x="4699000" y="3365500"/>
            <a:ext cx="508000" cy="254000"/>
          </a:xfrm>
          <a:prstGeom prst="rect">
            <a:avLst/>
          </a:prstGeom>
        </p:spPr>
      </p:pic>
      <p:pic>
        <p:nvPicPr>
          <p:cNvPr id="15" name="Image 5" descr="Pink flower">    </p:cNvPr>
          <p:cNvPicPr>
            <a:picLocks noChangeAspect="1"/>
          </p:cNvPicPr>
          <p:nvPr/>
        </p:nvPicPr>
        <p:blipFill>
          <a:blip r:embed="rId6"/>
          <a:srcRect l="0" r="0" t="0" b="0"/>
          <a:stretch/>
        </p:blipFill>
        <p:spPr>
          <a:xfrm>
            <a:off x="5397500" y="2984500"/>
            <a:ext cx="1079500" cy="1079500"/>
          </a:xfrm>
          <a:prstGeom prst="rect">
            <a:avLst/>
          </a:prstGeom>
        </p:spPr>
      </p:pic>
      <p:sp>
        <p:nvSpPr>
          <p:cNvPr id="16" name="Text 8"/>
          <p:cNvSpPr/>
          <p:nvPr/>
        </p:nvSpPr>
        <p:spPr>
          <a:xfrm>
            <a:off x="812800" y="4572000"/>
            <a:ext cx="196215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JetBrains Mono" pitchFamily="34" charset="0"/>
                <a:ea typeface="JetBrains Mono" pitchFamily="34" charset="-122"/>
                <a:cs typeface="JetBrains Mono" pitchFamily="34" charset="-120"/>
              </a:rPr>
              <a:t>z₃ = [1.3, 0.9, …]</a:t>
            </a:r>
            <a:endParaRPr lang="en-US" sz="1500" dirty="0"/>
          </a:p>
        </p:txBody>
      </p:sp>
      <p:pic>
        <p:nvPicPr>
          <p:cNvPr id="17" name="Image 6" descr="arrow-right">    </p:cNvPr>
          <p:cNvPicPr>
            <a:picLocks noChangeAspect="1"/>
          </p:cNvPicPr>
          <p:nvPr/>
        </p:nvPicPr>
        <p:blipFill>
          <a:blip r:embed="rId7"/>
          <a:srcRect l="0" r="0" t="0" b="0"/>
          <a:stretch/>
        </p:blipFill>
        <p:spPr>
          <a:xfrm>
            <a:off x="2984500" y="4572000"/>
            <a:ext cx="508000" cy="254000"/>
          </a:xfrm>
          <a:prstGeom prst="rect">
            <a:avLst/>
          </a:prstGeom>
        </p:spPr>
      </p:pic>
      <p:sp>
        <p:nvSpPr>
          <p:cNvPr id="18" name="Shape 9"/>
          <p:cNvSpPr/>
          <p:nvPr/>
        </p:nvSpPr>
        <p:spPr>
          <a:xfrm>
            <a:off x="3683000" y="4508500"/>
            <a:ext cx="825500" cy="381000"/>
          </a:xfrm>
          <a:prstGeom prst="roundRect">
            <a:avLst>
              <a:gd name="adj" fmla="val 20000"/>
            </a:avLst>
          </a:prstGeom>
          <a:solidFill>
            <a:srgbClr val="2563A8"/>
          </a:solidFill>
          <a:ln/>
        </p:spPr>
      </p:sp>
      <p:sp>
        <p:nvSpPr>
          <p:cNvPr id="19" name="Text 10"/>
          <p:cNvSpPr/>
          <p:nvPr/>
        </p:nvSpPr>
        <p:spPr>
          <a:xfrm>
            <a:off x="3657600" y="4559300"/>
            <a:ext cx="876300"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F6F3EC"/>
                </a:solidFill>
                <a:latin typeface="IBM Plex Sans" pitchFamily="34" charset="0"/>
                <a:ea typeface="IBM Plex Sans" pitchFamily="34" charset="-122"/>
                <a:cs typeface="IBM Plex Sans" pitchFamily="34" charset="-120"/>
              </a:rPr>
              <a:t>G</a:t>
            </a:r>
            <a:endParaRPr lang="en-US" sz="1500" dirty="0"/>
          </a:p>
        </p:txBody>
      </p:sp>
      <p:pic>
        <p:nvPicPr>
          <p:cNvPr id="20" name="Image 7" descr="arrow-right">    </p:cNvPr>
          <p:cNvPicPr>
            <a:picLocks noChangeAspect="1"/>
          </p:cNvPicPr>
          <p:nvPr/>
        </p:nvPicPr>
        <p:blipFill>
          <a:blip r:embed="rId8"/>
          <a:srcRect l="0" r="0" t="0" b="0"/>
          <a:stretch/>
        </p:blipFill>
        <p:spPr>
          <a:xfrm>
            <a:off x="4699000" y="4572000"/>
            <a:ext cx="508000" cy="254000"/>
          </a:xfrm>
          <a:prstGeom prst="rect">
            <a:avLst/>
          </a:prstGeom>
        </p:spPr>
      </p:pic>
      <p:pic>
        <p:nvPicPr>
          <p:cNvPr id="21" name="Image 8" descr="Purple flower">    </p:cNvPr>
          <p:cNvPicPr>
            <a:picLocks noChangeAspect="1"/>
          </p:cNvPicPr>
          <p:nvPr/>
        </p:nvPicPr>
        <p:blipFill>
          <a:blip r:embed="rId9"/>
          <a:srcRect l="0" r="0" t="0" b="0"/>
          <a:stretch/>
        </p:blipFill>
        <p:spPr>
          <a:xfrm>
            <a:off x="5397500" y="4191000"/>
            <a:ext cx="1079500" cy="1079500"/>
          </a:xfrm>
          <a:prstGeom prst="rect">
            <a:avLst/>
          </a:prstGeom>
        </p:spPr>
      </p:pic>
      <p:sp>
        <p:nvSpPr>
          <p:cNvPr id="22" name="Shape 11"/>
          <p:cNvSpPr/>
          <p:nvPr/>
        </p:nvSpPr>
        <p:spPr>
          <a:xfrm>
            <a:off x="7048500" y="1905000"/>
            <a:ext cx="4330700" cy="3556000"/>
          </a:xfrm>
          <a:prstGeom prst="roundRect">
            <a:avLst>
              <a:gd name="adj" fmla="val 3571"/>
            </a:avLst>
          </a:prstGeom>
          <a:solidFill>
            <a:srgbClr val="DCE8F5"/>
          </a:solidFill>
          <a:ln/>
        </p:spPr>
      </p:sp>
      <p:sp>
        <p:nvSpPr>
          <p:cNvPr id="23" name="Text 12"/>
          <p:cNvSpPr/>
          <p:nvPr/>
        </p:nvSpPr>
        <p:spPr>
          <a:xfrm>
            <a:off x="7302500" y="2095500"/>
            <a:ext cx="39243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563A8"/>
                </a:solidFill>
                <a:latin typeface="Space Grotesk" pitchFamily="34" charset="0"/>
                <a:ea typeface="Space Grotesk" pitchFamily="34" charset="-122"/>
                <a:cs typeface="Space Grotesk" pitchFamily="34" charset="-120"/>
              </a:rPr>
              <a:t>Why this works</a:t>
            </a:r>
            <a:endParaRPr lang="en-US" sz="2000" dirty="0"/>
          </a:p>
        </p:txBody>
      </p:sp>
      <p:sp>
        <p:nvSpPr>
          <p:cNvPr id="24" name="Text 13"/>
          <p:cNvSpPr/>
          <p:nvPr/>
        </p:nvSpPr>
        <p:spPr>
          <a:xfrm>
            <a:off x="7302500" y="2540000"/>
            <a:ext cx="3989705" cy="21590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G is deterministic. </a:t>
            </a:r>
            <a:r>
              <a:rPr lang="en-US" sz="1500" b="1" dirty="0">
                <a:solidFill>
                  <a:srgbClr val="14213D"/>
                </a:solidFill>
                <a:latin typeface="IBM Plex Sans" pitchFamily="34" charset="0"/>
                <a:ea typeface="IBM Plex Sans" pitchFamily="34" charset="-122"/>
                <a:cs typeface="IBM Plex Sans" pitchFamily="34" charset="-120"/>
              </a:rPr>
              <a:t>All the randomness comes from z.</a:t>
            </a:r>
            <a:endParaRPr lang="en-US" sz="1500" dirty="0"/>
          </a:p>
          <a:p>
            <a:pPr algn="l" indent="0" marL="0">
              <a:lnSpc>
                <a:spcPts val="2100"/>
              </a:lnSpc>
              <a:buNone/>
            </a:pPr>
            <a:endParaRPr lang="en-US" sz="1500" dirty="0"/>
          </a:p>
          <a:p>
            <a:pPr algn="l"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Sampling z is easy: </a:t>
            </a:r>
            <a:r>
              <a:rPr lang="en-US" sz="1500" b="1" dirty="0">
                <a:solidFill>
                  <a:srgbClr val="2563A8"/>
                </a:solidFill>
                <a:latin typeface="IBM Plex Sans" pitchFamily="34" charset="0"/>
                <a:ea typeface="IBM Plex Sans" pitchFamily="34" charset="-122"/>
                <a:cs typeface="IBM Plex Sans" pitchFamily="34" charset="-120"/>
              </a:rPr>
              <a:t>torch.randn(64, 100)</a:t>
            </a:r>
            <a:endParaRPr lang="en-US" sz="1500" dirty="0"/>
          </a:p>
          <a:p>
            <a:pPr algn="l" indent="0" marL="0">
              <a:lnSpc>
                <a:spcPts val="2100"/>
              </a:lnSpc>
              <a:buNone/>
            </a:pPr>
            <a:endParaRPr lang="en-US" sz="1500" dirty="0"/>
          </a:p>
          <a:p>
            <a:pPr algn="l"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G learns to map this simple cloud of points onto the complicated set of "all flowers". The space z lives in is the </a:t>
            </a:r>
            <a:r>
              <a:rPr lang="en-US" sz="1500" b="1" dirty="0">
                <a:solidFill>
                  <a:srgbClr val="14213D"/>
                </a:solidFill>
                <a:latin typeface="IBM Plex Sans" pitchFamily="34" charset="0"/>
                <a:ea typeface="IBM Plex Sans" pitchFamily="34" charset="-122"/>
                <a:cs typeface="IBM Plex Sans" pitchFamily="34" charset="-120"/>
              </a:rPr>
              <a:t>latent space</a:t>
            </a:r>
            <a:r>
              <a:rPr lang="en-US" sz="1500" dirty="0">
                <a:solidFill>
                  <a:srgbClr val="14213D"/>
                </a:solidFill>
                <a:latin typeface="IBM Plex Sans" pitchFamily="34" charset="0"/>
                <a:ea typeface="IBM Plex Sans" pitchFamily="34" charset="-122"/>
                <a:cs typeface="IBM Plex Sans" pitchFamily="34" charset="-120"/>
              </a:rPr>
              <a:t>.</a:t>
            </a:r>
            <a:endParaRPr lang="en-US" sz="1500" dirty="0"/>
          </a:p>
        </p:txBody>
      </p:sp>
      <p:sp>
        <p:nvSpPr>
          <p:cNvPr id="25" name="Text 14"/>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1 · 04 Generator · min 33–35 · flowers are illustrations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63A8"/>
                </a:solidFill>
                <a:latin typeface="IBM Plex Sans" pitchFamily="34" charset="0"/>
                <a:ea typeface="IBM Plex Sans" pitchFamily="34" charset="-122"/>
                <a:cs typeface="IBM Plex Sans" pitchFamily="34" charset="-120"/>
              </a:rPr>
              <a:t>04 · GENERATOR · BEFORE AND AFTER TRAINING</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Same z every time; only G's weights change</a:t>
            </a:r>
            <a:endParaRPr lang="en-US" sz="3200" dirty="0"/>
          </a:p>
        </p:txBody>
      </p:sp>
      <p:sp>
        <p:nvSpPr>
          <p:cNvPr id="4" name="Text 2"/>
          <p:cNvSpPr/>
          <p:nvPr/>
        </p:nvSpPr>
        <p:spPr>
          <a:xfrm>
            <a:off x="812800" y="19050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657"/>
                </a:solidFill>
                <a:latin typeface="IBM Plex Sans" pitchFamily="34" charset="0"/>
                <a:ea typeface="IBM Plex Sans" pitchFamily="34" charset="-122"/>
                <a:cs typeface="IBM Plex Sans" pitchFamily="34" charset="-120"/>
              </a:rPr>
              <a:t>Keep one noise vector </a:t>
            </a:r>
            <a:r>
              <a:rPr lang="en-US" sz="1500" b="1" dirty="0">
                <a:solidFill>
                  <a:srgbClr val="2563A8"/>
                </a:solidFill>
                <a:latin typeface="IBM Plex Sans" pitchFamily="34" charset="0"/>
                <a:ea typeface="IBM Plex Sans" pitchFamily="34" charset="-122"/>
                <a:cs typeface="IBM Plex Sans" pitchFamily="34" charset="-120"/>
              </a:rPr>
              <a:t>z_fixed</a:t>
            </a:r>
            <a:r>
              <a:rPr lang="en-US" sz="1500" dirty="0">
                <a:solidFill>
                  <a:srgbClr val="3D4657"/>
                </a:solidFill>
                <a:latin typeface="IBM Plex Sans" pitchFamily="34" charset="0"/>
                <a:ea typeface="IBM Plex Sans" pitchFamily="34" charset="-122"/>
                <a:cs typeface="IBM Plex Sans" pitchFamily="34" charset="-120"/>
              </a:rPr>
              <a:t> and look at G(z_fixed) as training goes on:</a:t>
            </a:r>
            <a:endParaRPr lang="en-US" sz="1500" dirty="0"/>
          </a:p>
        </p:txBody>
      </p:sp>
      <p:pic>
        <p:nvPicPr>
          <p:cNvPr id="5" name="Image 0" descr="Pure noise output at the start">    </p:cNvPr>
          <p:cNvPicPr>
            <a:picLocks noChangeAspect="1"/>
          </p:cNvPicPr>
          <p:nvPr/>
        </p:nvPicPr>
        <p:blipFill>
          <a:blip r:embed="rId1"/>
          <a:srcRect l="0" r="0" t="0" b="0"/>
          <a:stretch/>
        </p:blipFill>
        <p:spPr>
          <a:xfrm>
            <a:off x="812800" y="2476500"/>
            <a:ext cx="2159000" cy="2159000"/>
          </a:xfrm>
          <a:prstGeom prst="roundRect">
            <a:avLst>
              <a:gd name="adj" fmla="val 4118"/>
            </a:avLst>
          </a:prstGeom>
        </p:spPr>
      </p:pic>
      <p:sp>
        <p:nvSpPr>
          <p:cNvPr id="6" name="Text 3"/>
          <p:cNvSpPr/>
          <p:nvPr/>
        </p:nvSpPr>
        <p:spPr>
          <a:xfrm>
            <a:off x="780415" y="4762500"/>
            <a:ext cx="2223770" cy="487660"/>
          </a:xfrm>
          <a:prstGeom prst="rect">
            <a:avLst/>
          </a:prstGeom>
          <a:noFill/>
          <a:ln/>
        </p:spPr>
        <p:txBody>
          <a:bodyPr wrap="square" lIns="0" tIns="0" rIns="0" bIns="0" rtlCol="0" anchor="t">
            <a:normAutofit/>
          </a:bodyPr>
          <a:lstStyle/>
          <a:p>
            <a:pPr algn="ctr" indent="0" marL="0">
              <a:lnSpc>
                <a:spcPts val="1820"/>
              </a:lnSpc>
              <a:buNone/>
            </a:pPr>
            <a:r>
              <a:rPr lang="en-US" sz="1400" b="1" dirty="0">
                <a:solidFill>
                  <a:srgbClr val="14213D"/>
                </a:solidFill>
                <a:latin typeface="IBM Plex Sans" pitchFamily="34" charset="0"/>
                <a:ea typeface="IBM Plex Sans" pitchFamily="34" charset="-122"/>
                <a:cs typeface="IBM Plex Sans" pitchFamily="34" charset="-120"/>
              </a:rPr>
              <a:t>Step 0</a:t>
            </a:r>
            <a:endParaRPr lang="en-US" sz="1400" dirty="0"/>
          </a:p>
          <a:p>
            <a:pPr algn="ctr" indent="0" marL="0">
              <a:lnSpc>
                <a:spcPts val="1820"/>
              </a:lnSpc>
              <a:buNone/>
            </a:pPr>
            <a:r>
              <a:rPr lang="en-US" sz="1400" dirty="0">
                <a:solidFill>
                  <a:srgbClr val="14213D"/>
                </a:solidFill>
                <a:latin typeface="IBM Plex Sans" pitchFamily="34" charset="0"/>
                <a:ea typeface="IBM Plex Sans" pitchFamily="34" charset="-122"/>
                <a:cs typeface="IBM Plex Sans" pitchFamily="34" charset="-120"/>
              </a:rPr>
              <a:t>random weights → noise</a:t>
            </a:r>
            <a:endParaRPr lang="en-US" sz="1400" dirty="0"/>
          </a:p>
        </p:txBody>
      </p:sp>
      <p:pic>
        <p:nvPicPr>
          <p:cNvPr id="7" name="Image 1" descr="arrow-right">    </p:cNvPr>
          <p:cNvPicPr>
            <a:picLocks noChangeAspect="1"/>
          </p:cNvPicPr>
          <p:nvPr/>
        </p:nvPicPr>
        <p:blipFill>
          <a:blip r:embed="rId2"/>
          <a:srcRect l="0" r="0" t="0" b="0"/>
          <a:stretch/>
        </p:blipFill>
        <p:spPr>
          <a:xfrm>
            <a:off x="3086100" y="3429000"/>
            <a:ext cx="444500" cy="254000"/>
          </a:xfrm>
          <a:prstGeom prst="rect">
            <a:avLst/>
          </a:prstGeom>
        </p:spPr>
      </p:pic>
      <p:pic>
        <p:nvPicPr>
          <p:cNvPr id="8" name="Image 2" descr="Noisy blob output early in training">    </p:cNvPr>
          <p:cNvPicPr>
            <a:picLocks noChangeAspect="1"/>
          </p:cNvPicPr>
          <p:nvPr/>
        </p:nvPicPr>
        <p:blipFill>
          <a:blip r:embed="rId3"/>
          <a:srcRect l="0" r="0" t="0" b="0"/>
          <a:stretch/>
        </p:blipFill>
        <p:spPr>
          <a:xfrm>
            <a:off x="3644900" y="2476500"/>
            <a:ext cx="2159000" cy="2159000"/>
          </a:xfrm>
          <a:prstGeom prst="roundRect">
            <a:avLst>
              <a:gd name="adj" fmla="val 4118"/>
            </a:avLst>
          </a:prstGeom>
        </p:spPr>
      </p:pic>
      <p:sp>
        <p:nvSpPr>
          <p:cNvPr id="9" name="Text 4"/>
          <p:cNvSpPr/>
          <p:nvPr/>
        </p:nvSpPr>
        <p:spPr>
          <a:xfrm>
            <a:off x="3612515" y="4762500"/>
            <a:ext cx="2223770" cy="487660"/>
          </a:xfrm>
          <a:prstGeom prst="rect">
            <a:avLst/>
          </a:prstGeom>
          <a:noFill/>
          <a:ln/>
        </p:spPr>
        <p:txBody>
          <a:bodyPr wrap="square" lIns="0" tIns="0" rIns="0" bIns="0" rtlCol="0" anchor="t">
            <a:normAutofit/>
          </a:bodyPr>
          <a:lstStyle/>
          <a:p>
            <a:pPr algn="ctr" indent="0" marL="0">
              <a:lnSpc>
                <a:spcPts val="1820"/>
              </a:lnSpc>
              <a:buNone/>
            </a:pPr>
            <a:r>
              <a:rPr lang="en-US" sz="1400" b="1" dirty="0">
                <a:solidFill>
                  <a:srgbClr val="14213D"/>
                </a:solidFill>
                <a:latin typeface="IBM Plex Sans" pitchFamily="34" charset="0"/>
                <a:ea typeface="IBM Plex Sans" pitchFamily="34" charset="-122"/>
                <a:cs typeface="IBM Plex Sans" pitchFamily="34" charset="-120"/>
              </a:rPr>
              <a:t>Early</a:t>
            </a:r>
            <a:endParaRPr lang="en-US" sz="1400" dirty="0"/>
          </a:p>
          <a:p>
            <a:pPr algn="ctr" indent="0" marL="0">
              <a:lnSpc>
                <a:spcPts val="1820"/>
              </a:lnSpc>
              <a:buNone/>
            </a:pPr>
            <a:r>
              <a:rPr lang="en-US" sz="1400" dirty="0">
                <a:solidFill>
                  <a:srgbClr val="14213D"/>
                </a:solidFill>
                <a:latin typeface="IBM Plex Sans" pitchFamily="34" charset="0"/>
                <a:ea typeface="IBM Plex Sans" pitchFamily="34" charset="-122"/>
                <a:cs typeface="IBM Plex Sans" pitchFamily="34" charset="-120"/>
              </a:rPr>
              <a:t>colour in the right place</a:t>
            </a:r>
            <a:endParaRPr lang="en-US" sz="1400" dirty="0"/>
          </a:p>
        </p:txBody>
      </p:sp>
      <p:pic>
        <p:nvPicPr>
          <p:cNvPr id="10" name="Image 3" descr="arrow-right">    </p:cNvPr>
          <p:cNvPicPr>
            <a:picLocks noChangeAspect="1"/>
          </p:cNvPicPr>
          <p:nvPr/>
        </p:nvPicPr>
        <p:blipFill>
          <a:blip r:embed="rId4"/>
          <a:srcRect l="0" r="0" t="0" b="0"/>
          <a:stretch/>
        </p:blipFill>
        <p:spPr>
          <a:xfrm>
            <a:off x="5918200" y="3429000"/>
            <a:ext cx="444500" cy="254000"/>
          </a:xfrm>
          <a:prstGeom prst="rect">
            <a:avLst/>
          </a:prstGeom>
        </p:spPr>
      </p:pic>
      <p:pic>
        <p:nvPicPr>
          <p:cNvPr id="11" name="Image 4" descr="Rough flower output mid training">    </p:cNvPr>
          <p:cNvPicPr>
            <a:picLocks noChangeAspect="1"/>
          </p:cNvPicPr>
          <p:nvPr/>
        </p:nvPicPr>
        <p:blipFill>
          <a:blip r:embed="rId5"/>
          <a:srcRect l="0" r="0" t="0" b="0"/>
          <a:stretch/>
        </p:blipFill>
        <p:spPr>
          <a:xfrm>
            <a:off x="6477000" y="2476500"/>
            <a:ext cx="2159000" cy="2159000"/>
          </a:xfrm>
          <a:prstGeom prst="roundRect">
            <a:avLst>
              <a:gd name="adj" fmla="val 4118"/>
            </a:avLst>
          </a:prstGeom>
        </p:spPr>
      </p:pic>
      <p:sp>
        <p:nvSpPr>
          <p:cNvPr id="12" name="Text 5"/>
          <p:cNvSpPr/>
          <p:nvPr/>
        </p:nvSpPr>
        <p:spPr>
          <a:xfrm>
            <a:off x="6444615" y="4762500"/>
            <a:ext cx="2223770" cy="487660"/>
          </a:xfrm>
          <a:prstGeom prst="rect">
            <a:avLst/>
          </a:prstGeom>
          <a:noFill/>
          <a:ln/>
        </p:spPr>
        <p:txBody>
          <a:bodyPr wrap="square" lIns="0" tIns="0" rIns="0" bIns="0" rtlCol="0" anchor="t">
            <a:normAutofit/>
          </a:bodyPr>
          <a:lstStyle/>
          <a:p>
            <a:pPr algn="ctr" indent="0" marL="0">
              <a:lnSpc>
                <a:spcPts val="1820"/>
              </a:lnSpc>
              <a:buNone/>
            </a:pPr>
            <a:r>
              <a:rPr lang="en-US" sz="1400" b="1" dirty="0">
                <a:solidFill>
                  <a:srgbClr val="14213D"/>
                </a:solidFill>
                <a:latin typeface="IBM Plex Sans" pitchFamily="34" charset="0"/>
                <a:ea typeface="IBM Plex Sans" pitchFamily="34" charset="-122"/>
                <a:cs typeface="IBM Plex Sans" pitchFamily="34" charset="-120"/>
              </a:rPr>
              <a:t>Middle</a:t>
            </a:r>
            <a:endParaRPr lang="en-US" sz="1400" dirty="0"/>
          </a:p>
          <a:p>
            <a:pPr algn="ctr" indent="0" marL="0">
              <a:lnSpc>
                <a:spcPts val="1820"/>
              </a:lnSpc>
              <a:buNone/>
            </a:pPr>
            <a:r>
              <a:rPr lang="en-US" sz="1400" dirty="0">
                <a:solidFill>
                  <a:srgbClr val="14213D"/>
                </a:solidFill>
                <a:latin typeface="IBM Plex Sans" pitchFamily="34" charset="0"/>
                <a:ea typeface="IBM Plex Sans" pitchFamily="34" charset="-122"/>
                <a:cs typeface="IBM Plex Sans" pitchFamily="34" charset="-120"/>
              </a:rPr>
              <a:t>shape appears</a:t>
            </a:r>
            <a:endParaRPr lang="en-US" sz="1400" dirty="0"/>
          </a:p>
        </p:txBody>
      </p:sp>
      <p:pic>
        <p:nvPicPr>
          <p:cNvPr id="13" name="Image 5" descr="arrow-right">    </p:cNvPr>
          <p:cNvPicPr>
            <a:picLocks noChangeAspect="1"/>
          </p:cNvPicPr>
          <p:nvPr/>
        </p:nvPicPr>
        <p:blipFill>
          <a:blip r:embed="rId6"/>
          <a:srcRect l="0" r="0" t="0" b="0"/>
          <a:stretch/>
        </p:blipFill>
        <p:spPr>
          <a:xfrm>
            <a:off x="8750300" y="3429000"/>
            <a:ext cx="444500" cy="254000"/>
          </a:xfrm>
          <a:prstGeom prst="rect">
            <a:avLst/>
          </a:prstGeom>
        </p:spPr>
      </p:pic>
      <p:pic>
        <p:nvPicPr>
          <p:cNvPr id="14" name="Image 6" descr="Convincing flower output late in training">    </p:cNvPr>
          <p:cNvPicPr>
            <a:picLocks noChangeAspect="1"/>
          </p:cNvPicPr>
          <p:nvPr/>
        </p:nvPicPr>
        <p:blipFill>
          <a:blip r:embed="rId7"/>
          <a:srcRect l="0" r="0" t="0" b="0"/>
          <a:stretch/>
        </p:blipFill>
        <p:spPr>
          <a:xfrm>
            <a:off x="9220200" y="2476500"/>
            <a:ext cx="2159000" cy="2159000"/>
          </a:xfrm>
          <a:prstGeom prst="roundRect">
            <a:avLst>
              <a:gd name="adj" fmla="val 4118"/>
            </a:avLst>
          </a:prstGeom>
        </p:spPr>
      </p:pic>
      <p:sp>
        <p:nvSpPr>
          <p:cNvPr id="15" name="Text 6"/>
          <p:cNvSpPr/>
          <p:nvPr/>
        </p:nvSpPr>
        <p:spPr>
          <a:xfrm>
            <a:off x="9187815" y="4762500"/>
            <a:ext cx="2223770" cy="487660"/>
          </a:xfrm>
          <a:prstGeom prst="rect">
            <a:avLst/>
          </a:prstGeom>
          <a:noFill/>
          <a:ln/>
        </p:spPr>
        <p:txBody>
          <a:bodyPr wrap="square" lIns="0" tIns="0" rIns="0" bIns="0" rtlCol="0" anchor="t">
            <a:normAutofit/>
          </a:bodyPr>
          <a:lstStyle/>
          <a:p>
            <a:pPr algn="ctr" indent="0" marL="0">
              <a:lnSpc>
                <a:spcPts val="1820"/>
              </a:lnSpc>
              <a:buNone/>
            </a:pPr>
            <a:r>
              <a:rPr lang="en-US" sz="1400" b="1" dirty="0">
                <a:solidFill>
                  <a:srgbClr val="14213D"/>
                </a:solidFill>
                <a:latin typeface="IBM Plex Sans" pitchFamily="34" charset="0"/>
                <a:ea typeface="IBM Plex Sans" pitchFamily="34" charset="-122"/>
                <a:cs typeface="IBM Plex Sans" pitchFamily="34" charset="-120"/>
              </a:rPr>
              <a:t>Late</a:t>
            </a:r>
            <a:endParaRPr lang="en-US" sz="1400" dirty="0"/>
          </a:p>
          <a:p>
            <a:pPr algn="ctr" indent="0" marL="0">
              <a:lnSpc>
                <a:spcPts val="1820"/>
              </a:lnSpc>
              <a:buNone/>
            </a:pPr>
            <a:r>
              <a:rPr lang="en-US" sz="1400" dirty="0">
                <a:solidFill>
                  <a:srgbClr val="14213D"/>
                </a:solidFill>
                <a:latin typeface="IBM Plex Sans" pitchFamily="34" charset="0"/>
                <a:ea typeface="IBM Plex Sans" pitchFamily="34" charset="-122"/>
                <a:cs typeface="IBM Plex Sans" pitchFamily="34" charset="-120"/>
              </a:rPr>
              <a:t>convincing flower</a:t>
            </a:r>
            <a:endParaRPr lang="en-US" sz="1400" dirty="0"/>
          </a:p>
        </p:txBody>
      </p:sp>
      <p:sp>
        <p:nvSpPr>
          <p:cNvPr id="16" name="Text 7"/>
          <p:cNvSpPr/>
          <p:nvPr/>
        </p:nvSpPr>
        <p:spPr>
          <a:xfrm>
            <a:off x="812800" y="54610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563A8"/>
                </a:solidFill>
                <a:latin typeface="IBM Plex Sans" pitchFamily="34" charset="0"/>
                <a:ea typeface="IBM Plex Sans" pitchFamily="34" charset="-122"/>
                <a:cs typeface="IBM Plex Sans" pitchFamily="34" charset="-120"/>
              </a:rPr>
              <a:t>Tip for the notebook:</a:t>
            </a:r>
            <a:r>
              <a:rPr lang="en-US" sz="1500" dirty="0">
                <a:solidFill>
                  <a:srgbClr val="2563A8"/>
                </a:solidFill>
                <a:latin typeface="IBM Plex Sans" pitchFamily="34" charset="0"/>
                <a:ea typeface="IBM Plex Sans" pitchFamily="34" charset="-122"/>
                <a:cs typeface="IBM Plex Sans" pitchFamily="34" charset="-120"/>
              </a:rPr>
              <a:t> this "fixed z" view is the best way to watch a GAN learn.</a:t>
            </a:r>
            <a:endParaRPr lang="en-US" sz="1500" dirty="0"/>
          </a:p>
        </p:txBody>
      </p:sp>
      <p:sp>
        <p:nvSpPr>
          <p:cNvPr id="17" name="Text 8"/>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1 · 04 Generator · min 35–37 · illustrations, not real training snapshots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63A8"/>
                </a:solidFill>
                <a:latin typeface="IBM Plex Sans" pitchFamily="34" charset="0"/>
                <a:ea typeface="IBM Plex Sans" pitchFamily="34" charset="-122"/>
                <a:cs typeface="IBM Plex Sans" pitchFamily="34" charset="-120"/>
              </a:rPr>
              <a:t>04 · GENERATOR · THE SURPRISING PART</a:t>
            </a:r>
            <a:endParaRPr lang="en-US" sz="1200" dirty="0"/>
          </a:p>
        </p:txBody>
      </p:sp>
      <p:sp>
        <p:nvSpPr>
          <p:cNvPr id="3" name="Text 1"/>
          <p:cNvSpPr/>
          <p:nvPr/>
        </p:nvSpPr>
        <p:spPr>
          <a:xfrm>
            <a:off x="812800" y="82550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G never sees a real flower. It learns only from D's reaction.</a:t>
            </a:r>
            <a:endParaRPr lang="en-US" sz="3200" dirty="0"/>
          </a:p>
        </p:txBody>
      </p:sp>
      <p:sp>
        <p:nvSpPr>
          <p:cNvPr id="4" name="Shape 2"/>
          <p:cNvSpPr/>
          <p:nvPr/>
        </p:nvSpPr>
        <p:spPr>
          <a:xfrm>
            <a:off x="822325" y="2676525"/>
            <a:ext cx="1060450" cy="679450"/>
          </a:xfrm>
          <a:prstGeom prst="roundRect">
            <a:avLst>
              <a:gd name="adj" fmla="val 11682"/>
            </a:avLst>
          </a:prstGeom>
          <a:solidFill>
            <a:srgbClr val="FFFDF8"/>
          </a:solidFill>
          <a:ln w="19050">
            <a:solidFill>
              <a:srgbClr val="2563A8"/>
            </a:solidFill>
            <a:prstDash val="dash"/>
          </a:ln>
        </p:spPr>
      </p:sp>
      <p:sp>
        <p:nvSpPr>
          <p:cNvPr id="5" name="Text 3"/>
          <p:cNvSpPr/>
          <p:nvPr/>
        </p:nvSpPr>
        <p:spPr>
          <a:xfrm>
            <a:off x="787400" y="2825750"/>
            <a:ext cx="1130300" cy="381000"/>
          </a:xfrm>
          <a:prstGeom prst="rect">
            <a:avLst/>
          </a:prstGeom>
          <a:noFill/>
          <a:ln/>
        </p:spPr>
        <p:txBody>
          <a:bodyPr wrap="square" lIns="0" tIns="0" rIns="0" bIns="0" rtlCol="0" anchor="t">
            <a:normAutofit/>
          </a:bodyPr>
          <a:lstStyle/>
          <a:p>
            <a:pPr algn="ctr" indent="0" marL="0">
              <a:lnSpc>
                <a:spcPts val="2800"/>
              </a:lnSpc>
              <a:buNone/>
            </a:pPr>
            <a:r>
              <a:rPr lang="en-US" sz="2000" dirty="0">
                <a:solidFill>
                  <a:srgbClr val="14213D"/>
                </a:solidFill>
                <a:latin typeface="JetBrains Mono" pitchFamily="34" charset="0"/>
                <a:ea typeface="JetBrains Mono" pitchFamily="34" charset="-122"/>
                <a:cs typeface="JetBrains Mono" pitchFamily="34" charset="-120"/>
              </a:rPr>
              <a:t>z</a:t>
            </a:r>
            <a:endParaRPr lang="en-US" sz="2000" dirty="0"/>
          </a:p>
        </p:txBody>
      </p:sp>
      <p:pic>
        <p:nvPicPr>
          <p:cNvPr id="6" name="Image 0" descr="connector">    </p:cNvPr>
          <p:cNvPicPr>
            <a:picLocks noChangeAspect="1"/>
          </p:cNvPicPr>
          <p:nvPr/>
        </p:nvPicPr>
        <p:blipFill>
          <a:blip r:embed="rId1"/>
          <a:srcRect l="0" r="0" t="0" b="0"/>
          <a:stretch/>
        </p:blipFill>
        <p:spPr>
          <a:xfrm>
            <a:off x="1828800" y="2940050"/>
            <a:ext cx="596900" cy="152400"/>
          </a:xfrm>
          <a:prstGeom prst="rect">
            <a:avLst/>
          </a:prstGeom>
        </p:spPr>
      </p:pic>
      <p:sp>
        <p:nvSpPr>
          <p:cNvPr id="7" name="Shape 4"/>
          <p:cNvSpPr/>
          <p:nvPr/>
        </p:nvSpPr>
        <p:spPr>
          <a:xfrm>
            <a:off x="2413000" y="2571750"/>
            <a:ext cx="1587500" cy="889000"/>
          </a:xfrm>
          <a:prstGeom prst="roundRect">
            <a:avLst>
              <a:gd name="adj" fmla="val 12857"/>
            </a:avLst>
          </a:prstGeom>
          <a:solidFill>
            <a:srgbClr val="2563A8"/>
          </a:solidFill>
          <a:ln/>
        </p:spPr>
      </p:sp>
      <p:sp>
        <p:nvSpPr>
          <p:cNvPr id="8" name="Text 5"/>
          <p:cNvSpPr/>
          <p:nvPr/>
        </p:nvSpPr>
        <p:spPr>
          <a:xfrm>
            <a:off x="2387600" y="2806700"/>
            <a:ext cx="1638300" cy="452090"/>
          </a:xfrm>
          <a:prstGeom prst="rect">
            <a:avLst/>
          </a:prstGeom>
          <a:noFill/>
          <a:ln/>
        </p:spPr>
        <p:txBody>
          <a:bodyPr wrap="square" lIns="0" tIns="0" rIns="0" bIns="0" rtlCol="0" anchor="t">
            <a:normAutofit/>
          </a:bodyPr>
          <a:lstStyle/>
          <a:p>
            <a:pPr algn="ctr" indent="0" marL="0">
              <a:lnSpc>
                <a:spcPts val="3360"/>
              </a:lnSpc>
              <a:buNone/>
            </a:pPr>
            <a:r>
              <a:rPr lang="en-US" sz="2400" b="1" dirty="0">
                <a:solidFill>
                  <a:srgbClr val="F6F3EC"/>
                </a:solidFill>
                <a:latin typeface="Space Grotesk" pitchFamily="34" charset="0"/>
                <a:ea typeface="Space Grotesk" pitchFamily="34" charset="-122"/>
                <a:cs typeface="Space Grotesk" pitchFamily="34" charset="-120"/>
              </a:rPr>
              <a:t>G</a:t>
            </a:r>
            <a:endParaRPr lang="en-US" sz="2400" dirty="0"/>
          </a:p>
        </p:txBody>
      </p:sp>
      <p:pic>
        <p:nvPicPr>
          <p:cNvPr id="9" name="Image 1" descr="connector">    </p:cNvPr>
          <p:cNvPicPr>
            <a:picLocks noChangeAspect="1"/>
          </p:cNvPicPr>
          <p:nvPr/>
        </p:nvPicPr>
        <p:blipFill>
          <a:blip r:embed="rId2"/>
          <a:srcRect l="0" r="0" t="0" b="0"/>
          <a:stretch/>
        </p:blipFill>
        <p:spPr>
          <a:xfrm>
            <a:off x="3937000" y="2940050"/>
            <a:ext cx="584200" cy="152400"/>
          </a:xfrm>
          <a:prstGeom prst="rect">
            <a:avLst/>
          </a:prstGeom>
        </p:spPr>
      </p:pic>
      <p:pic>
        <p:nvPicPr>
          <p:cNvPr id="10" name="Image 2" descr="A rough generated flower">    </p:cNvPr>
          <p:cNvPicPr>
            <a:picLocks noChangeAspect="1"/>
          </p:cNvPicPr>
          <p:nvPr/>
        </p:nvPicPr>
        <p:blipFill>
          <a:blip r:embed="rId3"/>
          <a:srcRect l="0" r="0" t="0" b="0"/>
          <a:stretch/>
        </p:blipFill>
        <p:spPr>
          <a:xfrm>
            <a:off x="4508500" y="2444750"/>
            <a:ext cx="1143000" cy="1143000"/>
          </a:xfrm>
          <a:prstGeom prst="roundRect">
            <a:avLst>
              <a:gd name="adj" fmla="val 6667"/>
            </a:avLst>
          </a:prstGeom>
        </p:spPr>
      </p:pic>
      <p:pic>
        <p:nvPicPr>
          <p:cNvPr id="11" name="Image 3" descr="connector">    </p:cNvPr>
          <p:cNvPicPr>
            <a:picLocks noChangeAspect="1"/>
          </p:cNvPicPr>
          <p:nvPr/>
        </p:nvPicPr>
        <p:blipFill>
          <a:blip r:embed="rId4"/>
          <a:srcRect l="0" r="0" t="0" b="0"/>
          <a:stretch/>
        </p:blipFill>
        <p:spPr>
          <a:xfrm>
            <a:off x="5588000" y="2940050"/>
            <a:ext cx="584200" cy="152400"/>
          </a:xfrm>
          <a:prstGeom prst="rect">
            <a:avLst/>
          </a:prstGeom>
        </p:spPr>
      </p:pic>
      <p:sp>
        <p:nvSpPr>
          <p:cNvPr id="12" name="Shape 6"/>
          <p:cNvSpPr/>
          <p:nvPr/>
        </p:nvSpPr>
        <p:spPr>
          <a:xfrm>
            <a:off x="6159500" y="2571750"/>
            <a:ext cx="1587500" cy="889000"/>
          </a:xfrm>
          <a:prstGeom prst="roundRect">
            <a:avLst>
              <a:gd name="adj" fmla="val 12857"/>
            </a:avLst>
          </a:prstGeom>
          <a:solidFill>
            <a:srgbClr val="B24E17"/>
          </a:solidFill>
          <a:ln/>
        </p:spPr>
      </p:sp>
      <p:sp>
        <p:nvSpPr>
          <p:cNvPr id="13" name="Text 7"/>
          <p:cNvSpPr/>
          <p:nvPr/>
        </p:nvSpPr>
        <p:spPr>
          <a:xfrm>
            <a:off x="6134100" y="2806700"/>
            <a:ext cx="1638300" cy="452090"/>
          </a:xfrm>
          <a:prstGeom prst="rect">
            <a:avLst/>
          </a:prstGeom>
          <a:noFill/>
          <a:ln/>
        </p:spPr>
        <p:txBody>
          <a:bodyPr wrap="square" lIns="0" tIns="0" rIns="0" bIns="0" rtlCol="0" anchor="t">
            <a:normAutofit/>
          </a:bodyPr>
          <a:lstStyle/>
          <a:p>
            <a:pPr algn="ctr" indent="0" marL="0">
              <a:lnSpc>
                <a:spcPts val="3360"/>
              </a:lnSpc>
              <a:buNone/>
            </a:pPr>
            <a:r>
              <a:rPr lang="en-US" sz="2400" b="1" dirty="0">
                <a:solidFill>
                  <a:srgbClr val="F6F3EC"/>
                </a:solidFill>
                <a:latin typeface="Space Grotesk" pitchFamily="34" charset="0"/>
                <a:ea typeface="Space Grotesk" pitchFamily="34" charset="-122"/>
                <a:cs typeface="Space Grotesk" pitchFamily="34" charset="-120"/>
              </a:rPr>
              <a:t>D</a:t>
            </a:r>
            <a:endParaRPr lang="en-US" sz="2400" dirty="0"/>
          </a:p>
        </p:txBody>
      </p:sp>
      <p:pic>
        <p:nvPicPr>
          <p:cNvPr id="14" name="Image 4" descr="connector">    </p:cNvPr>
          <p:cNvPicPr>
            <a:picLocks noChangeAspect="1"/>
          </p:cNvPicPr>
          <p:nvPr/>
        </p:nvPicPr>
        <p:blipFill>
          <a:blip r:embed="rId5"/>
          <a:srcRect l="0" r="0" t="0" b="0"/>
          <a:stretch/>
        </p:blipFill>
        <p:spPr>
          <a:xfrm>
            <a:off x="7683500" y="2940050"/>
            <a:ext cx="584200" cy="152400"/>
          </a:xfrm>
          <a:prstGeom prst="rect">
            <a:avLst/>
          </a:prstGeom>
        </p:spPr>
      </p:pic>
      <p:sp>
        <p:nvSpPr>
          <p:cNvPr id="15" name="Shape 8"/>
          <p:cNvSpPr/>
          <p:nvPr/>
        </p:nvSpPr>
        <p:spPr>
          <a:xfrm>
            <a:off x="8255000" y="2635250"/>
            <a:ext cx="1397000" cy="762000"/>
          </a:xfrm>
          <a:prstGeom prst="roundRect">
            <a:avLst>
              <a:gd name="adj" fmla="val 11667"/>
            </a:avLst>
          </a:prstGeom>
          <a:solidFill>
            <a:srgbClr val="F6E1D3"/>
          </a:solidFill>
          <a:ln/>
        </p:spPr>
      </p:sp>
      <p:sp>
        <p:nvSpPr>
          <p:cNvPr id="16" name="Text 9"/>
          <p:cNvSpPr/>
          <p:nvPr/>
        </p:nvSpPr>
        <p:spPr>
          <a:xfrm>
            <a:off x="8229600" y="2794000"/>
            <a:ext cx="1447800" cy="416520"/>
          </a:xfrm>
          <a:prstGeom prst="rect">
            <a:avLst/>
          </a:prstGeom>
          <a:noFill/>
          <a:ln/>
        </p:spPr>
        <p:txBody>
          <a:bodyPr wrap="square" lIns="0" tIns="0" rIns="0" bIns="0" rtlCol="0" anchor="t">
            <a:normAutofit/>
          </a:bodyPr>
          <a:lstStyle/>
          <a:p>
            <a:pPr algn="ctr" indent="0" marL="0">
              <a:lnSpc>
                <a:spcPts val="3080"/>
              </a:lnSpc>
              <a:buNone/>
            </a:pPr>
            <a:r>
              <a:rPr lang="en-US" sz="2200" b="1" dirty="0">
                <a:solidFill>
                  <a:srgbClr val="B24E17"/>
                </a:solidFill>
                <a:latin typeface="JetBrains Mono" pitchFamily="34" charset="0"/>
                <a:ea typeface="JetBrains Mono" pitchFamily="34" charset="-122"/>
                <a:cs typeface="JetBrains Mono" pitchFamily="34" charset="-120"/>
              </a:rPr>
              <a:t>0.08</a:t>
            </a:r>
            <a:endParaRPr lang="en-US" sz="2200" dirty="0"/>
          </a:p>
        </p:txBody>
      </p:sp>
      <p:sp>
        <p:nvSpPr>
          <p:cNvPr id="17" name="Text 10"/>
          <p:cNvSpPr/>
          <p:nvPr/>
        </p:nvSpPr>
        <p:spPr>
          <a:xfrm>
            <a:off x="8229600" y="3556000"/>
            <a:ext cx="1447800" cy="25653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6B7280"/>
                </a:solidFill>
                <a:latin typeface="IBM Plex Sans" pitchFamily="34" charset="0"/>
                <a:ea typeface="IBM Plex Sans" pitchFamily="34" charset="-122"/>
                <a:cs typeface="IBM Plex Sans" pitchFamily="34" charset="-120"/>
              </a:rPr>
              <a:t>"probably fake"</a:t>
            </a:r>
            <a:endParaRPr lang="en-US" sz="1300" dirty="0"/>
          </a:p>
        </p:txBody>
      </p:sp>
      <p:sp>
        <p:nvSpPr>
          <p:cNvPr id="18" name="Text 11"/>
          <p:cNvSpPr/>
          <p:nvPr/>
        </p:nvSpPr>
        <p:spPr>
          <a:xfrm>
            <a:off x="9906000" y="2667000"/>
            <a:ext cx="1524000" cy="1054100"/>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4213D"/>
                </a:solidFill>
                <a:latin typeface="IBM Plex Sans" pitchFamily="34" charset="0"/>
                <a:ea typeface="IBM Plex Sans" pitchFamily="34" charset="-122"/>
                <a:cs typeface="IBM Plex Sans" pitchFamily="34" charset="-120"/>
              </a:rPr>
              <a:t>G's loss is high</a:t>
            </a:r>
            <a:r>
              <a:rPr lang="en-US" sz="1500" dirty="0">
                <a:solidFill>
                  <a:srgbClr val="14213D"/>
                </a:solidFill>
                <a:latin typeface="IBM Plex Sans" pitchFamily="34" charset="0"/>
                <a:ea typeface="IBM Plex Sans" pitchFamily="34" charset="-122"/>
                <a:cs typeface="IBM Plex Sans" pitchFamily="34" charset="-120"/>
              </a:rPr>
              <a:t> because it wanted this near 1</a:t>
            </a:r>
            <a:endParaRPr lang="en-US" sz="1500" dirty="0"/>
          </a:p>
        </p:txBody>
      </p:sp>
      <p:pic>
        <p:nvPicPr>
          <p:cNvPr id="19" name="Image 5" descr="connector">    </p:cNvPr>
          <p:cNvPicPr>
            <a:picLocks noChangeAspect="1"/>
          </p:cNvPicPr>
          <p:nvPr/>
        </p:nvPicPr>
        <p:blipFill>
          <a:blip r:embed="rId6"/>
          <a:srcRect l="0" r="0" t="0" b="0"/>
          <a:stretch/>
        </p:blipFill>
        <p:spPr>
          <a:xfrm>
            <a:off x="3060700" y="3917950"/>
            <a:ext cx="6038850" cy="292100"/>
          </a:xfrm>
          <a:prstGeom prst="rect">
            <a:avLst/>
          </a:prstGeom>
        </p:spPr>
      </p:pic>
      <p:sp>
        <p:nvSpPr>
          <p:cNvPr id="20" name="Text 12"/>
          <p:cNvSpPr/>
          <p:nvPr/>
        </p:nvSpPr>
        <p:spPr>
          <a:xfrm>
            <a:off x="3475990" y="4222750"/>
            <a:ext cx="5494020" cy="5588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8A6A10"/>
                </a:solidFill>
                <a:latin typeface="IBM Plex Sans" pitchFamily="34" charset="0"/>
                <a:ea typeface="IBM Plex Sans" pitchFamily="34" charset="-122"/>
                <a:cs typeface="IBM Plex Sans" pitchFamily="34" charset="-120"/>
              </a:rPr>
              <a:t>gradient flows backwards through D into G</a:t>
            </a:r>
            <a:r>
              <a:rPr lang="en-US" sz="1500" dirty="0">
                <a:solidFill>
                  <a:srgbClr val="8A6A10"/>
                </a:solidFill>
                <a:latin typeface="IBM Plex Sans" pitchFamily="34" charset="0"/>
                <a:ea typeface="IBM Plex Sans" pitchFamily="34" charset="-122"/>
                <a:cs typeface="IBM Plex Sans" pitchFamily="34" charset="-120"/>
              </a:rPr>
              <a:t> (D's weights are not updated here)</a:t>
            </a:r>
            <a:endParaRPr lang="en-US" sz="1500" dirty="0"/>
          </a:p>
        </p:txBody>
      </p:sp>
      <p:sp>
        <p:nvSpPr>
          <p:cNvPr id="21" name="Text 13"/>
          <p:cNvSpPr/>
          <p:nvPr/>
        </p:nvSpPr>
        <p:spPr>
          <a:xfrm>
            <a:off x="812800" y="4826000"/>
            <a:ext cx="1088339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The gradient tells each of G's weights: </a:t>
            </a:r>
            <a:r>
              <a:rPr lang="en-US" sz="1600" i="1" dirty="0">
                <a:solidFill>
                  <a:srgbClr val="14213D"/>
                </a:solidFill>
                <a:latin typeface="IBM Plex Sans" pitchFamily="34" charset="0"/>
                <a:ea typeface="IBM Plex Sans" pitchFamily="34" charset="-122"/>
                <a:cs typeface="IBM Plex Sans" pitchFamily="34" charset="-120"/>
              </a:rPr>
              <a:t>"move this way and D's score for your image goes up."</a:t>
            </a:r>
            <a:r>
              <a:rPr lang="en-US" sz="1600" dirty="0">
                <a:solidFill>
                  <a:srgbClr val="14213D"/>
                </a:solidFill>
                <a:latin typeface="IBM Plex Sans" pitchFamily="34" charset="0"/>
                <a:ea typeface="IBM Plex Sans" pitchFamily="34" charset="-122"/>
                <a:cs typeface="IBM Plex Sans" pitchFamily="34" charset="-120"/>
              </a:rPr>
              <a:t> There is no target flower and no pixel-by-pixel comparison: </a:t>
            </a:r>
            <a:r>
              <a:rPr lang="en-US" sz="1600" b="1" dirty="0">
                <a:solidFill>
                  <a:srgbClr val="14213D"/>
                </a:solidFill>
                <a:latin typeface="IBM Plex Sans" pitchFamily="34" charset="0"/>
                <a:ea typeface="IBM Plex Sans" pitchFamily="34" charset="-122"/>
                <a:cs typeface="IBM Plex Sans" pitchFamily="34" charset="-120"/>
              </a:rPr>
              <a:t>D is G's only teacher.</a:t>
            </a:r>
            <a:endParaRPr lang="en-US" sz="1600" dirty="0"/>
          </a:p>
        </p:txBody>
      </p:sp>
      <p:sp>
        <p:nvSpPr>
          <p:cNvPr id="22" name="Text 14"/>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1 · 04 Generator · min 37–40</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63A8"/>
                </a:solidFill>
                <a:latin typeface="IBM Plex Sans" pitchFamily="34" charset="0"/>
                <a:ea typeface="IBM Plex Sans" pitchFamily="34" charset="-122"/>
                <a:cs typeface="IBM Plex Sans" pitchFamily="34" charset="-120"/>
              </a:rPr>
              <a:t>04 · GENERATOR · IN OUR NOTEBOOK</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The notebook's G: 100 numbers in, a 28×28 image out</a:t>
            </a:r>
            <a:endParaRPr lang="en-US" sz="3200" dirty="0"/>
          </a:p>
        </p:txBody>
      </p:sp>
      <p:sp>
        <p:nvSpPr>
          <p:cNvPr id="4" name="Shape 2"/>
          <p:cNvSpPr/>
          <p:nvPr/>
        </p:nvSpPr>
        <p:spPr>
          <a:xfrm>
            <a:off x="812800" y="1905000"/>
            <a:ext cx="5461000" cy="3556000"/>
          </a:xfrm>
          <a:prstGeom prst="roundRect">
            <a:avLst>
              <a:gd name="adj" fmla="val 3214"/>
            </a:avLst>
          </a:prstGeom>
          <a:solidFill>
            <a:srgbClr val="14213D"/>
          </a:solidFill>
          <a:ln/>
        </p:spPr>
      </p:sp>
      <p:sp>
        <p:nvSpPr>
          <p:cNvPr id="5" name="Text 3"/>
          <p:cNvSpPr/>
          <p:nvPr/>
        </p:nvSpPr>
        <p:spPr>
          <a:xfrm>
            <a:off x="1066800" y="2095500"/>
            <a:ext cx="5232400" cy="2584252"/>
          </a:xfrm>
          <a:prstGeom prst="rect">
            <a:avLst/>
          </a:prstGeom>
          <a:noFill/>
          <a:ln/>
        </p:spPr>
        <p:txBody>
          <a:bodyPr wrap="square" lIns="0" tIns="0" rIns="0" bIns="0" rtlCol="0" anchor="t">
            <a:normAutofit/>
          </a:bodyPr>
          <a:lstStyle/>
          <a:p>
            <a:pPr algn="l" indent="0" marL="0">
              <a:lnSpc>
                <a:spcPts val="2015"/>
              </a:lnSpc>
              <a:buNone/>
            </a:pPr>
            <a:r>
              <a:rPr lang="en-US" sz="1300" dirty="0">
                <a:solidFill>
                  <a:srgbClr val="E6EAF0"/>
                </a:solidFill>
                <a:latin typeface="JetBrains Mono" pitchFamily="34" charset="0"/>
                <a:ea typeface="JetBrains Mono" pitchFamily="34" charset="-122"/>
                <a:cs typeface="JetBrains Mono" pitchFamily="34" charset="-120"/>
              </a:rPr>
              <a:t>class Generator(nn.Module):</a:t>
            </a:r>
            <a:endParaRPr lang="en-US" sz="1300" dirty="0"/>
          </a:p>
          <a:p>
            <a:pPr algn="l" indent="0" marL="0">
              <a:lnSpc>
                <a:spcPts val="2015"/>
              </a:lnSpc>
              <a:buNone/>
            </a:pPr>
            <a:r>
              <a:rPr lang="en-US" sz="1300" dirty="0">
                <a:solidFill>
                  <a:srgbClr val="E6EAF0"/>
                </a:solidFill>
                <a:latin typeface="JetBrains Mono" pitchFamily="34" charset="0"/>
                <a:ea typeface="JetBrains Mono" pitchFamily="34" charset="-122"/>
                <a:cs typeface="JetBrains Mono" pitchFamily="34" charset="-120"/>
              </a:rPr>
              <a:t>  def __init__(self):</a:t>
            </a:r>
            <a:endParaRPr lang="en-US" sz="1300" dirty="0"/>
          </a:p>
          <a:p>
            <a:pPr algn="l" indent="0" marL="0">
              <a:lnSpc>
                <a:spcPts val="2015"/>
              </a:lnSpc>
              <a:buNone/>
            </a:pPr>
            <a:r>
              <a:rPr lang="en-US" sz="1300" dirty="0">
                <a:solidFill>
                  <a:srgbClr val="E6EAF0"/>
                </a:solidFill>
                <a:latin typeface="JetBrains Mono" pitchFamily="34" charset="0"/>
                <a:ea typeface="JetBrains Mono" pitchFamily="34" charset="-122"/>
                <a:cs typeface="JetBrains Mono" pitchFamily="34" charset="-120"/>
              </a:rPr>
              <a:t>    super().__init__()</a:t>
            </a:r>
            <a:endParaRPr lang="en-US" sz="1300" dirty="0"/>
          </a:p>
          <a:p>
            <a:pPr algn="l" indent="0" marL="0">
              <a:lnSpc>
                <a:spcPts val="2015"/>
              </a:lnSpc>
              <a:buNone/>
            </a:pPr>
            <a:r>
              <a:rPr lang="en-US" sz="1300" dirty="0">
                <a:solidFill>
                  <a:srgbClr val="E6EAF0"/>
                </a:solidFill>
                <a:latin typeface="JetBrains Mono" pitchFamily="34" charset="0"/>
                <a:ea typeface="JetBrains Mono" pitchFamily="34" charset="-122"/>
                <a:cs typeface="JetBrains Mono" pitchFamily="34" charset="-120"/>
              </a:rPr>
              <a:t>    self.fc = nn.Sequential(</a:t>
            </a:r>
            <a:endParaRPr lang="en-US" sz="1300" dirty="0"/>
          </a:p>
          <a:p>
            <a:pPr algn="l" indent="0" marL="0">
              <a:lnSpc>
                <a:spcPts val="2015"/>
              </a:lnSpc>
              <a:buNone/>
            </a:pPr>
            <a:r>
              <a:rPr lang="en-US" sz="1300" dirty="0">
                <a:solidFill>
                  <a:srgbClr val="E6EAF0"/>
                </a:solidFill>
                <a:latin typeface="JetBrains Mono" pitchFamily="34" charset="0"/>
                <a:ea typeface="JetBrains Mono" pitchFamily="34" charset="-122"/>
                <a:cs typeface="JetBrains Mono" pitchFamily="34" charset="-120"/>
              </a:rPr>
              <a:t>      </a:t>
            </a:r>
            <a:r>
              <a:rPr lang="en-US" sz="1300" dirty="0">
                <a:solidFill>
                  <a:srgbClr val="8DB8EA"/>
                </a:solidFill>
                <a:latin typeface="JetBrains Mono" pitchFamily="34" charset="0"/>
                <a:ea typeface="JetBrains Mono" pitchFamily="34" charset="-122"/>
                <a:cs typeface="JetBrains Mono" pitchFamily="34" charset="-120"/>
              </a:rPr>
              <a:t>nn.Linear(100, 256)</a:t>
            </a:r>
            <a:r>
              <a:rPr lang="en-US" sz="1300" dirty="0">
                <a:solidFill>
                  <a:srgbClr val="E6EAF0"/>
                </a:solidFill>
                <a:latin typeface="JetBrains Mono" pitchFamily="34" charset="0"/>
                <a:ea typeface="JetBrains Mono" pitchFamily="34" charset="-122"/>
                <a:cs typeface="JetBrains Mono" pitchFamily="34" charset="-120"/>
              </a:rPr>
              <a:t>,</a:t>
            </a:r>
            <a:endParaRPr lang="en-US" sz="1300" dirty="0"/>
          </a:p>
          <a:p>
            <a:pPr algn="l" indent="0" marL="0">
              <a:lnSpc>
                <a:spcPts val="2015"/>
              </a:lnSpc>
              <a:buNone/>
            </a:pPr>
            <a:r>
              <a:rPr lang="en-US" sz="1300" dirty="0">
                <a:solidFill>
                  <a:srgbClr val="E6EAF0"/>
                </a:solidFill>
                <a:latin typeface="JetBrains Mono" pitchFamily="34" charset="0"/>
                <a:ea typeface="JetBrains Mono" pitchFamily="34" charset="-122"/>
                <a:cs typeface="JetBrains Mono" pitchFamily="34" charset="-120"/>
              </a:rPr>
              <a:t>      </a:t>
            </a:r>
            <a:r>
              <a:rPr lang="en-US" sz="1300" dirty="0">
                <a:solidFill>
                  <a:srgbClr val="8DB8EA"/>
                </a:solidFill>
                <a:latin typeface="JetBrains Mono" pitchFamily="34" charset="0"/>
                <a:ea typeface="JetBrains Mono" pitchFamily="34" charset="-122"/>
                <a:cs typeface="JetBrains Mono" pitchFamily="34" charset="-120"/>
              </a:rPr>
              <a:t>nn.ReLU()</a:t>
            </a:r>
            <a:r>
              <a:rPr lang="en-US" sz="1300" dirty="0">
                <a:solidFill>
                  <a:srgbClr val="E6EAF0"/>
                </a:solidFill>
                <a:latin typeface="JetBrains Mono" pitchFamily="34" charset="0"/>
                <a:ea typeface="JetBrains Mono" pitchFamily="34" charset="-122"/>
                <a:cs typeface="JetBrains Mono" pitchFamily="34" charset="-120"/>
              </a:rPr>
              <a:t>,</a:t>
            </a:r>
            <a:endParaRPr lang="en-US" sz="1300" dirty="0"/>
          </a:p>
          <a:p>
            <a:pPr algn="l" indent="0" marL="0">
              <a:lnSpc>
                <a:spcPts val="2015"/>
              </a:lnSpc>
              <a:buNone/>
            </a:pPr>
            <a:r>
              <a:rPr lang="en-US" sz="1300" dirty="0">
                <a:solidFill>
                  <a:srgbClr val="E6EAF0"/>
                </a:solidFill>
                <a:latin typeface="JetBrains Mono" pitchFamily="34" charset="0"/>
                <a:ea typeface="JetBrains Mono" pitchFamily="34" charset="-122"/>
                <a:cs typeface="JetBrains Mono" pitchFamily="34" charset="-120"/>
              </a:rPr>
              <a:t>      </a:t>
            </a:r>
            <a:r>
              <a:rPr lang="en-US" sz="1300" dirty="0">
                <a:solidFill>
                  <a:srgbClr val="8DB8EA"/>
                </a:solidFill>
                <a:latin typeface="JetBrains Mono" pitchFamily="34" charset="0"/>
                <a:ea typeface="JetBrains Mono" pitchFamily="34" charset="-122"/>
                <a:cs typeface="JetBrains Mono" pitchFamily="34" charset="-120"/>
              </a:rPr>
              <a:t>nn.Linear(256, 784)</a:t>
            </a:r>
            <a:r>
              <a:rPr lang="en-US" sz="1300" dirty="0">
                <a:solidFill>
                  <a:srgbClr val="E6EAF0"/>
                </a:solidFill>
                <a:latin typeface="JetBrains Mono" pitchFamily="34" charset="0"/>
                <a:ea typeface="JetBrains Mono" pitchFamily="34" charset="-122"/>
                <a:cs typeface="JetBrains Mono" pitchFamily="34" charset="-120"/>
              </a:rPr>
              <a:t>,</a:t>
            </a:r>
            <a:endParaRPr lang="en-US" sz="1300" dirty="0"/>
          </a:p>
          <a:p>
            <a:pPr algn="l" indent="0" marL="0">
              <a:lnSpc>
                <a:spcPts val="2015"/>
              </a:lnSpc>
              <a:buNone/>
            </a:pPr>
            <a:r>
              <a:rPr lang="en-US" sz="1300" dirty="0">
                <a:solidFill>
                  <a:srgbClr val="E6EAF0"/>
                </a:solidFill>
                <a:latin typeface="JetBrains Mono" pitchFamily="34" charset="0"/>
                <a:ea typeface="JetBrains Mono" pitchFamily="34" charset="-122"/>
                <a:cs typeface="JetBrains Mono" pitchFamily="34" charset="-120"/>
              </a:rPr>
              <a:t>      </a:t>
            </a:r>
            <a:r>
              <a:rPr lang="en-US" sz="1300" dirty="0">
                <a:solidFill>
                  <a:srgbClr val="E9B949"/>
                </a:solidFill>
                <a:latin typeface="JetBrains Mono" pitchFamily="34" charset="0"/>
                <a:ea typeface="JetBrains Mono" pitchFamily="34" charset="-122"/>
                <a:cs typeface="JetBrains Mono" pitchFamily="34" charset="-120"/>
              </a:rPr>
              <a:t>nn.Tanh()</a:t>
            </a:r>
            <a:r>
              <a:rPr lang="en-US" sz="1300" dirty="0">
                <a:solidFill>
                  <a:srgbClr val="E6EAF0"/>
                </a:solidFill>
                <a:latin typeface="JetBrains Mono" pitchFamily="34" charset="0"/>
                <a:ea typeface="JetBrains Mono" pitchFamily="34" charset="-122"/>
                <a:cs typeface="JetBrains Mono" pitchFamily="34" charset="-120"/>
              </a:rPr>
              <a:t>)</a:t>
            </a:r>
            <a:endParaRPr lang="en-US" sz="1300" dirty="0"/>
          </a:p>
          <a:p>
            <a:pPr algn="l" indent="0" marL="0">
              <a:lnSpc>
                <a:spcPts val="2015"/>
              </a:lnSpc>
              <a:buNone/>
            </a:pPr>
            <a:r>
              <a:rPr lang="en-US" sz="1300" dirty="0">
                <a:solidFill>
                  <a:srgbClr val="E6EAF0"/>
                </a:solidFill>
                <a:latin typeface="JetBrains Mono" pitchFamily="34" charset="0"/>
                <a:ea typeface="JetBrains Mono" pitchFamily="34" charset="-122"/>
                <a:cs typeface="JetBrains Mono" pitchFamily="34" charset="-120"/>
              </a:rPr>
              <a:t>  def forward(self, x):</a:t>
            </a:r>
            <a:endParaRPr lang="en-US" sz="1300" dirty="0"/>
          </a:p>
          <a:p>
            <a:pPr algn="l" indent="0" marL="0">
              <a:lnSpc>
                <a:spcPts val="2015"/>
              </a:lnSpc>
              <a:buNone/>
            </a:pPr>
            <a:r>
              <a:rPr lang="en-US" sz="1300" dirty="0">
                <a:solidFill>
                  <a:srgbClr val="E6EAF0"/>
                </a:solidFill>
                <a:latin typeface="JetBrains Mono" pitchFamily="34" charset="0"/>
                <a:ea typeface="JetBrains Mono" pitchFamily="34" charset="-122"/>
                <a:cs typeface="JetBrains Mono" pitchFamily="34" charset="-120"/>
              </a:rPr>
              <a:t>    return self.fc(x)</a:t>
            </a:r>
            <a:r>
              <a:rPr lang="en-US" sz="1300" dirty="0">
                <a:solidFill>
                  <a:srgbClr val="E9B949"/>
                </a:solidFill>
                <a:latin typeface="JetBrains Mono" pitchFamily="34" charset="0"/>
                <a:ea typeface="JetBrains Mono" pitchFamily="34" charset="-122"/>
                <a:cs typeface="JetBrains Mono" pitchFamily="34" charset="-120"/>
              </a:rPr>
              <a:t>.view(-1, 1, 28, 28)</a:t>
            </a:r>
            <a:endParaRPr lang="en-US" sz="1300" dirty="0"/>
          </a:p>
        </p:txBody>
      </p:sp>
      <p:sp>
        <p:nvSpPr>
          <p:cNvPr id="6" name="Shape 4"/>
          <p:cNvSpPr/>
          <p:nvPr/>
        </p:nvSpPr>
        <p:spPr>
          <a:xfrm>
            <a:off x="6610350" y="1911350"/>
            <a:ext cx="4762500" cy="749300"/>
          </a:xfrm>
          <a:prstGeom prst="roundRect">
            <a:avLst>
              <a:gd name="adj" fmla="val 11017"/>
            </a:avLst>
          </a:prstGeom>
          <a:solidFill>
            <a:srgbClr val="FFFDF8"/>
          </a:solidFill>
          <a:ln w="12700">
            <a:solidFill>
              <a:srgbClr val="E4DED0"/>
            </a:solidFill>
            <a:prstDash val="solid"/>
          </a:ln>
        </p:spPr>
      </p:sp>
      <p:sp>
        <p:nvSpPr>
          <p:cNvPr id="7" name="Text 5"/>
          <p:cNvSpPr/>
          <p:nvPr/>
        </p:nvSpPr>
        <p:spPr>
          <a:xfrm>
            <a:off x="6826250" y="2019300"/>
            <a:ext cx="4578350" cy="50542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4213D"/>
                </a:solidFill>
                <a:latin typeface="IBM Plex Sans" pitchFamily="34" charset="0"/>
                <a:ea typeface="IBM Plex Sans" pitchFamily="34" charset="-122"/>
                <a:cs typeface="IBM Plex Sans" pitchFamily="34" charset="-120"/>
              </a:rPr>
              <a:t>100 → 256 → 784</a:t>
            </a:r>
            <a:r>
              <a:rPr lang="en-US" sz="1400" dirty="0">
                <a:solidFill>
                  <a:srgbClr val="14213D"/>
                </a:solidFill>
                <a:latin typeface="IBM Plex Sans" pitchFamily="34" charset="0"/>
                <a:ea typeface="IBM Plex Sans" pitchFamily="34" charset="-122"/>
                <a:cs typeface="IBM Plex Sans" pitchFamily="34" charset="-120"/>
              </a:rPr>
              <a:t>: noise vector → hidden layer → one value per pixel</a:t>
            </a:r>
            <a:endParaRPr lang="en-US" sz="1400" dirty="0"/>
          </a:p>
        </p:txBody>
      </p:sp>
      <p:sp>
        <p:nvSpPr>
          <p:cNvPr id="8" name="Shape 6"/>
          <p:cNvSpPr/>
          <p:nvPr/>
        </p:nvSpPr>
        <p:spPr>
          <a:xfrm>
            <a:off x="6610350" y="2800350"/>
            <a:ext cx="4762500" cy="1003300"/>
          </a:xfrm>
          <a:prstGeom prst="roundRect">
            <a:avLst>
              <a:gd name="adj" fmla="val 8228"/>
            </a:avLst>
          </a:prstGeom>
          <a:solidFill>
            <a:srgbClr val="FFFDF8"/>
          </a:solidFill>
          <a:ln w="12700">
            <a:solidFill>
              <a:srgbClr val="E4DED0"/>
            </a:solidFill>
            <a:prstDash val="solid"/>
          </a:ln>
        </p:spPr>
      </p:sp>
      <p:sp>
        <p:nvSpPr>
          <p:cNvPr id="9" name="Text 7"/>
          <p:cNvSpPr/>
          <p:nvPr/>
        </p:nvSpPr>
        <p:spPr>
          <a:xfrm>
            <a:off x="6826250" y="2908300"/>
            <a:ext cx="4578350" cy="50542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4213D"/>
                </a:solidFill>
                <a:latin typeface="IBM Plex Sans" pitchFamily="34" charset="0"/>
                <a:ea typeface="IBM Plex Sans" pitchFamily="34" charset="-122"/>
                <a:cs typeface="IBM Plex Sans" pitchFamily="34" charset="-120"/>
              </a:rPr>
              <a:t>Tanh</a:t>
            </a:r>
            <a:r>
              <a:rPr lang="en-US" sz="1400" dirty="0">
                <a:solidFill>
                  <a:srgbClr val="14213D"/>
                </a:solidFill>
                <a:latin typeface="IBM Plex Sans" pitchFamily="34" charset="0"/>
                <a:ea typeface="IBM Plex Sans" pitchFamily="34" charset="-122"/>
                <a:cs typeface="IBM Plex Sans" pitchFamily="34" charset="-120"/>
              </a:rPr>
              <a:t> squashes outputs to −1…1, the same range as the real images after </a:t>
            </a:r>
            <a:r>
              <a:rPr lang="en-US" sz="1400" dirty="0">
                <a:solidFill>
                  <a:srgbClr val="2563A8"/>
                </a:solidFill>
                <a:latin typeface="IBM Plex Sans" pitchFamily="34" charset="0"/>
                <a:ea typeface="IBM Plex Sans" pitchFamily="34" charset="-122"/>
                <a:cs typeface="IBM Plex Sans" pitchFamily="34" charset="-120"/>
              </a:rPr>
              <a:t>Normalize((0.5,), (0.5,))</a:t>
            </a:r>
            <a:endParaRPr lang="en-US" sz="1400" dirty="0"/>
          </a:p>
        </p:txBody>
      </p:sp>
      <p:sp>
        <p:nvSpPr>
          <p:cNvPr id="10" name="Shape 8"/>
          <p:cNvSpPr/>
          <p:nvPr/>
        </p:nvSpPr>
        <p:spPr>
          <a:xfrm>
            <a:off x="6610350" y="3943350"/>
            <a:ext cx="4762500" cy="749300"/>
          </a:xfrm>
          <a:prstGeom prst="roundRect">
            <a:avLst>
              <a:gd name="adj" fmla="val 11017"/>
            </a:avLst>
          </a:prstGeom>
          <a:solidFill>
            <a:srgbClr val="FFFDF8"/>
          </a:solidFill>
          <a:ln w="12700">
            <a:solidFill>
              <a:srgbClr val="E4DED0"/>
            </a:solidFill>
            <a:prstDash val="solid"/>
          </a:ln>
        </p:spPr>
      </p:sp>
      <p:sp>
        <p:nvSpPr>
          <p:cNvPr id="11" name="Text 9"/>
          <p:cNvSpPr/>
          <p:nvPr/>
        </p:nvSpPr>
        <p:spPr>
          <a:xfrm>
            <a:off x="6826250" y="4051300"/>
            <a:ext cx="4578350" cy="50542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4213D"/>
                </a:solidFill>
                <a:latin typeface="IBM Plex Sans" pitchFamily="34" charset="0"/>
                <a:ea typeface="IBM Plex Sans" pitchFamily="34" charset="-122"/>
                <a:cs typeface="IBM Plex Sans" pitchFamily="34" charset="-120"/>
              </a:rPr>
              <a:t>.view(-1, 1, 28, 28)</a:t>
            </a:r>
            <a:r>
              <a:rPr lang="en-US" sz="1400" dirty="0">
                <a:solidFill>
                  <a:srgbClr val="14213D"/>
                </a:solidFill>
                <a:latin typeface="IBM Plex Sans" pitchFamily="34" charset="0"/>
                <a:ea typeface="IBM Plex Sans" pitchFamily="34" charset="-122"/>
                <a:cs typeface="IBM Plex Sans" pitchFamily="34" charset="-120"/>
              </a:rPr>
              <a:t> reshapes 784 numbers into a 1-channel 28×28 image</a:t>
            </a:r>
            <a:endParaRPr lang="en-US" sz="1400" dirty="0"/>
          </a:p>
        </p:txBody>
      </p:sp>
      <p:sp>
        <p:nvSpPr>
          <p:cNvPr id="12" name="Shape 10"/>
          <p:cNvSpPr/>
          <p:nvPr/>
        </p:nvSpPr>
        <p:spPr>
          <a:xfrm>
            <a:off x="6604000" y="4826000"/>
            <a:ext cx="4775200" cy="635000"/>
          </a:xfrm>
          <a:prstGeom prst="roundRect">
            <a:avLst>
              <a:gd name="adj" fmla="val 14000"/>
            </a:avLst>
          </a:prstGeom>
          <a:solidFill>
            <a:srgbClr val="DCE8F5"/>
          </a:solidFill>
          <a:ln/>
        </p:spPr>
      </p:sp>
      <p:sp>
        <p:nvSpPr>
          <p:cNvPr id="13" name="Text 11"/>
          <p:cNvSpPr/>
          <p:nvPr/>
        </p:nvSpPr>
        <p:spPr>
          <a:xfrm>
            <a:off x="6826250" y="4984750"/>
            <a:ext cx="457835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Flowers → digits: the </a:t>
            </a:r>
            <a:r>
              <a:rPr lang="en-US" sz="1400" b="1" dirty="0">
                <a:solidFill>
                  <a:srgbClr val="14213D"/>
                </a:solidFill>
                <a:latin typeface="IBM Plex Sans" pitchFamily="34" charset="0"/>
                <a:ea typeface="IBM Plex Sans" pitchFamily="34" charset="-122"/>
                <a:cs typeface="IBM Plex Sans" pitchFamily="34" charset="-120"/>
              </a:rPr>
              <a:t>role</a:t>
            </a:r>
            <a:r>
              <a:rPr lang="en-US" sz="1400" dirty="0">
                <a:solidFill>
                  <a:srgbClr val="14213D"/>
                </a:solidFill>
                <a:latin typeface="IBM Plex Sans" pitchFamily="34" charset="0"/>
                <a:ea typeface="IBM Plex Sans" pitchFamily="34" charset="-122"/>
                <a:cs typeface="IBM Plex Sans" pitchFamily="34" charset="-120"/>
              </a:rPr>
              <a:t> of G is unchanged.</a:t>
            </a:r>
            <a:endParaRPr lang="en-US" sz="1400" dirty="0"/>
          </a:p>
        </p:txBody>
      </p:sp>
      <p:sp>
        <p:nvSpPr>
          <p:cNvPr id="14" name="Text 12"/>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1 · 04 Generator · min 40–42 · CV-Week4-Lecture1.ipynb, exercise cell</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B24E17"/>
        </a:solidFill>
      </p:bgPr>
    </p:bg>
    <p:spTree>
      <p:nvGrpSpPr>
        <p:cNvPr id="1" name=""/>
        <p:cNvGrpSpPr/>
        <p:nvPr/>
      </p:nvGrpSpPr>
      <p:grpSpPr>
        <a:xfrm>
          <a:off x="0" y="0"/>
          <a:ext cx="0" cy="0"/>
          <a:chOff x="0" y="0"/>
          <a:chExt cx="0" cy="0"/>
        </a:xfrm>
      </p:grpSpPr>
      <p:sp>
        <p:nvSpPr>
          <p:cNvPr id="2" name="Text 0"/>
          <p:cNvSpPr/>
          <p:nvPr/>
        </p:nvSpPr>
        <p:spPr>
          <a:xfrm>
            <a:off x="812800" y="1905000"/>
            <a:ext cx="3924300"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F6F3EC"/>
                </a:solidFill>
                <a:latin typeface="Space Grotesk" pitchFamily="34" charset="0"/>
                <a:ea typeface="Space Grotesk" pitchFamily="34" charset="-122"/>
                <a:cs typeface="Space Grotesk" pitchFamily="34" charset="-120"/>
              </a:rPr>
              <a:t>05</a:t>
            </a:r>
            <a:endParaRPr lang="en-US" sz="8000" dirty="0"/>
          </a:p>
        </p:txBody>
      </p:sp>
      <p:sp>
        <p:nvSpPr>
          <p:cNvPr id="3" name="Text 1"/>
          <p:cNvSpPr/>
          <p:nvPr/>
        </p:nvSpPr>
        <p:spPr>
          <a:xfrm>
            <a:off x="812800" y="3175000"/>
            <a:ext cx="10464800"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6F3EC"/>
                </a:solidFill>
                <a:latin typeface="Space Grotesk" pitchFamily="34" charset="0"/>
                <a:ea typeface="Space Grotesk" pitchFamily="34" charset="-122"/>
                <a:cs typeface="Space Grotesk" pitchFamily="34" charset="-120"/>
              </a:rPr>
              <a:t>The Discriminator: the inspector</a:t>
            </a:r>
            <a:endParaRPr lang="en-US" sz="4400" dirty="0"/>
          </a:p>
        </p:txBody>
      </p:sp>
      <p:sp>
        <p:nvSpPr>
          <p:cNvPr id="4" name="Text 2"/>
          <p:cNvSpPr/>
          <p:nvPr/>
        </p:nvSpPr>
        <p:spPr>
          <a:xfrm>
            <a:off x="812800" y="4064000"/>
            <a:ext cx="915670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F6E1D3"/>
                </a:solidFill>
                <a:latin typeface="IBM Plex Sans" pitchFamily="34" charset="0"/>
                <a:ea typeface="IBM Plex Sans" pitchFamily="34" charset="-122"/>
                <a:cs typeface="IBM Plex Sans" pitchFamily="34" charset="-120"/>
              </a:rPr>
              <a:t>A binary classifier whose labels come for free, and whose opinion teaches the generator.</a:t>
            </a:r>
            <a:endParaRPr lang="en-US" sz="1800" dirty="0"/>
          </a:p>
        </p:txBody>
      </p:sp>
      <p:sp>
        <p:nvSpPr>
          <p:cNvPr id="5" name="Text 3"/>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E1D3"/>
                </a:solidFill>
                <a:latin typeface="IBM Plex Sans" pitchFamily="34" charset="0"/>
                <a:ea typeface="IBM Plex Sans" pitchFamily="34" charset="-122"/>
                <a:cs typeface="IBM Plex Sans" pitchFamily="34" charset="-120"/>
              </a:rPr>
              <a:t>GAN Class 1 · min 42–53</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05 · DISCRIMINATOR · ITS JOB</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D looks at an image and outputs one number: P(real)</a:t>
            </a:r>
            <a:endParaRPr lang="en-US" sz="3200" dirty="0"/>
          </a:p>
        </p:txBody>
      </p:sp>
      <p:sp>
        <p:nvSpPr>
          <p:cNvPr id="4" name="Shape 2"/>
          <p:cNvSpPr/>
          <p:nvPr/>
        </p:nvSpPr>
        <p:spPr>
          <a:xfrm>
            <a:off x="822325" y="1914525"/>
            <a:ext cx="1631950" cy="1631950"/>
          </a:xfrm>
          <a:prstGeom prst="roundRect">
            <a:avLst>
              <a:gd name="adj" fmla="val 5642"/>
            </a:avLst>
          </a:prstGeom>
          <a:solidFill>
            <a:srgbClr val="FFFDF8"/>
          </a:solidFill>
          <a:ln w="19050">
            <a:solidFill>
              <a:srgbClr val="14213D"/>
            </a:solidFill>
            <a:prstDash val="solid"/>
          </a:ln>
        </p:spPr>
      </p:sp>
      <p:pic>
        <p:nvPicPr>
          <p:cNvPr id="5" name="Image 0" descr="A real flower from the dataset">    </p:cNvPr>
          <p:cNvPicPr>
            <a:picLocks noChangeAspect="1"/>
          </p:cNvPicPr>
          <p:nvPr/>
        </p:nvPicPr>
        <p:blipFill>
          <a:blip r:embed="rId1"/>
          <a:srcRect l="0" r="0" t="0" b="0"/>
          <a:stretch/>
        </p:blipFill>
        <p:spPr>
          <a:xfrm>
            <a:off x="908050" y="2000250"/>
            <a:ext cx="1460500" cy="1460500"/>
          </a:xfrm>
          <a:prstGeom prst="rect">
            <a:avLst/>
          </a:prstGeom>
        </p:spPr>
      </p:pic>
      <p:sp>
        <p:nvSpPr>
          <p:cNvPr id="6" name="Text 3"/>
          <p:cNvSpPr/>
          <p:nvPr/>
        </p:nvSpPr>
        <p:spPr>
          <a:xfrm>
            <a:off x="787400" y="3606800"/>
            <a:ext cx="1701800"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real (from dataset)</a:t>
            </a:r>
            <a:endParaRPr lang="en-US" sz="1300" dirty="0"/>
          </a:p>
        </p:txBody>
      </p:sp>
      <p:pic>
        <p:nvPicPr>
          <p:cNvPr id="7" name="Image 1" descr="connector">    </p:cNvPr>
          <p:cNvPicPr>
            <a:picLocks noChangeAspect="1"/>
          </p:cNvPicPr>
          <p:nvPr/>
        </p:nvPicPr>
        <p:blipFill>
          <a:blip r:embed="rId2"/>
          <a:srcRect l="0" r="0" t="0" b="0"/>
          <a:stretch/>
        </p:blipFill>
        <p:spPr>
          <a:xfrm>
            <a:off x="2463800" y="2654300"/>
            <a:ext cx="2057400" cy="787400"/>
          </a:xfrm>
          <a:prstGeom prst="rect">
            <a:avLst/>
          </a:prstGeom>
        </p:spPr>
      </p:pic>
      <p:sp>
        <p:nvSpPr>
          <p:cNvPr id="8" name="Shape 4"/>
          <p:cNvSpPr/>
          <p:nvPr/>
        </p:nvSpPr>
        <p:spPr>
          <a:xfrm>
            <a:off x="822325" y="4073525"/>
            <a:ext cx="1631950" cy="1631950"/>
          </a:xfrm>
          <a:prstGeom prst="roundRect">
            <a:avLst>
              <a:gd name="adj" fmla="val 5642"/>
            </a:avLst>
          </a:prstGeom>
          <a:solidFill>
            <a:srgbClr val="FFFDF8"/>
          </a:solidFill>
          <a:ln w="19050">
            <a:solidFill>
              <a:srgbClr val="2563A8"/>
            </a:solidFill>
            <a:prstDash val="solid"/>
          </a:ln>
        </p:spPr>
      </p:sp>
      <p:pic>
        <p:nvPicPr>
          <p:cNvPr id="9" name="Image 2" descr="A rough generated flower">    </p:cNvPr>
          <p:cNvPicPr>
            <a:picLocks noChangeAspect="1"/>
          </p:cNvPicPr>
          <p:nvPr/>
        </p:nvPicPr>
        <p:blipFill>
          <a:blip r:embed="rId3"/>
          <a:srcRect l="0" r="0" t="0" b="0"/>
          <a:stretch/>
        </p:blipFill>
        <p:spPr>
          <a:xfrm>
            <a:off x="908050" y="4159250"/>
            <a:ext cx="1460500" cy="1460500"/>
          </a:xfrm>
          <a:prstGeom prst="roundRect">
            <a:avLst>
              <a:gd name="adj" fmla="val 3478"/>
            </a:avLst>
          </a:prstGeom>
        </p:spPr>
      </p:pic>
      <p:sp>
        <p:nvSpPr>
          <p:cNvPr id="10" name="Text 5"/>
          <p:cNvSpPr/>
          <p:nvPr/>
        </p:nvSpPr>
        <p:spPr>
          <a:xfrm>
            <a:off x="2540000" y="5524500"/>
            <a:ext cx="196215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563A8"/>
                </a:solidFill>
                <a:latin typeface="IBM Plex Sans" pitchFamily="34" charset="0"/>
                <a:ea typeface="IBM Plex Sans" pitchFamily="34" charset="-122"/>
                <a:cs typeface="IBM Plex Sans" pitchFamily="34" charset="-120"/>
              </a:rPr>
              <a:t>fake (from G)</a:t>
            </a:r>
            <a:endParaRPr lang="en-US" sz="1300" dirty="0"/>
          </a:p>
        </p:txBody>
      </p:sp>
      <p:pic>
        <p:nvPicPr>
          <p:cNvPr id="11" name="Image 3" descr="connector">    </p:cNvPr>
          <p:cNvPicPr>
            <a:picLocks noChangeAspect="1"/>
          </p:cNvPicPr>
          <p:nvPr/>
        </p:nvPicPr>
        <p:blipFill>
          <a:blip r:embed="rId4"/>
          <a:srcRect l="0" r="0" t="0" b="0"/>
          <a:stretch/>
        </p:blipFill>
        <p:spPr>
          <a:xfrm>
            <a:off x="2463800" y="3860800"/>
            <a:ext cx="2057400" cy="1104900"/>
          </a:xfrm>
          <a:prstGeom prst="rect">
            <a:avLst/>
          </a:prstGeom>
        </p:spPr>
      </p:pic>
      <p:sp>
        <p:nvSpPr>
          <p:cNvPr id="12" name="Shape 6"/>
          <p:cNvSpPr/>
          <p:nvPr/>
        </p:nvSpPr>
        <p:spPr>
          <a:xfrm>
            <a:off x="4508500" y="2984500"/>
            <a:ext cx="2667000" cy="1333500"/>
          </a:xfrm>
          <a:prstGeom prst="roundRect">
            <a:avLst>
              <a:gd name="adj" fmla="val 11429"/>
            </a:avLst>
          </a:prstGeom>
          <a:solidFill>
            <a:srgbClr val="B24E17"/>
          </a:solidFill>
          <a:ln/>
        </p:spPr>
      </p:sp>
      <p:sp>
        <p:nvSpPr>
          <p:cNvPr id="13" name="Text 7"/>
          <p:cNvSpPr/>
          <p:nvPr/>
        </p:nvSpPr>
        <p:spPr>
          <a:xfrm>
            <a:off x="4468495" y="3175000"/>
            <a:ext cx="2747010" cy="523230"/>
          </a:xfrm>
          <a:prstGeom prst="rect">
            <a:avLst/>
          </a:prstGeom>
          <a:noFill/>
          <a:ln/>
        </p:spPr>
        <p:txBody>
          <a:bodyPr wrap="square" lIns="0" tIns="0" rIns="0" bIns="0" rtlCol="0" anchor="t">
            <a:normAutofit/>
          </a:bodyPr>
          <a:lstStyle/>
          <a:p>
            <a:pPr algn="ctr" indent="0" marL="0">
              <a:lnSpc>
                <a:spcPts val="3920"/>
              </a:lnSpc>
              <a:buNone/>
            </a:pPr>
            <a:r>
              <a:rPr lang="en-US" sz="2800" b="1" dirty="0">
                <a:solidFill>
                  <a:srgbClr val="F6F3EC"/>
                </a:solidFill>
                <a:latin typeface="Space Grotesk" pitchFamily="34" charset="0"/>
                <a:ea typeface="Space Grotesk" pitchFamily="34" charset="-122"/>
                <a:cs typeface="Space Grotesk" pitchFamily="34" charset="-120"/>
              </a:rPr>
              <a:t>D(x)</a:t>
            </a:r>
            <a:endParaRPr lang="en-US" sz="2800" dirty="0"/>
          </a:p>
        </p:txBody>
      </p:sp>
      <p:sp>
        <p:nvSpPr>
          <p:cNvPr id="14" name="Text 8"/>
          <p:cNvSpPr/>
          <p:nvPr/>
        </p:nvSpPr>
        <p:spPr>
          <a:xfrm>
            <a:off x="4468495" y="3778250"/>
            <a:ext cx="2747010" cy="274290"/>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F6E1D3"/>
                </a:solidFill>
                <a:latin typeface="IBM Plex Sans" pitchFamily="34" charset="0"/>
                <a:ea typeface="IBM Plex Sans" pitchFamily="34" charset="-122"/>
                <a:cs typeface="IBM Plex Sans" pitchFamily="34" charset="-120"/>
              </a:rPr>
              <a:t>trainable weights θ_D</a:t>
            </a:r>
            <a:endParaRPr lang="en-US" sz="1400" dirty="0"/>
          </a:p>
        </p:txBody>
      </p:sp>
      <p:pic>
        <p:nvPicPr>
          <p:cNvPr id="15" name="Image 4" descr="connector">    </p:cNvPr>
          <p:cNvPicPr>
            <a:picLocks noChangeAspect="1"/>
          </p:cNvPicPr>
          <p:nvPr/>
        </p:nvPicPr>
        <p:blipFill>
          <a:blip r:embed="rId5"/>
          <a:srcRect l="0" r="0" t="0" b="0"/>
          <a:stretch/>
        </p:blipFill>
        <p:spPr>
          <a:xfrm>
            <a:off x="7131050" y="3575050"/>
            <a:ext cx="882650" cy="152400"/>
          </a:xfrm>
          <a:prstGeom prst="rect">
            <a:avLst/>
          </a:prstGeom>
        </p:spPr>
      </p:pic>
      <p:sp>
        <p:nvSpPr>
          <p:cNvPr id="16" name="Text 9"/>
          <p:cNvSpPr/>
          <p:nvPr/>
        </p:nvSpPr>
        <p:spPr>
          <a:xfrm>
            <a:off x="8064500" y="2667000"/>
            <a:ext cx="1701800"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14213D"/>
                </a:solidFill>
                <a:latin typeface="JetBrains Mono" pitchFamily="34" charset="0"/>
                <a:ea typeface="JetBrains Mono" pitchFamily="34" charset="-122"/>
                <a:cs typeface="JetBrains Mono" pitchFamily="34" charset="-120"/>
              </a:rPr>
              <a:t>0.97</a:t>
            </a:r>
            <a:endParaRPr lang="en-US" sz="3200" dirty="0"/>
          </a:p>
        </p:txBody>
      </p:sp>
      <p:sp>
        <p:nvSpPr>
          <p:cNvPr id="17" name="Text 10"/>
          <p:cNvSpPr/>
          <p:nvPr/>
        </p:nvSpPr>
        <p:spPr>
          <a:xfrm>
            <a:off x="8064500" y="3206750"/>
            <a:ext cx="340106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"I'm fairly sure this is real"</a:t>
            </a:r>
            <a:endParaRPr lang="en-US" sz="1400" dirty="0"/>
          </a:p>
        </p:txBody>
      </p:sp>
      <p:sp>
        <p:nvSpPr>
          <p:cNvPr id="18" name="Text 11"/>
          <p:cNvSpPr/>
          <p:nvPr/>
        </p:nvSpPr>
        <p:spPr>
          <a:xfrm>
            <a:off x="8064500" y="3810000"/>
            <a:ext cx="1701800"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2563A8"/>
                </a:solidFill>
                <a:latin typeface="JetBrains Mono" pitchFamily="34" charset="0"/>
                <a:ea typeface="JetBrains Mono" pitchFamily="34" charset="-122"/>
                <a:cs typeface="JetBrains Mono" pitchFamily="34" charset="-120"/>
              </a:rPr>
              <a:t>0.04</a:t>
            </a:r>
            <a:endParaRPr lang="en-US" sz="3200" dirty="0"/>
          </a:p>
        </p:txBody>
      </p:sp>
      <p:sp>
        <p:nvSpPr>
          <p:cNvPr id="19" name="Text 12"/>
          <p:cNvSpPr/>
          <p:nvPr/>
        </p:nvSpPr>
        <p:spPr>
          <a:xfrm>
            <a:off x="8064500" y="4349750"/>
            <a:ext cx="340106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563A8"/>
                </a:solidFill>
                <a:latin typeface="IBM Plex Sans" pitchFamily="34" charset="0"/>
                <a:ea typeface="IBM Plex Sans" pitchFamily="34" charset="-122"/>
                <a:cs typeface="IBM Plex Sans" pitchFamily="34" charset="-120"/>
              </a:rPr>
              <a:t>"I'm fairly sure this is fake"</a:t>
            </a:r>
            <a:endParaRPr lang="en-US" sz="1400" dirty="0"/>
          </a:p>
        </p:txBody>
      </p:sp>
      <p:sp>
        <p:nvSpPr>
          <p:cNvPr id="20" name="Text 13"/>
          <p:cNvSpPr/>
          <p:nvPr/>
        </p:nvSpPr>
        <p:spPr>
          <a:xfrm>
            <a:off x="8064500" y="4953000"/>
            <a:ext cx="3414141"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213D"/>
                </a:solidFill>
                <a:latin typeface="IBM Plex Sans" pitchFamily="34" charset="0"/>
                <a:ea typeface="IBM Plex Sans" pitchFamily="34" charset="-122"/>
                <a:cs typeface="IBM Plex Sans" pitchFamily="34" charset="-120"/>
              </a:rPr>
              <a:t>D learns from real flowers what they look like: </a:t>
            </a:r>
            <a:r>
              <a:rPr lang="en-US" sz="1400" b="1" dirty="0">
                <a:solidFill>
                  <a:srgbClr val="14213D"/>
                </a:solidFill>
                <a:latin typeface="IBM Plex Sans" pitchFamily="34" charset="0"/>
                <a:ea typeface="IBM Plex Sans" pitchFamily="34" charset="-122"/>
                <a:cs typeface="IBM Plex Sans" pitchFamily="34" charset="-120"/>
              </a:rPr>
              <a:t>colours, shading and shapes</a:t>
            </a:r>
            <a:r>
              <a:rPr lang="en-US" sz="1400" dirty="0">
                <a:solidFill>
                  <a:srgbClr val="14213D"/>
                </a:solidFill>
                <a:latin typeface="IBM Plex Sans" pitchFamily="34" charset="0"/>
                <a:ea typeface="IBM Plex Sans" pitchFamily="34" charset="-122"/>
                <a:cs typeface="IBM Plex Sans" pitchFamily="34" charset="-120"/>
              </a:rPr>
              <a:t>.</a:t>
            </a:r>
            <a:endParaRPr lang="en-US" sz="1400" dirty="0"/>
          </a:p>
        </p:txBody>
      </p:sp>
      <p:sp>
        <p:nvSpPr>
          <p:cNvPr id="21" name="Text 14"/>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1 · 05 Discriminator · min 42–45</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05 · DISCRIMINATOR · WHERE ITS LABELS COME FROM</a:t>
            </a:r>
            <a:endParaRPr lang="en-US" sz="1200" dirty="0"/>
          </a:p>
        </p:txBody>
      </p:sp>
      <p:sp>
        <p:nvSpPr>
          <p:cNvPr id="3" name="Text 1"/>
          <p:cNvSpPr/>
          <p:nvPr/>
        </p:nvSpPr>
        <p:spPr>
          <a:xfrm>
            <a:off x="812800" y="82550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D's labels come for free: we know where each image came from</a:t>
            </a:r>
            <a:endParaRPr lang="en-US" sz="3200" dirty="0"/>
          </a:p>
        </p:txBody>
      </p:sp>
      <p:sp>
        <p:nvSpPr>
          <p:cNvPr id="4" name="Shape 2"/>
          <p:cNvSpPr/>
          <p:nvPr/>
        </p:nvSpPr>
        <p:spPr>
          <a:xfrm>
            <a:off x="819150" y="2165350"/>
            <a:ext cx="5067300" cy="2527300"/>
          </a:xfrm>
          <a:prstGeom prst="roundRect">
            <a:avLst>
              <a:gd name="adj" fmla="val 3769"/>
            </a:avLst>
          </a:prstGeom>
          <a:solidFill>
            <a:srgbClr val="FFFDF8"/>
          </a:solidFill>
          <a:ln w="12700">
            <a:solidFill>
              <a:srgbClr val="E4DED0"/>
            </a:solidFill>
            <a:prstDash val="solid"/>
          </a:ln>
        </p:spPr>
      </p:sp>
      <p:pic>
        <p:nvPicPr>
          <p:cNvPr id="5" name="Image 0" descr="Real pink flower">    </p:cNvPr>
          <p:cNvPicPr>
            <a:picLocks noChangeAspect="1"/>
          </p:cNvPicPr>
          <p:nvPr/>
        </p:nvPicPr>
        <p:blipFill>
          <a:blip r:embed="rId1"/>
          <a:srcRect l="0" r="0" t="0" b="0"/>
          <a:stretch/>
        </p:blipFill>
        <p:spPr>
          <a:xfrm>
            <a:off x="1016000" y="2413000"/>
            <a:ext cx="1143000" cy="1143000"/>
          </a:xfrm>
          <a:prstGeom prst="rect">
            <a:avLst/>
          </a:prstGeom>
        </p:spPr>
      </p:pic>
      <p:pic>
        <p:nvPicPr>
          <p:cNvPr id="6" name="Image 1" descr="Real orange flower">    </p:cNvPr>
          <p:cNvPicPr>
            <a:picLocks noChangeAspect="1"/>
          </p:cNvPicPr>
          <p:nvPr/>
        </p:nvPicPr>
        <p:blipFill>
          <a:blip r:embed="rId2"/>
          <a:srcRect l="0" r="0" t="0" b="0"/>
          <a:stretch/>
        </p:blipFill>
        <p:spPr>
          <a:xfrm>
            <a:off x="2159000" y="2413000"/>
            <a:ext cx="1143000" cy="1143000"/>
          </a:xfrm>
          <a:prstGeom prst="rect">
            <a:avLst/>
          </a:prstGeom>
        </p:spPr>
      </p:pic>
      <p:sp>
        <p:nvSpPr>
          <p:cNvPr id="7" name="Text 3"/>
          <p:cNvSpPr/>
          <p:nvPr/>
        </p:nvSpPr>
        <p:spPr>
          <a:xfrm>
            <a:off x="3556000" y="2476500"/>
            <a:ext cx="222377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4213D"/>
                </a:solidFill>
                <a:latin typeface="IBM Plex Sans" pitchFamily="34" charset="0"/>
                <a:ea typeface="IBM Plex Sans" pitchFamily="34" charset="-122"/>
                <a:cs typeface="IBM Plex Sans" pitchFamily="34" charset="-120"/>
              </a:rPr>
              <a:t>Picked from the </a:t>
            </a:r>
            <a:r>
              <a:rPr lang="en-US" sz="1500" b="1" dirty="0">
                <a:solidFill>
                  <a:srgbClr val="14213D"/>
                </a:solidFill>
                <a:latin typeface="IBM Plex Sans" pitchFamily="34" charset="0"/>
                <a:ea typeface="IBM Plex Sans" pitchFamily="34" charset="-122"/>
                <a:cs typeface="IBM Plex Sans" pitchFamily="34" charset="-120"/>
              </a:rPr>
              <a:t>dataset</a:t>
            </a:r>
            <a:endParaRPr lang="en-US" sz="1500" dirty="0"/>
          </a:p>
        </p:txBody>
      </p:sp>
      <p:sp>
        <p:nvSpPr>
          <p:cNvPr id="8" name="Text 4"/>
          <p:cNvSpPr/>
          <p:nvPr/>
        </p:nvSpPr>
        <p:spPr>
          <a:xfrm>
            <a:off x="1016000" y="3810000"/>
            <a:ext cx="483997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4213D"/>
                </a:solidFill>
                <a:latin typeface="JetBrains Mono" pitchFamily="34" charset="0"/>
                <a:ea typeface="JetBrains Mono" pitchFamily="34" charset="-122"/>
                <a:cs typeface="JetBrains Mono" pitchFamily="34" charset="-120"/>
              </a:rPr>
              <a:t>label = 1 </a:t>
            </a:r>
            <a:r>
              <a:rPr lang="en-US" sz="2000" b="1" dirty="0">
                <a:solidFill>
                  <a:srgbClr val="6B7280"/>
                </a:solidFill>
                <a:latin typeface="JetBrains Mono" pitchFamily="34" charset="0"/>
                <a:ea typeface="JetBrains Mono" pitchFamily="34" charset="-122"/>
                <a:cs typeface="JetBrains Mono" pitchFamily="34" charset="-120"/>
              </a:rPr>
              <a:t>(real)</a:t>
            </a:r>
            <a:endParaRPr lang="en-US" sz="2000" dirty="0"/>
          </a:p>
        </p:txBody>
      </p:sp>
      <p:sp>
        <p:nvSpPr>
          <p:cNvPr id="9" name="Text 5"/>
          <p:cNvSpPr/>
          <p:nvPr/>
        </p:nvSpPr>
        <p:spPr>
          <a:xfrm>
            <a:off x="1016000" y="4254500"/>
            <a:ext cx="483997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B7280"/>
                </a:solidFill>
                <a:latin typeface="JetBrains Mono" pitchFamily="34" charset="0"/>
                <a:ea typeface="JetBrains Mono" pitchFamily="34" charset="-122"/>
                <a:cs typeface="JetBrains Mono" pitchFamily="34" charset="-120"/>
              </a:rPr>
              <a:t>labels_real = torch.ones(batch_size, 1)</a:t>
            </a:r>
            <a:endParaRPr lang="en-US" sz="1300" dirty="0"/>
          </a:p>
        </p:txBody>
      </p:sp>
      <p:sp>
        <p:nvSpPr>
          <p:cNvPr id="10" name="Shape 6"/>
          <p:cNvSpPr/>
          <p:nvPr/>
        </p:nvSpPr>
        <p:spPr>
          <a:xfrm>
            <a:off x="6305550" y="2165350"/>
            <a:ext cx="5067300" cy="2527300"/>
          </a:xfrm>
          <a:prstGeom prst="roundRect">
            <a:avLst>
              <a:gd name="adj" fmla="val 3769"/>
            </a:avLst>
          </a:prstGeom>
          <a:solidFill>
            <a:srgbClr val="FFFDF8"/>
          </a:solidFill>
          <a:ln w="12700">
            <a:solidFill>
              <a:srgbClr val="E4DED0"/>
            </a:solidFill>
            <a:prstDash val="solid"/>
          </a:ln>
        </p:spPr>
      </p:sp>
      <p:pic>
        <p:nvPicPr>
          <p:cNvPr id="11" name="Image 2" descr="Generated flower">    </p:cNvPr>
          <p:cNvPicPr>
            <a:picLocks noChangeAspect="1"/>
          </p:cNvPicPr>
          <p:nvPr/>
        </p:nvPicPr>
        <p:blipFill>
          <a:blip r:embed="rId3"/>
          <a:srcRect l="0" r="0" t="0" b="0"/>
          <a:stretch/>
        </p:blipFill>
        <p:spPr>
          <a:xfrm>
            <a:off x="6502400" y="2413000"/>
            <a:ext cx="1143000" cy="1143000"/>
          </a:xfrm>
          <a:prstGeom prst="rect">
            <a:avLst/>
          </a:prstGeom>
        </p:spPr>
      </p:pic>
      <p:pic>
        <p:nvPicPr>
          <p:cNvPr id="12" name="Image 3" descr="Rough generated flower">    </p:cNvPr>
          <p:cNvPicPr>
            <a:picLocks noChangeAspect="1"/>
          </p:cNvPicPr>
          <p:nvPr/>
        </p:nvPicPr>
        <p:blipFill>
          <a:blip r:embed="rId4"/>
          <a:srcRect l="0" r="0" t="0" b="0"/>
          <a:stretch/>
        </p:blipFill>
        <p:spPr>
          <a:xfrm>
            <a:off x="7708900" y="2476500"/>
            <a:ext cx="1016000" cy="1016000"/>
          </a:xfrm>
          <a:prstGeom prst="roundRect">
            <a:avLst>
              <a:gd name="adj" fmla="val 5000"/>
            </a:avLst>
          </a:prstGeom>
        </p:spPr>
      </p:pic>
      <p:sp>
        <p:nvSpPr>
          <p:cNvPr id="13" name="Text 7"/>
          <p:cNvSpPr/>
          <p:nvPr/>
        </p:nvSpPr>
        <p:spPr>
          <a:xfrm>
            <a:off x="9017000" y="2476500"/>
            <a:ext cx="222377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4213D"/>
                </a:solidFill>
                <a:latin typeface="IBM Plex Sans" pitchFamily="34" charset="0"/>
                <a:ea typeface="IBM Plex Sans" pitchFamily="34" charset="-122"/>
                <a:cs typeface="IBM Plex Sans" pitchFamily="34" charset="-120"/>
              </a:rPr>
              <a:t>Painted by </a:t>
            </a:r>
            <a:r>
              <a:rPr lang="en-US" sz="1500" b="1" dirty="0">
                <a:solidFill>
                  <a:srgbClr val="14213D"/>
                </a:solidFill>
                <a:latin typeface="IBM Plex Sans" pitchFamily="34" charset="0"/>
                <a:ea typeface="IBM Plex Sans" pitchFamily="34" charset="-122"/>
                <a:cs typeface="IBM Plex Sans" pitchFamily="34" charset="-120"/>
              </a:rPr>
              <a:t>G</a:t>
            </a:r>
            <a:r>
              <a:rPr lang="en-US" sz="1500" dirty="0">
                <a:solidFill>
                  <a:srgbClr val="14213D"/>
                </a:solidFill>
                <a:latin typeface="IBM Plex Sans" pitchFamily="34" charset="0"/>
                <a:ea typeface="IBM Plex Sans" pitchFamily="34" charset="-122"/>
                <a:cs typeface="IBM Plex Sans" pitchFamily="34" charset="-120"/>
              </a:rPr>
              <a:t> just now</a:t>
            </a:r>
            <a:endParaRPr lang="en-US" sz="1500" dirty="0"/>
          </a:p>
        </p:txBody>
      </p:sp>
      <p:sp>
        <p:nvSpPr>
          <p:cNvPr id="14" name="Text 8"/>
          <p:cNvSpPr/>
          <p:nvPr/>
        </p:nvSpPr>
        <p:spPr>
          <a:xfrm>
            <a:off x="6502400" y="3810000"/>
            <a:ext cx="483997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563A8"/>
                </a:solidFill>
                <a:latin typeface="JetBrains Mono" pitchFamily="34" charset="0"/>
                <a:ea typeface="JetBrains Mono" pitchFamily="34" charset="-122"/>
                <a:cs typeface="JetBrains Mono" pitchFamily="34" charset="-120"/>
              </a:rPr>
              <a:t>label = 0 </a:t>
            </a:r>
            <a:r>
              <a:rPr lang="en-US" sz="2000" b="1" dirty="0">
                <a:solidFill>
                  <a:srgbClr val="6B7280"/>
                </a:solidFill>
                <a:latin typeface="JetBrains Mono" pitchFamily="34" charset="0"/>
                <a:ea typeface="JetBrains Mono" pitchFamily="34" charset="-122"/>
                <a:cs typeface="JetBrains Mono" pitchFamily="34" charset="-120"/>
              </a:rPr>
              <a:t>(fake)</a:t>
            </a:r>
            <a:endParaRPr lang="en-US" sz="2000" dirty="0"/>
          </a:p>
        </p:txBody>
      </p:sp>
      <p:sp>
        <p:nvSpPr>
          <p:cNvPr id="15" name="Text 9"/>
          <p:cNvSpPr/>
          <p:nvPr/>
        </p:nvSpPr>
        <p:spPr>
          <a:xfrm>
            <a:off x="6502400" y="4254500"/>
            <a:ext cx="483997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B7280"/>
                </a:solidFill>
                <a:latin typeface="JetBrains Mono" pitchFamily="34" charset="0"/>
                <a:ea typeface="JetBrains Mono" pitchFamily="34" charset="-122"/>
                <a:cs typeface="JetBrains Mono" pitchFamily="34" charset="-120"/>
              </a:rPr>
              <a:t>labels_fake = torch.zeros(batch_size, 1)</a:t>
            </a:r>
            <a:endParaRPr lang="en-US" sz="1300" dirty="0"/>
          </a:p>
        </p:txBody>
      </p:sp>
      <p:sp>
        <p:nvSpPr>
          <p:cNvPr id="16" name="Text 10"/>
          <p:cNvSpPr/>
          <p:nvPr/>
        </p:nvSpPr>
        <p:spPr>
          <a:xfrm>
            <a:off x="812800" y="5016500"/>
            <a:ext cx="1088339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No human labelling. The label means </a:t>
            </a:r>
            <a:r>
              <a:rPr lang="en-US" sz="1600" b="1" dirty="0">
                <a:solidFill>
                  <a:srgbClr val="14213D"/>
                </a:solidFill>
                <a:latin typeface="IBM Plex Sans" pitchFamily="34" charset="0"/>
                <a:ea typeface="IBM Plex Sans" pitchFamily="34" charset="-122"/>
                <a:cs typeface="IBM Plex Sans" pitchFamily="34" charset="-120"/>
              </a:rPr>
              <a:t>"which pile did this come from"</a:t>
            </a:r>
            <a:r>
              <a:rPr lang="en-US" sz="1600" dirty="0">
                <a:solidFill>
                  <a:srgbClr val="14213D"/>
                </a:solidFill>
                <a:latin typeface="IBM Plex Sans" pitchFamily="34" charset="0"/>
                <a:ea typeface="IBM Plex Sans" pitchFamily="34" charset="-122"/>
                <a:cs typeface="IBM Plex Sans" pitchFamily="34" charset="-120"/>
              </a:rPr>
              <a:t>, not "is it pretty". A beautiful fake is still label 0 when training D.</a:t>
            </a:r>
            <a:endParaRPr lang="en-US" sz="1600" dirty="0"/>
          </a:p>
        </p:txBody>
      </p:sp>
      <p:sp>
        <p:nvSpPr>
          <p:cNvPr id="17" name="Text 11"/>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1 · 05 Discriminator · min 45–47</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05 · ONE NUMBER, TWO MISSIONS</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A tug-of-war over p = D(G(z))</a:t>
            </a:r>
            <a:endParaRPr lang="en-US" sz="3200" dirty="0"/>
          </a:p>
        </p:txBody>
      </p:sp>
      <p:pic>
        <p:nvPicPr>
          <p:cNvPr id="4" name="Image 0" descr="A generated flower being judged">    </p:cNvPr>
          <p:cNvPicPr>
            <a:picLocks noChangeAspect="1"/>
          </p:cNvPicPr>
          <p:nvPr/>
        </p:nvPicPr>
        <p:blipFill>
          <a:blip r:embed="rId1"/>
          <a:srcRect l="0" r="0" t="0" b="0"/>
          <a:stretch/>
        </p:blipFill>
        <p:spPr>
          <a:xfrm>
            <a:off x="812800" y="1905000"/>
            <a:ext cx="1397000" cy="1397000"/>
          </a:xfrm>
          <a:prstGeom prst="roundRect">
            <a:avLst>
              <a:gd name="adj" fmla="val 6364"/>
            </a:avLst>
          </a:prstGeom>
        </p:spPr>
      </p:pic>
      <p:sp>
        <p:nvSpPr>
          <p:cNvPr id="5" name="Text 2"/>
          <p:cNvSpPr/>
          <p:nvPr/>
        </p:nvSpPr>
        <p:spPr>
          <a:xfrm>
            <a:off x="2413000" y="2032000"/>
            <a:ext cx="915670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For a </a:t>
            </a:r>
            <a:r>
              <a:rPr lang="en-US" sz="1600" b="1" dirty="0">
                <a:solidFill>
                  <a:srgbClr val="14213D"/>
                </a:solidFill>
                <a:latin typeface="IBM Plex Sans" pitchFamily="34" charset="0"/>
                <a:ea typeface="IBM Plex Sans" pitchFamily="34" charset="-122"/>
                <a:cs typeface="IBM Plex Sans" pitchFamily="34" charset="-120"/>
              </a:rPr>
              <a:t>generated</a:t>
            </a:r>
            <a:r>
              <a:rPr lang="en-US" sz="1600" dirty="0">
                <a:solidFill>
                  <a:srgbClr val="14213D"/>
                </a:solidFill>
                <a:latin typeface="IBM Plex Sans" pitchFamily="34" charset="0"/>
                <a:ea typeface="IBM Plex Sans" pitchFamily="34" charset="-122"/>
                <a:cs typeface="IBM Plex Sans" pitchFamily="34" charset="-120"/>
              </a:rPr>
              <a:t> flower, D outputs p = the probability it thinks the image is real.</a:t>
            </a:r>
            <a:endParaRPr lang="en-US" sz="1600" dirty="0"/>
          </a:p>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At the start of training, p is tiny, e.g. </a:t>
            </a:r>
            <a:r>
              <a:rPr lang="en-US" sz="1600" b="1" dirty="0">
                <a:solidFill>
                  <a:srgbClr val="14213D"/>
                </a:solidFill>
                <a:latin typeface="IBM Plex Sans" pitchFamily="34" charset="0"/>
                <a:ea typeface="IBM Plex Sans" pitchFamily="34" charset="-122"/>
                <a:cs typeface="IBM Plex Sans" pitchFamily="34" charset="-120"/>
              </a:rPr>
              <a:t>p = 0.001</a:t>
            </a:r>
            <a:r>
              <a:rPr lang="en-US" sz="1600" dirty="0">
                <a:solidFill>
                  <a:srgbClr val="14213D"/>
                </a:solidFill>
                <a:latin typeface="IBM Plex Sans" pitchFamily="34" charset="0"/>
                <a:ea typeface="IBM Plex Sans" pitchFamily="34" charset="-122"/>
                <a:cs typeface="IBM Plex Sans" pitchFamily="34" charset="-120"/>
              </a:rPr>
              <a:t>.</a:t>
            </a:r>
            <a:endParaRPr lang="en-US" sz="1600" dirty="0"/>
          </a:p>
        </p:txBody>
      </p:sp>
      <p:sp>
        <p:nvSpPr>
          <p:cNvPr id="6" name="Shape 3"/>
          <p:cNvSpPr/>
          <p:nvPr/>
        </p:nvSpPr>
        <p:spPr>
          <a:xfrm>
            <a:off x="1447800" y="4064000"/>
            <a:ext cx="9296400" cy="152400"/>
          </a:xfrm>
          <a:prstGeom prst="roundRect">
            <a:avLst>
              <a:gd name="adj" fmla="val 50000"/>
            </a:avLst>
          </a:prstGeom>
          <a:gradFill rotWithShape="1">
            <a:gsLst>
              <a:gs pos="0">
                <a:srgbClr val="B24E17"/>
              </a:gs>
              <a:gs pos="50000">
                <a:srgbClr val="E4DED0"/>
              </a:gs>
              <a:gs pos="100000">
                <a:srgbClr val="2563A8"/>
              </a:gs>
            </a:gsLst>
            <a:lin ang="0" scaled="0"/>
          </a:gradFill>
          <a:ln/>
        </p:spPr>
      </p:sp>
      <p:sp>
        <p:nvSpPr>
          <p:cNvPr id="7" name="Text 4"/>
          <p:cNvSpPr/>
          <p:nvPr/>
        </p:nvSpPr>
        <p:spPr>
          <a:xfrm>
            <a:off x="1041400" y="4318000"/>
            <a:ext cx="812800"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B24E17"/>
                </a:solidFill>
                <a:latin typeface="JetBrains Mono" pitchFamily="34" charset="0"/>
                <a:ea typeface="JetBrains Mono" pitchFamily="34" charset="-122"/>
                <a:cs typeface="JetBrains Mono" pitchFamily="34" charset="-120"/>
              </a:rPr>
              <a:t>0</a:t>
            </a:r>
            <a:endParaRPr lang="en-US" sz="1600" dirty="0"/>
          </a:p>
        </p:txBody>
      </p:sp>
      <p:sp>
        <p:nvSpPr>
          <p:cNvPr id="8" name="Text 5"/>
          <p:cNvSpPr/>
          <p:nvPr/>
        </p:nvSpPr>
        <p:spPr>
          <a:xfrm>
            <a:off x="5689600" y="4318000"/>
            <a:ext cx="812800"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6B7280"/>
                </a:solidFill>
                <a:latin typeface="JetBrains Mono" pitchFamily="34" charset="0"/>
                <a:ea typeface="JetBrains Mono" pitchFamily="34" charset="-122"/>
                <a:cs typeface="JetBrains Mono" pitchFamily="34" charset="-120"/>
              </a:rPr>
              <a:t>0.5</a:t>
            </a:r>
            <a:endParaRPr lang="en-US" sz="1600" dirty="0"/>
          </a:p>
        </p:txBody>
      </p:sp>
      <p:sp>
        <p:nvSpPr>
          <p:cNvPr id="9" name="Text 6"/>
          <p:cNvSpPr/>
          <p:nvPr/>
        </p:nvSpPr>
        <p:spPr>
          <a:xfrm>
            <a:off x="10337800" y="4318000"/>
            <a:ext cx="812800"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2563A8"/>
                </a:solidFill>
                <a:latin typeface="JetBrains Mono" pitchFamily="34" charset="0"/>
                <a:ea typeface="JetBrains Mono" pitchFamily="34" charset="-122"/>
                <a:cs typeface="JetBrains Mono" pitchFamily="34" charset="-120"/>
              </a:rPr>
              <a:t>1</a:t>
            </a:r>
            <a:endParaRPr lang="en-US" sz="1600" dirty="0"/>
          </a:p>
        </p:txBody>
      </p:sp>
      <p:sp>
        <p:nvSpPr>
          <p:cNvPr id="10" name="Text 7"/>
          <p:cNvSpPr/>
          <p:nvPr/>
        </p:nvSpPr>
        <p:spPr>
          <a:xfrm>
            <a:off x="1066800" y="4635500"/>
            <a:ext cx="327025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24E17"/>
                </a:solidFill>
                <a:latin typeface="IBM Plex Sans" pitchFamily="34" charset="0"/>
                <a:ea typeface="IBM Plex Sans" pitchFamily="34" charset="-122"/>
                <a:cs typeface="IBM Plex Sans" pitchFamily="34" charset="-120"/>
              </a:rPr>
              <a:t>"fake"</a:t>
            </a:r>
            <a:endParaRPr lang="en-US" sz="1400" dirty="0"/>
          </a:p>
        </p:txBody>
      </p:sp>
      <p:sp>
        <p:nvSpPr>
          <p:cNvPr id="11" name="Text 8"/>
          <p:cNvSpPr/>
          <p:nvPr/>
        </p:nvSpPr>
        <p:spPr>
          <a:xfrm>
            <a:off x="8108950" y="4635500"/>
            <a:ext cx="3270250" cy="27429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2563A8"/>
                </a:solidFill>
                <a:latin typeface="IBM Plex Sans" pitchFamily="34" charset="0"/>
                <a:ea typeface="IBM Plex Sans" pitchFamily="34" charset="-122"/>
                <a:cs typeface="IBM Plex Sans" pitchFamily="34" charset="-120"/>
              </a:rPr>
              <a:t>"real"</a:t>
            </a:r>
            <a:endParaRPr lang="en-US" sz="1400" dirty="0"/>
          </a:p>
        </p:txBody>
      </p:sp>
      <p:pic>
        <p:nvPicPr>
          <p:cNvPr id="12" name="Image 1" descr="ellipse">    </p:cNvPr>
          <p:cNvPicPr>
            <a:picLocks noChangeAspect="1"/>
          </p:cNvPicPr>
          <p:nvPr/>
        </p:nvPicPr>
        <p:blipFill>
          <a:blip r:embed="rId2"/>
          <a:srcRect l="0" r="0" t="0" b="0"/>
          <a:stretch/>
        </p:blipFill>
        <p:spPr>
          <a:xfrm>
            <a:off x="1371600" y="3949700"/>
            <a:ext cx="381000" cy="381000"/>
          </a:xfrm>
          <a:prstGeom prst="rect">
            <a:avLst/>
          </a:prstGeom>
        </p:spPr>
      </p:pic>
      <p:pic>
        <p:nvPicPr>
          <p:cNvPr id="13" name="Image 2" descr="arrow-left">    </p:cNvPr>
          <p:cNvPicPr>
            <a:picLocks noChangeAspect="1"/>
          </p:cNvPicPr>
          <p:nvPr/>
        </p:nvPicPr>
        <p:blipFill>
          <a:blip r:embed="rId3"/>
          <a:srcRect l="0" r="0" t="0" b="0"/>
          <a:stretch/>
        </p:blipFill>
        <p:spPr>
          <a:xfrm>
            <a:off x="2032000" y="3460750"/>
            <a:ext cx="1143000" cy="381000"/>
          </a:xfrm>
          <a:prstGeom prst="rect">
            <a:avLst/>
          </a:prstGeom>
        </p:spPr>
      </p:pic>
      <p:sp>
        <p:nvSpPr>
          <p:cNvPr id="14" name="Text 9"/>
          <p:cNvSpPr/>
          <p:nvPr/>
        </p:nvSpPr>
        <p:spPr>
          <a:xfrm>
            <a:off x="3302000" y="3460750"/>
            <a:ext cx="340106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B24E17"/>
                </a:solidFill>
                <a:latin typeface="IBM Plex Sans" pitchFamily="34" charset="0"/>
                <a:ea typeface="IBM Plex Sans" pitchFamily="34" charset="-122"/>
                <a:cs typeface="IBM Plex Sans" pitchFamily="34" charset="-120"/>
              </a:rPr>
              <a:t>D's mission:</a:t>
            </a:r>
            <a:r>
              <a:rPr lang="en-US" sz="1400" dirty="0">
                <a:solidFill>
                  <a:srgbClr val="B24E17"/>
                </a:solidFill>
                <a:latin typeface="IBM Plex Sans" pitchFamily="34" charset="0"/>
                <a:ea typeface="IBM Plex Sans" pitchFamily="34" charset="-122"/>
                <a:cs typeface="IBM Plex Sans" pitchFamily="34" charset="-120"/>
              </a:rPr>
              <a:t> keep p near 0 for fakes</a:t>
            </a:r>
            <a:endParaRPr lang="en-US" sz="1400" dirty="0"/>
          </a:p>
        </p:txBody>
      </p:sp>
      <p:pic>
        <p:nvPicPr>
          <p:cNvPr id="15" name="Image 3" descr="arrow-right">    </p:cNvPr>
          <p:cNvPicPr>
            <a:picLocks noChangeAspect="1"/>
          </p:cNvPicPr>
          <p:nvPr/>
        </p:nvPicPr>
        <p:blipFill>
          <a:blip r:embed="rId4"/>
          <a:srcRect l="0" r="0" t="0" b="0"/>
          <a:stretch/>
        </p:blipFill>
        <p:spPr>
          <a:xfrm>
            <a:off x="9601200" y="3460750"/>
            <a:ext cx="1143000" cy="381000"/>
          </a:xfrm>
          <a:prstGeom prst="rect">
            <a:avLst/>
          </a:prstGeom>
        </p:spPr>
      </p:pic>
      <p:sp>
        <p:nvSpPr>
          <p:cNvPr id="16" name="Text 10"/>
          <p:cNvSpPr/>
          <p:nvPr/>
        </p:nvSpPr>
        <p:spPr>
          <a:xfrm>
            <a:off x="6647180" y="3460750"/>
            <a:ext cx="2877820" cy="256530"/>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2563A8"/>
                </a:solidFill>
                <a:latin typeface="IBM Plex Sans" pitchFamily="34" charset="0"/>
                <a:ea typeface="IBM Plex Sans" pitchFamily="34" charset="-122"/>
                <a:cs typeface="IBM Plex Sans" pitchFamily="34" charset="-120"/>
              </a:rPr>
              <a:t>G's mission:</a:t>
            </a:r>
            <a:r>
              <a:rPr lang="en-US" sz="1400" dirty="0">
                <a:solidFill>
                  <a:srgbClr val="2563A8"/>
                </a:solidFill>
                <a:latin typeface="IBM Plex Sans" pitchFamily="34" charset="0"/>
                <a:ea typeface="IBM Plex Sans" pitchFamily="34" charset="-122"/>
                <a:cs typeface="IBM Plex Sans" pitchFamily="34" charset="-120"/>
              </a:rPr>
              <a:t> push p to 1</a:t>
            </a:r>
            <a:endParaRPr lang="en-US" sz="1400" dirty="0"/>
          </a:p>
        </p:txBody>
      </p:sp>
      <p:pic>
        <p:nvPicPr>
          <p:cNvPr id="17" name="Image 4" descr="ellipse">    </p:cNvPr>
          <p:cNvPicPr>
            <a:picLocks noChangeAspect="1"/>
          </p:cNvPicPr>
          <p:nvPr/>
        </p:nvPicPr>
        <p:blipFill>
          <a:blip r:embed="rId5"/>
          <a:srcRect l="0" r="0" t="0" b="0"/>
          <a:stretch/>
        </p:blipFill>
        <p:spPr>
          <a:xfrm>
            <a:off x="5905500" y="3949700"/>
            <a:ext cx="381000" cy="381000"/>
          </a:xfrm>
          <a:prstGeom prst="rect">
            <a:avLst/>
          </a:prstGeom>
        </p:spPr>
      </p:pic>
      <p:sp>
        <p:nvSpPr>
          <p:cNvPr id="18" name="Text 11"/>
          <p:cNvSpPr/>
          <p:nvPr/>
        </p:nvSpPr>
        <p:spPr>
          <a:xfrm>
            <a:off x="812800" y="5143500"/>
            <a:ext cx="1088339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If G becomes perfect, the best D can do is </a:t>
            </a:r>
            <a:r>
              <a:rPr lang="en-US" sz="1600" b="1" dirty="0">
                <a:solidFill>
                  <a:srgbClr val="14213D"/>
                </a:solidFill>
                <a:latin typeface="IBM Plex Sans" pitchFamily="34" charset="0"/>
                <a:ea typeface="IBM Plex Sans" pitchFamily="34" charset="-122"/>
                <a:cs typeface="IBM Plex Sans" pitchFamily="34" charset="-120"/>
              </a:rPr>
              <a:t>p = 0.5</a:t>
            </a:r>
            <a:r>
              <a:rPr lang="en-US" sz="1600" dirty="0">
                <a:solidFill>
                  <a:srgbClr val="14213D"/>
                </a:solidFill>
                <a:latin typeface="IBM Plex Sans" pitchFamily="34" charset="0"/>
                <a:ea typeface="IBM Plex Sans" pitchFamily="34" charset="-122"/>
                <a:cs typeface="IBM Plex Sans" pitchFamily="34" charset="-120"/>
              </a:rPr>
              <a:t> for everything: a coin flip. That is where the tug-of-war settles in theory.</a:t>
            </a:r>
            <a:endParaRPr lang="en-US" sz="1600" dirty="0"/>
          </a:p>
        </p:txBody>
      </p:sp>
      <p:sp>
        <p:nvSpPr>
          <p:cNvPr id="19" name="Text 12"/>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1 · 05 Discriminator · min 47–50</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05 · DISCRIMINATOR · IN OUR NOTEBOOK</a:t>
            </a:r>
            <a:endParaRPr lang="en-US" sz="1200" dirty="0"/>
          </a:p>
        </p:txBody>
      </p:sp>
      <p:sp>
        <p:nvSpPr>
          <p:cNvPr id="3" name="Text 1"/>
          <p:cNvSpPr/>
          <p:nvPr/>
        </p:nvSpPr>
        <p:spPr>
          <a:xfrm>
            <a:off x="812800" y="82550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The notebook's D: a 28×28 image in, one probability out</a:t>
            </a:r>
            <a:endParaRPr lang="en-US" sz="3200" dirty="0"/>
          </a:p>
        </p:txBody>
      </p:sp>
      <p:sp>
        <p:nvSpPr>
          <p:cNvPr id="4" name="Shape 2"/>
          <p:cNvSpPr/>
          <p:nvPr/>
        </p:nvSpPr>
        <p:spPr>
          <a:xfrm>
            <a:off x="812800" y="1905000"/>
            <a:ext cx="5461000" cy="3175000"/>
          </a:xfrm>
          <a:prstGeom prst="roundRect">
            <a:avLst>
              <a:gd name="adj" fmla="val 3600"/>
            </a:avLst>
          </a:prstGeom>
          <a:solidFill>
            <a:srgbClr val="14213D"/>
          </a:solidFill>
          <a:ln/>
        </p:spPr>
      </p:sp>
      <p:sp>
        <p:nvSpPr>
          <p:cNvPr id="5" name="Text 3"/>
          <p:cNvSpPr/>
          <p:nvPr/>
        </p:nvSpPr>
        <p:spPr>
          <a:xfrm>
            <a:off x="1066800" y="2095500"/>
            <a:ext cx="5232400" cy="2584252"/>
          </a:xfrm>
          <a:prstGeom prst="rect">
            <a:avLst/>
          </a:prstGeom>
          <a:noFill/>
          <a:ln/>
        </p:spPr>
        <p:txBody>
          <a:bodyPr wrap="square" lIns="0" tIns="0" rIns="0" bIns="0" rtlCol="0" anchor="t">
            <a:normAutofit/>
          </a:bodyPr>
          <a:lstStyle/>
          <a:p>
            <a:pPr algn="l" indent="0" marL="0">
              <a:lnSpc>
                <a:spcPts val="2015"/>
              </a:lnSpc>
              <a:buNone/>
            </a:pPr>
            <a:r>
              <a:rPr lang="en-US" sz="1300" dirty="0">
                <a:solidFill>
                  <a:srgbClr val="E6EAF0"/>
                </a:solidFill>
                <a:latin typeface="JetBrains Mono" pitchFamily="34" charset="0"/>
                <a:ea typeface="JetBrains Mono" pitchFamily="34" charset="-122"/>
                <a:cs typeface="JetBrains Mono" pitchFamily="34" charset="-120"/>
              </a:rPr>
              <a:t>class Discriminator(nn.Module):</a:t>
            </a:r>
            <a:endParaRPr lang="en-US" sz="1300" dirty="0"/>
          </a:p>
          <a:p>
            <a:pPr algn="l" indent="0" marL="0">
              <a:lnSpc>
                <a:spcPts val="2015"/>
              </a:lnSpc>
              <a:buNone/>
            </a:pPr>
            <a:r>
              <a:rPr lang="en-US" sz="1300" dirty="0">
                <a:solidFill>
                  <a:srgbClr val="E6EAF0"/>
                </a:solidFill>
                <a:latin typeface="JetBrains Mono" pitchFamily="34" charset="0"/>
                <a:ea typeface="JetBrains Mono" pitchFamily="34" charset="-122"/>
                <a:cs typeface="JetBrains Mono" pitchFamily="34" charset="-120"/>
              </a:rPr>
              <a:t>  def __init__(self):</a:t>
            </a:r>
            <a:endParaRPr lang="en-US" sz="1300" dirty="0"/>
          </a:p>
          <a:p>
            <a:pPr algn="l" indent="0" marL="0">
              <a:lnSpc>
                <a:spcPts val="2015"/>
              </a:lnSpc>
              <a:buNone/>
            </a:pPr>
            <a:r>
              <a:rPr lang="en-US" sz="1300" dirty="0">
                <a:solidFill>
                  <a:srgbClr val="E6EAF0"/>
                </a:solidFill>
                <a:latin typeface="JetBrains Mono" pitchFamily="34" charset="0"/>
                <a:ea typeface="JetBrains Mono" pitchFamily="34" charset="-122"/>
                <a:cs typeface="JetBrains Mono" pitchFamily="34" charset="-120"/>
              </a:rPr>
              <a:t>    super().__init__()</a:t>
            </a:r>
            <a:endParaRPr lang="en-US" sz="1300" dirty="0"/>
          </a:p>
          <a:p>
            <a:pPr algn="l" indent="0" marL="0">
              <a:lnSpc>
                <a:spcPts val="2015"/>
              </a:lnSpc>
              <a:buNone/>
            </a:pPr>
            <a:r>
              <a:rPr lang="en-US" sz="1300" dirty="0">
                <a:solidFill>
                  <a:srgbClr val="E6EAF0"/>
                </a:solidFill>
                <a:latin typeface="JetBrains Mono" pitchFamily="34" charset="0"/>
                <a:ea typeface="JetBrains Mono" pitchFamily="34" charset="-122"/>
                <a:cs typeface="JetBrains Mono" pitchFamily="34" charset="-120"/>
              </a:rPr>
              <a:t>    self.fc = nn.Sequential(</a:t>
            </a:r>
            <a:endParaRPr lang="en-US" sz="1300" dirty="0"/>
          </a:p>
          <a:p>
            <a:pPr algn="l" indent="0" marL="0">
              <a:lnSpc>
                <a:spcPts val="2015"/>
              </a:lnSpc>
              <a:buNone/>
            </a:pPr>
            <a:r>
              <a:rPr lang="en-US" sz="1300" dirty="0">
                <a:solidFill>
                  <a:srgbClr val="E6EAF0"/>
                </a:solidFill>
                <a:latin typeface="JetBrains Mono" pitchFamily="34" charset="0"/>
                <a:ea typeface="JetBrains Mono" pitchFamily="34" charset="-122"/>
                <a:cs typeface="JetBrains Mono" pitchFamily="34" charset="-120"/>
              </a:rPr>
              <a:t>      </a:t>
            </a:r>
            <a:r>
              <a:rPr lang="en-US" sz="1300" dirty="0">
                <a:solidFill>
                  <a:srgbClr val="F2B48C"/>
                </a:solidFill>
                <a:latin typeface="JetBrains Mono" pitchFamily="34" charset="0"/>
                <a:ea typeface="JetBrains Mono" pitchFamily="34" charset="-122"/>
                <a:cs typeface="JetBrains Mono" pitchFamily="34" charset="-120"/>
              </a:rPr>
              <a:t>nn.Linear(784, 256)</a:t>
            </a:r>
            <a:r>
              <a:rPr lang="en-US" sz="1300" dirty="0">
                <a:solidFill>
                  <a:srgbClr val="E6EAF0"/>
                </a:solidFill>
                <a:latin typeface="JetBrains Mono" pitchFamily="34" charset="0"/>
                <a:ea typeface="JetBrains Mono" pitchFamily="34" charset="-122"/>
                <a:cs typeface="JetBrains Mono" pitchFamily="34" charset="-120"/>
              </a:rPr>
              <a:t>,</a:t>
            </a:r>
            <a:endParaRPr lang="en-US" sz="1300" dirty="0"/>
          </a:p>
          <a:p>
            <a:pPr algn="l" indent="0" marL="0">
              <a:lnSpc>
                <a:spcPts val="2015"/>
              </a:lnSpc>
              <a:buNone/>
            </a:pPr>
            <a:r>
              <a:rPr lang="en-US" sz="1300" dirty="0">
                <a:solidFill>
                  <a:srgbClr val="E6EAF0"/>
                </a:solidFill>
                <a:latin typeface="JetBrains Mono" pitchFamily="34" charset="0"/>
                <a:ea typeface="JetBrains Mono" pitchFamily="34" charset="-122"/>
                <a:cs typeface="JetBrains Mono" pitchFamily="34" charset="-120"/>
              </a:rPr>
              <a:t>      </a:t>
            </a:r>
            <a:r>
              <a:rPr lang="en-US" sz="1300" dirty="0">
                <a:solidFill>
                  <a:srgbClr val="E9B949"/>
                </a:solidFill>
                <a:latin typeface="JetBrains Mono" pitchFamily="34" charset="0"/>
                <a:ea typeface="JetBrains Mono" pitchFamily="34" charset="-122"/>
                <a:cs typeface="JetBrains Mono" pitchFamily="34" charset="-120"/>
              </a:rPr>
              <a:t>nn.LeakyReLU(0.2)</a:t>
            </a:r>
            <a:r>
              <a:rPr lang="en-US" sz="1300" dirty="0">
                <a:solidFill>
                  <a:srgbClr val="E6EAF0"/>
                </a:solidFill>
                <a:latin typeface="JetBrains Mono" pitchFamily="34" charset="0"/>
                <a:ea typeface="JetBrains Mono" pitchFamily="34" charset="-122"/>
                <a:cs typeface="JetBrains Mono" pitchFamily="34" charset="-120"/>
              </a:rPr>
              <a:t>,</a:t>
            </a:r>
            <a:endParaRPr lang="en-US" sz="1300" dirty="0"/>
          </a:p>
          <a:p>
            <a:pPr algn="l" indent="0" marL="0">
              <a:lnSpc>
                <a:spcPts val="2015"/>
              </a:lnSpc>
              <a:buNone/>
            </a:pPr>
            <a:r>
              <a:rPr lang="en-US" sz="1300" dirty="0">
                <a:solidFill>
                  <a:srgbClr val="E6EAF0"/>
                </a:solidFill>
                <a:latin typeface="JetBrains Mono" pitchFamily="34" charset="0"/>
                <a:ea typeface="JetBrains Mono" pitchFamily="34" charset="-122"/>
                <a:cs typeface="JetBrains Mono" pitchFamily="34" charset="-120"/>
              </a:rPr>
              <a:t>      </a:t>
            </a:r>
            <a:r>
              <a:rPr lang="en-US" sz="1300" dirty="0">
                <a:solidFill>
                  <a:srgbClr val="F2B48C"/>
                </a:solidFill>
                <a:latin typeface="JetBrains Mono" pitchFamily="34" charset="0"/>
                <a:ea typeface="JetBrains Mono" pitchFamily="34" charset="-122"/>
                <a:cs typeface="JetBrains Mono" pitchFamily="34" charset="-120"/>
              </a:rPr>
              <a:t>nn.Linear(256, 1)</a:t>
            </a:r>
            <a:r>
              <a:rPr lang="en-US" sz="1300" dirty="0">
                <a:solidFill>
                  <a:srgbClr val="E6EAF0"/>
                </a:solidFill>
                <a:latin typeface="JetBrains Mono" pitchFamily="34" charset="0"/>
                <a:ea typeface="JetBrains Mono" pitchFamily="34" charset="-122"/>
                <a:cs typeface="JetBrains Mono" pitchFamily="34" charset="-120"/>
              </a:rPr>
              <a:t>,</a:t>
            </a:r>
            <a:endParaRPr lang="en-US" sz="1300" dirty="0"/>
          </a:p>
          <a:p>
            <a:pPr algn="l" indent="0" marL="0">
              <a:lnSpc>
                <a:spcPts val="2015"/>
              </a:lnSpc>
              <a:buNone/>
            </a:pPr>
            <a:r>
              <a:rPr lang="en-US" sz="1300" dirty="0">
                <a:solidFill>
                  <a:srgbClr val="E6EAF0"/>
                </a:solidFill>
                <a:latin typeface="JetBrains Mono" pitchFamily="34" charset="0"/>
                <a:ea typeface="JetBrains Mono" pitchFamily="34" charset="-122"/>
                <a:cs typeface="JetBrains Mono" pitchFamily="34" charset="-120"/>
              </a:rPr>
              <a:t>      </a:t>
            </a:r>
            <a:r>
              <a:rPr lang="en-US" sz="1300" dirty="0">
                <a:solidFill>
                  <a:srgbClr val="E9B949"/>
                </a:solidFill>
                <a:latin typeface="JetBrains Mono" pitchFamily="34" charset="0"/>
                <a:ea typeface="JetBrains Mono" pitchFamily="34" charset="-122"/>
                <a:cs typeface="JetBrains Mono" pitchFamily="34" charset="-120"/>
              </a:rPr>
              <a:t>nn.Sigmoid()</a:t>
            </a:r>
            <a:r>
              <a:rPr lang="en-US" sz="1300" dirty="0">
                <a:solidFill>
                  <a:srgbClr val="E6EAF0"/>
                </a:solidFill>
                <a:latin typeface="JetBrains Mono" pitchFamily="34" charset="0"/>
                <a:ea typeface="JetBrains Mono" pitchFamily="34" charset="-122"/>
                <a:cs typeface="JetBrains Mono" pitchFamily="34" charset="-120"/>
              </a:rPr>
              <a:t>)</a:t>
            </a:r>
            <a:endParaRPr lang="en-US" sz="1300" dirty="0"/>
          </a:p>
          <a:p>
            <a:pPr algn="l" indent="0" marL="0">
              <a:lnSpc>
                <a:spcPts val="2015"/>
              </a:lnSpc>
              <a:buNone/>
            </a:pPr>
            <a:r>
              <a:rPr lang="en-US" sz="1300" dirty="0">
                <a:solidFill>
                  <a:srgbClr val="E6EAF0"/>
                </a:solidFill>
                <a:latin typeface="JetBrains Mono" pitchFamily="34" charset="0"/>
                <a:ea typeface="JetBrains Mono" pitchFamily="34" charset="-122"/>
                <a:cs typeface="JetBrains Mono" pitchFamily="34" charset="-120"/>
              </a:rPr>
              <a:t>  def forward(self, x):</a:t>
            </a:r>
            <a:endParaRPr lang="en-US" sz="1300" dirty="0"/>
          </a:p>
          <a:p>
            <a:pPr algn="l" indent="0" marL="0">
              <a:lnSpc>
                <a:spcPts val="2015"/>
              </a:lnSpc>
              <a:buNone/>
            </a:pPr>
            <a:r>
              <a:rPr lang="en-US" sz="1300" dirty="0">
                <a:solidFill>
                  <a:srgbClr val="E6EAF0"/>
                </a:solidFill>
                <a:latin typeface="JetBrains Mono" pitchFamily="34" charset="0"/>
                <a:ea typeface="JetBrains Mono" pitchFamily="34" charset="-122"/>
                <a:cs typeface="JetBrains Mono" pitchFamily="34" charset="-120"/>
              </a:rPr>
              <a:t>    return self.fc(</a:t>
            </a:r>
            <a:r>
              <a:rPr lang="en-US" sz="1300" dirty="0">
                <a:solidFill>
                  <a:srgbClr val="E9B949"/>
                </a:solidFill>
                <a:latin typeface="JetBrains Mono" pitchFamily="34" charset="0"/>
                <a:ea typeface="JetBrains Mono" pitchFamily="34" charset="-122"/>
                <a:cs typeface="JetBrains Mono" pitchFamily="34" charset="-120"/>
              </a:rPr>
              <a:t>x.view(-1, 784)</a:t>
            </a:r>
            <a:r>
              <a:rPr lang="en-US" sz="1300" dirty="0">
                <a:solidFill>
                  <a:srgbClr val="E6EAF0"/>
                </a:solidFill>
                <a:latin typeface="JetBrains Mono" pitchFamily="34" charset="0"/>
                <a:ea typeface="JetBrains Mono" pitchFamily="34" charset="-122"/>
                <a:cs typeface="JetBrains Mono" pitchFamily="34" charset="-120"/>
              </a:rPr>
              <a:t>)</a:t>
            </a:r>
            <a:endParaRPr lang="en-US" sz="1300" dirty="0"/>
          </a:p>
        </p:txBody>
      </p:sp>
      <p:sp>
        <p:nvSpPr>
          <p:cNvPr id="6" name="Shape 4"/>
          <p:cNvSpPr/>
          <p:nvPr/>
        </p:nvSpPr>
        <p:spPr>
          <a:xfrm>
            <a:off x="6610350" y="1911350"/>
            <a:ext cx="4762500" cy="749300"/>
          </a:xfrm>
          <a:prstGeom prst="roundRect">
            <a:avLst>
              <a:gd name="adj" fmla="val 11017"/>
            </a:avLst>
          </a:prstGeom>
          <a:solidFill>
            <a:srgbClr val="FFFDF8"/>
          </a:solidFill>
          <a:ln w="12700">
            <a:solidFill>
              <a:srgbClr val="E4DED0"/>
            </a:solidFill>
            <a:prstDash val="solid"/>
          </a:ln>
        </p:spPr>
      </p:sp>
      <p:sp>
        <p:nvSpPr>
          <p:cNvPr id="7" name="Text 5"/>
          <p:cNvSpPr/>
          <p:nvPr/>
        </p:nvSpPr>
        <p:spPr>
          <a:xfrm>
            <a:off x="6826250" y="2019300"/>
            <a:ext cx="4578350"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4213D"/>
                </a:solidFill>
                <a:latin typeface="IBM Plex Sans" pitchFamily="34" charset="0"/>
                <a:ea typeface="IBM Plex Sans" pitchFamily="34" charset="-122"/>
                <a:cs typeface="IBM Plex Sans" pitchFamily="34" charset="-120"/>
              </a:rPr>
              <a:t>x.view(-1, 784)</a:t>
            </a:r>
            <a:r>
              <a:rPr lang="en-US" sz="1400" dirty="0">
                <a:solidFill>
                  <a:srgbClr val="14213D"/>
                </a:solidFill>
                <a:latin typeface="IBM Plex Sans" pitchFamily="34" charset="0"/>
                <a:ea typeface="IBM Plex Sans" pitchFamily="34" charset="-122"/>
                <a:cs typeface="IBM Plex Sans" pitchFamily="34" charset="-120"/>
              </a:rPr>
              <a:t> flattens the image; </a:t>
            </a:r>
            <a:r>
              <a:rPr lang="en-US" sz="1400" b="1" dirty="0">
                <a:solidFill>
                  <a:srgbClr val="14213D"/>
                </a:solidFill>
                <a:latin typeface="IBM Plex Sans" pitchFamily="34" charset="0"/>
                <a:ea typeface="IBM Plex Sans" pitchFamily="34" charset="-122"/>
                <a:cs typeface="IBM Plex Sans" pitchFamily="34" charset="-120"/>
              </a:rPr>
              <a:t>784 → 256 → 1</a:t>
            </a:r>
            <a:endParaRPr lang="en-US" sz="1400" dirty="0"/>
          </a:p>
        </p:txBody>
      </p:sp>
      <p:sp>
        <p:nvSpPr>
          <p:cNvPr id="8" name="Shape 6"/>
          <p:cNvSpPr/>
          <p:nvPr/>
        </p:nvSpPr>
        <p:spPr>
          <a:xfrm>
            <a:off x="6610350" y="2800350"/>
            <a:ext cx="4762500" cy="1003300"/>
          </a:xfrm>
          <a:prstGeom prst="roundRect">
            <a:avLst>
              <a:gd name="adj" fmla="val 8228"/>
            </a:avLst>
          </a:prstGeom>
          <a:solidFill>
            <a:srgbClr val="FFFDF8"/>
          </a:solidFill>
          <a:ln w="12700">
            <a:solidFill>
              <a:srgbClr val="E4DED0"/>
            </a:solidFill>
            <a:prstDash val="solid"/>
          </a:ln>
        </p:spPr>
      </p:sp>
      <p:sp>
        <p:nvSpPr>
          <p:cNvPr id="9" name="Text 7"/>
          <p:cNvSpPr/>
          <p:nvPr/>
        </p:nvSpPr>
        <p:spPr>
          <a:xfrm>
            <a:off x="6826250" y="2908300"/>
            <a:ext cx="4578350" cy="50542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4213D"/>
                </a:solidFill>
                <a:latin typeface="IBM Plex Sans" pitchFamily="34" charset="0"/>
                <a:ea typeface="IBM Plex Sans" pitchFamily="34" charset="-122"/>
                <a:cs typeface="IBM Plex Sans" pitchFamily="34" charset="-120"/>
              </a:rPr>
              <a:t>LeakyReLU(0.2)</a:t>
            </a:r>
            <a:r>
              <a:rPr lang="en-US" sz="1400" dirty="0">
                <a:solidFill>
                  <a:srgbClr val="14213D"/>
                </a:solidFill>
                <a:latin typeface="IBM Plex Sans" pitchFamily="34" charset="0"/>
                <a:ea typeface="IBM Plex Sans" pitchFamily="34" charset="-122"/>
                <a:cs typeface="IBM Plex Sans" pitchFamily="34" charset="-120"/>
              </a:rPr>
              <a:t> lets a small gradient through for negative inputs, so G keeps getting a signal</a:t>
            </a:r>
            <a:endParaRPr lang="en-US" sz="1400" dirty="0"/>
          </a:p>
        </p:txBody>
      </p:sp>
      <p:sp>
        <p:nvSpPr>
          <p:cNvPr id="10" name="Shape 8"/>
          <p:cNvSpPr/>
          <p:nvPr/>
        </p:nvSpPr>
        <p:spPr>
          <a:xfrm>
            <a:off x="6610350" y="3943350"/>
            <a:ext cx="4762500" cy="749300"/>
          </a:xfrm>
          <a:prstGeom prst="roundRect">
            <a:avLst>
              <a:gd name="adj" fmla="val 11017"/>
            </a:avLst>
          </a:prstGeom>
          <a:solidFill>
            <a:srgbClr val="FFFDF8"/>
          </a:solidFill>
          <a:ln w="12700">
            <a:solidFill>
              <a:srgbClr val="E4DED0"/>
            </a:solidFill>
            <a:prstDash val="solid"/>
          </a:ln>
        </p:spPr>
      </p:sp>
      <p:sp>
        <p:nvSpPr>
          <p:cNvPr id="11" name="Text 9"/>
          <p:cNvSpPr/>
          <p:nvPr/>
        </p:nvSpPr>
        <p:spPr>
          <a:xfrm>
            <a:off x="6826250" y="4051300"/>
            <a:ext cx="4578350" cy="50542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4213D"/>
                </a:solidFill>
                <a:latin typeface="IBM Plex Sans" pitchFamily="34" charset="0"/>
                <a:ea typeface="IBM Plex Sans" pitchFamily="34" charset="-122"/>
                <a:cs typeface="IBM Plex Sans" pitchFamily="34" charset="-120"/>
              </a:rPr>
              <a:t>Sigmoid</a:t>
            </a:r>
            <a:r>
              <a:rPr lang="en-US" sz="1400" dirty="0">
                <a:solidFill>
                  <a:srgbClr val="14213D"/>
                </a:solidFill>
                <a:latin typeface="IBM Plex Sans" pitchFamily="34" charset="0"/>
                <a:ea typeface="IBM Plex Sans" pitchFamily="34" charset="-122"/>
                <a:cs typeface="IBM Plex Sans" pitchFamily="34" charset="-120"/>
              </a:rPr>
              <a:t> turns the score into a probability between 0 and 1</a:t>
            </a:r>
            <a:endParaRPr lang="en-US" sz="1400" dirty="0"/>
          </a:p>
        </p:txBody>
      </p:sp>
      <p:sp>
        <p:nvSpPr>
          <p:cNvPr id="12" name="Text 10"/>
          <p:cNvSpPr/>
          <p:nvPr/>
        </p:nvSpPr>
        <p:spPr>
          <a:xfrm>
            <a:off x="812800" y="533400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The two networks are mirror images: G is </a:t>
            </a:r>
            <a:r>
              <a:rPr lang="en-US" sz="1600" b="1" dirty="0">
                <a:solidFill>
                  <a:srgbClr val="14213D"/>
                </a:solidFill>
                <a:latin typeface="IBM Plex Sans" pitchFamily="34" charset="0"/>
                <a:ea typeface="IBM Plex Sans" pitchFamily="34" charset="-122"/>
                <a:cs typeface="IBM Plex Sans" pitchFamily="34" charset="-120"/>
              </a:rPr>
              <a:t>100 → 256 → 784</a:t>
            </a:r>
            <a:r>
              <a:rPr lang="en-US" sz="1600" dirty="0">
                <a:solidFill>
                  <a:srgbClr val="14213D"/>
                </a:solidFill>
                <a:latin typeface="IBM Plex Sans" pitchFamily="34" charset="0"/>
                <a:ea typeface="IBM Plex Sans" pitchFamily="34" charset="-122"/>
                <a:cs typeface="IBM Plex Sans" pitchFamily="34" charset="-120"/>
              </a:rPr>
              <a:t>, D is </a:t>
            </a:r>
            <a:r>
              <a:rPr lang="en-US" sz="1600" b="1" dirty="0">
                <a:solidFill>
                  <a:srgbClr val="14213D"/>
                </a:solidFill>
                <a:latin typeface="IBM Plex Sans" pitchFamily="34" charset="0"/>
                <a:ea typeface="IBM Plex Sans" pitchFamily="34" charset="-122"/>
                <a:cs typeface="IBM Plex Sans" pitchFamily="34" charset="-120"/>
              </a:rPr>
              <a:t>784 → 256 → 1</a:t>
            </a:r>
            <a:r>
              <a:rPr lang="en-US" sz="1600" dirty="0">
                <a:solidFill>
                  <a:srgbClr val="14213D"/>
                </a:solidFill>
                <a:latin typeface="IBM Plex Sans" pitchFamily="34" charset="0"/>
                <a:ea typeface="IBM Plex Sans" pitchFamily="34" charset="-122"/>
                <a:cs typeface="IBM Plex Sans" pitchFamily="34" charset="-120"/>
              </a:rPr>
              <a:t>.</a:t>
            </a:r>
            <a:endParaRPr lang="en-US" sz="1600" dirty="0"/>
          </a:p>
        </p:txBody>
      </p:sp>
      <p:sp>
        <p:nvSpPr>
          <p:cNvPr id="13" name="Text 11"/>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1 · 05 Discriminator · min 50–51 · CV-Week4-Lecture1.ipynb, exercise cell</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05 · CHECKPOINT · SIDE BY SIDE</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Generator vs Discriminator at a glance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90700"/>
          <a:ext cx="10553700" cy="2889250"/>
        </p:xfrm>
        <a:graphic>
          <a:graphicData uri="http://schemas.openxmlformats.org/drawingml/2006/table">
            <a:tbl>
              <a:tblPr/>
              <a:tblGrid>
                <a:gridCol w="2321814"/>
                <a:gridCol w="4115943"/>
                <a:gridCol w="4115943"/>
              </a:tblGrid>
              <a:tr h="412750">
                <a:tc>
                  <a:txBody>
                    <a:bodyPr/>
                    <a:lstStyle/>
                    <a:p>
                      <a:pPr indent="0" marL="0">
                        <a:lnSpc>
                          <a:spcPts val="2100"/>
                        </a:lnSpc>
                        <a:buNone/>
                      </a:pP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Generator G (forger)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Discriminator D (inspector)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r>
              <a:tr h="41275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Input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random noise z (100 numbers)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an image (real or fake)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1275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Output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an image G(z)</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one probability: P(real)</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1275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Sees real data?</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never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yes, half of what it sees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1275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Wants on fakes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D(G(z)) → 1</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D(G(z)) → 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1275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Wants on reals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(not involved)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D(x) → 1</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1275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Kept after training?</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yes: it makes the images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usually discarded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Text 2"/>
          <p:cNvSpPr/>
          <p:nvPr/>
        </p:nvSpPr>
        <p:spPr>
          <a:xfrm>
            <a:off x="812800" y="54610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Cover the right two columns and try to say each cell from memory.</a:t>
            </a:r>
            <a:endParaRPr lang="en-US" sz="1500" dirty="0"/>
          </a:p>
        </p:txBody>
      </p:sp>
      <p:sp>
        <p:nvSpPr>
          <p:cNvPr id="6" name="Text 3"/>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1 · 05 Discriminator · min 51–53</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1905000"/>
            <a:ext cx="3924300"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E9B949"/>
                </a:solidFill>
                <a:latin typeface="Space Grotesk" pitchFamily="34" charset="0"/>
                <a:ea typeface="Space Grotesk" pitchFamily="34" charset="-122"/>
                <a:cs typeface="Space Grotesk" pitchFamily="34" charset="-120"/>
              </a:rPr>
              <a:t>06</a:t>
            </a:r>
            <a:endParaRPr lang="en-US" sz="8000" dirty="0"/>
          </a:p>
        </p:txBody>
      </p:sp>
      <p:sp>
        <p:nvSpPr>
          <p:cNvPr id="3" name="Text 1"/>
          <p:cNvSpPr/>
          <p:nvPr/>
        </p:nvSpPr>
        <p:spPr>
          <a:xfrm>
            <a:off x="812800" y="3175000"/>
            <a:ext cx="10464800"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6F3EC"/>
                </a:solidFill>
                <a:latin typeface="Space Grotesk" pitchFamily="34" charset="0"/>
                <a:ea typeface="Space Grotesk" pitchFamily="34" charset="-122"/>
                <a:cs typeface="Space Grotesk" pitchFamily="34" charset="-120"/>
              </a:rPr>
              <a:t>Training: the rules of the game</a:t>
            </a:r>
            <a:endParaRPr lang="en-US" sz="4400" dirty="0"/>
          </a:p>
        </p:txBody>
      </p:sp>
      <p:sp>
        <p:nvSpPr>
          <p:cNvPr id="4" name="Text 2"/>
          <p:cNvSpPr/>
          <p:nvPr/>
        </p:nvSpPr>
        <p:spPr>
          <a:xfrm>
            <a:off x="812800" y="4064000"/>
            <a:ext cx="9156700"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BFC8D6"/>
                </a:solidFill>
                <a:latin typeface="IBM Plex Sans" pitchFamily="34" charset="0"/>
                <a:ea typeface="IBM Plex Sans" pitchFamily="34" charset="-122"/>
                <a:cs typeface="IBM Plex Sans" pitchFamily="34" charset="-120"/>
              </a:rPr>
              <a:t>Alternating steps → binary cross-entropy → the minimax objective → where it settles.</a:t>
            </a:r>
            <a:endParaRPr lang="en-US" sz="1800" dirty="0"/>
          </a:p>
        </p:txBody>
      </p:sp>
      <p:sp>
        <p:nvSpPr>
          <p:cNvPr id="5" name="Text 3"/>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E9AAF"/>
                </a:solidFill>
                <a:latin typeface="IBM Plex Sans" pitchFamily="34" charset="0"/>
                <a:ea typeface="IBM Plex Sans" pitchFamily="34" charset="-122"/>
                <a:cs typeface="IBM Plex Sans" pitchFamily="34" charset="-120"/>
              </a:rPr>
              <a:t>GAN Class 1 · min 53–81</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06 · THE WHOLE FRAMEWORK</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The full GAN in one picture</a:t>
            </a:r>
            <a:endParaRPr lang="en-US" sz="3200" dirty="0"/>
          </a:p>
        </p:txBody>
      </p:sp>
      <p:sp>
        <p:nvSpPr>
          <p:cNvPr id="4" name="Shape 2"/>
          <p:cNvSpPr/>
          <p:nvPr/>
        </p:nvSpPr>
        <p:spPr>
          <a:xfrm>
            <a:off x="822325" y="1914525"/>
            <a:ext cx="1885950" cy="1187450"/>
          </a:xfrm>
          <a:prstGeom prst="roundRect">
            <a:avLst>
              <a:gd name="adj" fmla="val 7754"/>
            </a:avLst>
          </a:prstGeom>
          <a:solidFill>
            <a:srgbClr val="FFFDF8"/>
          </a:solidFill>
          <a:ln w="19050">
            <a:solidFill>
              <a:srgbClr val="14213D"/>
            </a:solidFill>
            <a:prstDash val="solid"/>
          </a:ln>
        </p:spPr>
      </p:sp>
      <p:pic>
        <p:nvPicPr>
          <p:cNvPr id="5" name="Image 0" descr="Real flower">    </p:cNvPr>
          <p:cNvPicPr>
            <a:picLocks noChangeAspect="1"/>
          </p:cNvPicPr>
          <p:nvPr/>
        </p:nvPicPr>
        <p:blipFill>
          <a:blip r:embed="rId1"/>
          <a:srcRect l="0" r="0" t="0" b="0"/>
          <a:stretch/>
        </p:blipFill>
        <p:spPr>
          <a:xfrm>
            <a:off x="889000" y="1968500"/>
            <a:ext cx="889000" cy="889000"/>
          </a:xfrm>
          <a:prstGeom prst="rect">
            <a:avLst/>
          </a:prstGeom>
        </p:spPr>
      </p:pic>
      <p:pic>
        <p:nvPicPr>
          <p:cNvPr id="6" name="Image 1" descr="Real flower">    </p:cNvPr>
          <p:cNvPicPr>
            <a:picLocks noChangeAspect="1"/>
          </p:cNvPicPr>
          <p:nvPr/>
        </p:nvPicPr>
        <p:blipFill>
          <a:blip r:embed="rId2"/>
          <a:srcRect l="0" r="0" t="0" b="0"/>
          <a:stretch/>
        </p:blipFill>
        <p:spPr>
          <a:xfrm>
            <a:off x="1778000" y="1968500"/>
            <a:ext cx="889000" cy="889000"/>
          </a:xfrm>
          <a:prstGeom prst="rect">
            <a:avLst/>
          </a:prstGeom>
        </p:spPr>
      </p:pic>
      <p:sp>
        <p:nvSpPr>
          <p:cNvPr id="7" name="Text 3"/>
          <p:cNvSpPr/>
          <p:nvPr/>
        </p:nvSpPr>
        <p:spPr>
          <a:xfrm>
            <a:off x="784225" y="3175000"/>
            <a:ext cx="1962150"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real data x</a:t>
            </a:r>
            <a:endParaRPr lang="en-US" sz="1400" dirty="0"/>
          </a:p>
        </p:txBody>
      </p:sp>
      <p:sp>
        <p:nvSpPr>
          <p:cNvPr id="8" name="Shape 4"/>
          <p:cNvSpPr/>
          <p:nvPr/>
        </p:nvSpPr>
        <p:spPr>
          <a:xfrm>
            <a:off x="822325" y="4073525"/>
            <a:ext cx="869950" cy="679450"/>
          </a:xfrm>
          <a:prstGeom prst="roundRect">
            <a:avLst>
              <a:gd name="adj" fmla="val 11682"/>
            </a:avLst>
          </a:prstGeom>
          <a:solidFill>
            <a:srgbClr val="FFFDF8"/>
          </a:solidFill>
          <a:ln w="19050">
            <a:solidFill>
              <a:srgbClr val="2563A8"/>
            </a:solidFill>
            <a:prstDash val="dash"/>
          </a:ln>
        </p:spPr>
      </p:sp>
      <p:sp>
        <p:nvSpPr>
          <p:cNvPr id="9" name="Text 5"/>
          <p:cNvSpPr/>
          <p:nvPr/>
        </p:nvSpPr>
        <p:spPr>
          <a:xfrm>
            <a:off x="787400" y="4222750"/>
            <a:ext cx="939800" cy="381000"/>
          </a:xfrm>
          <a:prstGeom prst="rect">
            <a:avLst/>
          </a:prstGeom>
          <a:noFill/>
          <a:ln/>
        </p:spPr>
        <p:txBody>
          <a:bodyPr wrap="square" lIns="0" tIns="0" rIns="0" bIns="0" rtlCol="0" anchor="t">
            <a:normAutofit/>
          </a:bodyPr>
          <a:lstStyle/>
          <a:p>
            <a:pPr algn="ctr" indent="0" marL="0">
              <a:lnSpc>
                <a:spcPts val="2800"/>
              </a:lnSpc>
              <a:buNone/>
            </a:pPr>
            <a:r>
              <a:rPr lang="en-US" sz="2000" dirty="0">
                <a:solidFill>
                  <a:srgbClr val="14213D"/>
                </a:solidFill>
                <a:latin typeface="JetBrains Mono" pitchFamily="34" charset="0"/>
                <a:ea typeface="JetBrains Mono" pitchFamily="34" charset="-122"/>
                <a:cs typeface="JetBrains Mono" pitchFamily="34" charset="-120"/>
              </a:rPr>
              <a:t>z</a:t>
            </a:r>
            <a:endParaRPr lang="en-US" sz="2000" dirty="0"/>
          </a:p>
        </p:txBody>
      </p:sp>
      <p:pic>
        <p:nvPicPr>
          <p:cNvPr id="10" name="Image 2" descr="connector">    </p:cNvPr>
          <p:cNvPicPr>
            <a:picLocks noChangeAspect="1"/>
          </p:cNvPicPr>
          <p:nvPr/>
        </p:nvPicPr>
        <p:blipFill>
          <a:blip r:embed="rId3"/>
          <a:srcRect l="0" r="0" t="0" b="0"/>
          <a:stretch/>
        </p:blipFill>
        <p:spPr>
          <a:xfrm>
            <a:off x="1638300" y="4337050"/>
            <a:ext cx="596900" cy="152400"/>
          </a:xfrm>
          <a:prstGeom prst="rect">
            <a:avLst/>
          </a:prstGeom>
        </p:spPr>
      </p:pic>
      <p:sp>
        <p:nvSpPr>
          <p:cNvPr id="11" name="Shape 6"/>
          <p:cNvSpPr/>
          <p:nvPr/>
        </p:nvSpPr>
        <p:spPr>
          <a:xfrm>
            <a:off x="2222500" y="3968750"/>
            <a:ext cx="1397000" cy="889000"/>
          </a:xfrm>
          <a:prstGeom prst="roundRect">
            <a:avLst>
              <a:gd name="adj" fmla="val 12857"/>
            </a:avLst>
          </a:prstGeom>
          <a:solidFill>
            <a:srgbClr val="2563A8"/>
          </a:solidFill>
          <a:ln/>
        </p:spPr>
      </p:sp>
      <p:sp>
        <p:nvSpPr>
          <p:cNvPr id="12" name="Text 7"/>
          <p:cNvSpPr/>
          <p:nvPr/>
        </p:nvSpPr>
        <p:spPr>
          <a:xfrm>
            <a:off x="2197100" y="4203700"/>
            <a:ext cx="1447800" cy="452090"/>
          </a:xfrm>
          <a:prstGeom prst="rect">
            <a:avLst/>
          </a:prstGeom>
          <a:noFill/>
          <a:ln/>
        </p:spPr>
        <p:txBody>
          <a:bodyPr wrap="square" lIns="0" tIns="0" rIns="0" bIns="0" rtlCol="0" anchor="t">
            <a:normAutofit/>
          </a:bodyPr>
          <a:lstStyle/>
          <a:p>
            <a:pPr algn="ctr" indent="0" marL="0">
              <a:lnSpc>
                <a:spcPts val="3360"/>
              </a:lnSpc>
              <a:buNone/>
            </a:pPr>
            <a:r>
              <a:rPr lang="en-US" sz="2400" b="1" dirty="0">
                <a:solidFill>
                  <a:srgbClr val="F6F3EC"/>
                </a:solidFill>
                <a:latin typeface="Space Grotesk" pitchFamily="34" charset="0"/>
                <a:ea typeface="Space Grotesk" pitchFamily="34" charset="-122"/>
                <a:cs typeface="Space Grotesk" pitchFamily="34" charset="-120"/>
              </a:rPr>
              <a:t>G</a:t>
            </a:r>
            <a:endParaRPr lang="en-US" sz="2400" dirty="0"/>
          </a:p>
        </p:txBody>
      </p:sp>
      <p:pic>
        <p:nvPicPr>
          <p:cNvPr id="13" name="Image 3" descr="connector">    </p:cNvPr>
          <p:cNvPicPr>
            <a:picLocks noChangeAspect="1"/>
          </p:cNvPicPr>
          <p:nvPr/>
        </p:nvPicPr>
        <p:blipFill>
          <a:blip r:embed="rId4"/>
          <a:srcRect l="0" r="0" t="0" b="0"/>
          <a:stretch/>
        </p:blipFill>
        <p:spPr>
          <a:xfrm>
            <a:off x="3556000" y="4337050"/>
            <a:ext cx="584200" cy="152400"/>
          </a:xfrm>
          <a:prstGeom prst="rect">
            <a:avLst/>
          </a:prstGeom>
        </p:spPr>
      </p:pic>
      <p:pic>
        <p:nvPicPr>
          <p:cNvPr id="14" name="Image 4" descr="Fake flower">    </p:cNvPr>
          <p:cNvPicPr>
            <a:picLocks noChangeAspect="1"/>
          </p:cNvPicPr>
          <p:nvPr/>
        </p:nvPicPr>
        <p:blipFill>
          <a:blip r:embed="rId5"/>
          <a:srcRect l="0" r="0" t="0" b="0"/>
          <a:stretch/>
        </p:blipFill>
        <p:spPr>
          <a:xfrm>
            <a:off x="4127500" y="3905250"/>
            <a:ext cx="1016000" cy="1016000"/>
          </a:xfrm>
          <a:prstGeom prst="roundRect">
            <a:avLst>
              <a:gd name="adj" fmla="val 7500"/>
            </a:avLst>
          </a:prstGeom>
        </p:spPr>
      </p:pic>
      <p:sp>
        <p:nvSpPr>
          <p:cNvPr id="15" name="Text 8"/>
          <p:cNvSpPr/>
          <p:nvPr/>
        </p:nvSpPr>
        <p:spPr>
          <a:xfrm>
            <a:off x="3848100" y="4984750"/>
            <a:ext cx="1574800"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2563A8"/>
                </a:solidFill>
                <a:latin typeface="IBM Plex Sans" pitchFamily="34" charset="0"/>
                <a:ea typeface="IBM Plex Sans" pitchFamily="34" charset="-122"/>
                <a:cs typeface="IBM Plex Sans" pitchFamily="34" charset="-120"/>
              </a:rPr>
              <a:t>fake G(z)</a:t>
            </a:r>
            <a:endParaRPr lang="en-US" sz="1400" dirty="0"/>
          </a:p>
        </p:txBody>
      </p:sp>
      <p:pic>
        <p:nvPicPr>
          <p:cNvPr id="16" name="Image 5" descr="connector">    </p:cNvPr>
          <p:cNvPicPr>
            <a:picLocks noChangeAspect="1"/>
          </p:cNvPicPr>
          <p:nvPr/>
        </p:nvPicPr>
        <p:blipFill>
          <a:blip r:embed="rId6"/>
          <a:srcRect l="0" r="0" t="0" b="0"/>
          <a:stretch/>
        </p:blipFill>
        <p:spPr>
          <a:xfrm>
            <a:off x="2654300" y="2432050"/>
            <a:ext cx="3327400" cy="946150"/>
          </a:xfrm>
          <a:prstGeom prst="rect">
            <a:avLst/>
          </a:prstGeom>
        </p:spPr>
      </p:pic>
      <p:pic>
        <p:nvPicPr>
          <p:cNvPr id="17" name="Image 6" descr="connector">    </p:cNvPr>
          <p:cNvPicPr>
            <a:picLocks noChangeAspect="1"/>
          </p:cNvPicPr>
          <p:nvPr/>
        </p:nvPicPr>
        <p:blipFill>
          <a:blip r:embed="rId7"/>
          <a:srcRect l="0" r="0" t="0" b="0"/>
          <a:stretch/>
        </p:blipFill>
        <p:spPr>
          <a:xfrm>
            <a:off x="5080000" y="3670300"/>
            <a:ext cx="901700" cy="819150"/>
          </a:xfrm>
          <a:prstGeom prst="rect">
            <a:avLst/>
          </a:prstGeom>
        </p:spPr>
      </p:pic>
      <p:sp>
        <p:nvSpPr>
          <p:cNvPr id="18" name="Shape 9"/>
          <p:cNvSpPr/>
          <p:nvPr/>
        </p:nvSpPr>
        <p:spPr>
          <a:xfrm>
            <a:off x="5969000" y="2984500"/>
            <a:ext cx="1524000" cy="1079500"/>
          </a:xfrm>
          <a:prstGeom prst="roundRect">
            <a:avLst>
              <a:gd name="adj" fmla="val 10588"/>
            </a:avLst>
          </a:prstGeom>
          <a:solidFill>
            <a:srgbClr val="B24E17"/>
          </a:solidFill>
          <a:ln/>
        </p:spPr>
      </p:sp>
      <p:sp>
        <p:nvSpPr>
          <p:cNvPr id="19" name="Text 10"/>
          <p:cNvSpPr/>
          <p:nvPr/>
        </p:nvSpPr>
        <p:spPr>
          <a:xfrm>
            <a:off x="5943600" y="3302000"/>
            <a:ext cx="1574800" cy="523230"/>
          </a:xfrm>
          <a:prstGeom prst="rect">
            <a:avLst/>
          </a:prstGeom>
          <a:noFill/>
          <a:ln/>
        </p:spPr>
        <p:txBody>
          <a:bodyPr wrap="square" lIns="0" tIns="0" rIns="0" bIns="0" rtlCol="0" anchor="t">
            <a:normAutofit/>
          </a:bodyPr>
          <a:lstStyle/>
          <a:p>
            <a:pPr algn="ctr" indent="0" marL="0">
              <a:lnSpc>
                <a:spcPts val="3920"/>
              </a:lnSpc>
              <a:buNone/>
            </a:pPr>
            <a:r>
              <a:rPr lang="en-US" sz="2800" b="1" dirty="0">
                <a:solidFill>
                  <a:srgbClr val="F6F3EC"/>
                </a:solidFill>
                <a:latin typeface="Space Grotesk" pitchFamily="34" charset="0"/>
                <a:ea typeface="Space Grotesk" pitchFamily="34" charset="-122"/>
                <a:cs typeface="Space Grotesk" pitchFamily="34" charset="-120"/>
              </a:rPr>
              <a:t>D</a:t>
            </a:r>
            <a:endParaRPr lang="en-US" sz="2800" dirty="0"/>
          </a:p>
        </p:txBody>
      </p:sp>
      <p:pic>
        <p:nvPicPr>
          <p:cNvPr id="20" name="Image 7" descr="connector">    </p:cNvPr>
          <p:cNvPicPr>
            <a:picLocks noChangeAspect="1"/>
          </p:cNvPicPr>
          <p:nvPr/>
        </p:nvPicPr>
        <p:blipFill>
          <a:blip r:embed="rId8"/>
          <a:srcRect l="0" r="0" t="0" b="0"/>
          <a:stretch/>
        </p:blipFill>
        <p:spPr>
          <a:xfrm>
            <a:off x="7429500" y="3448050"/>
            <a:ext cx="711200" cy="152400"/>
          </a:xfrm>
          <a:prstGeom prst="rect">
            <a:avLst/>
          </a:prstGeom>
        </p:spPr>
      </p:pic>
      <p:sp>
        <p:nvSpPr>
          <p:cNvPr id="21" name="Shape 11"/>
          <p:cNvSpPr/>
          <p:nvPr/>
        </p:nvSpPr>
        <p:spPr>
          <a:xfrm>
            <a:off x="8128000" y="3111500"/>
            <a:ext cx="1397000" cy="825500"/>
          </a:xfrm>
          <a:prstGeom prst="roundRect">
            <a:avLst>
              <a:gd name="adj" fmla="val 10769"/>
            </a:avLst>
          </a:prstGeom>
          <a:solidFill>
            <a:srgbClr val="F6E1D3"/>
          </a:solidFill>
          <a:ln/>
        </p:spPr>
      </p:sp>
      <p:sp>
        <p:nvSpPr>
          <p:cNvPr id="22" name="Text 12"/>
          <p:cNvSpPr/>
          <p:nvPr/>
        </p:nvSpPr>
        <p:spPr>
          <a:xfrm>
            <a:off x="8102600" y="3238500"/>
            <a:ext cx="1447800" cy="487660"/>
          </a:xfrm>
          <a:prstGeom prst="rect">
            <a:avLst/>
          </a:prstGeom>
          <a:noFill/>
          <a:ln/>
        </p:spPr>
        <p:txBody>
          <a:bodyPr wrap="square" lIns="0" tIns="0" rIns="0" bIns="0" rtlCol="0" anchor="t">
            <a:normAutofit/>
          </a:bodyPr>
          <a:lstStyle/>
          <a:p>
            <a:pPr algn="ctr" indent="0" marL="0">
              <a:lnSpc>
                <a:spcPts val="1820"/>
              </a:lnSpc>
              <a:buNone/>
            </a:pPr>
            <a:r>
              <a:rPr lang="en-US" sz="1400" dirty="0">
                <a:solidFill>
                  <a:srgbClr val="14213D"/>
                </a:solidFill>
                <a:latin typeface="IBM Plex Sans" pitchFamily="34" charset="0"/>
                <a:ea typeface="IBM Plex Sans" pitchFamily="34" charset="-122"/>
                <a:cs typeface="IBM Plex Sans" pitchFamily="34" charset="-120"/>
              </a:rPr>
              <a:t>p = P(real)</a:t>
            </a:r>
            <a:endParaRPr lang="en-US" sz="1400" dirty="0"/>
          </a:p>
          <a:p>
            <a:pPr algn="ctr" indent="0" marL="0">
              <a:lnSpc>
                <a:spcPts val="1820"/>
              </a:lnSpc>
              <a:buNone/>
            </a:pPr>
            <a:r>
              <a:rPr lang="en-US" sz="1400" dirty="0">
                <a:solidFill>
                  <a:srgbClr val="14213D"/>
                </a:solidFill>
                <a:latin typeface="IBM Plex Sans" pitchFamily="34" charset="0"/>
                <a:ea typeface="IBM Plex Sans" pitchFamily="34" charset="-122"/>
                <a:cs typeface="IBM Plex Sans" pitchFamily="34" charset="-120"/>
              </a:rPr>
              <a:t>0 … 1</a:t>
            </a:r>
            <a:endParaRPr lang="en-US" sz="1400" dirty="0"/>
          </a:p>
        </p:txBody>
      </p:sp>
      <p:pic>
        <p:nvPicPr>
          <p:cNvPr id="23" name="Image 8" descr="connector">    </p:cNvPr>
          <p:cNvPicPr>
            <a:picLocks noChangeAspect="1"/>
          </p:cNvPicPr>
          <p:nvPr/>
        </p:nvPicPr>
        <p:blipFill>
          <a:blip r:embed="rId9"/>
          <a:srcRect l="0" r="0" t="0" b="0"/>
          <a:stretch/>
        </p:blipFill>
        <p:spPr>
          <a:xfrm>
            <a:off x="9461500" y="3448050"/>
            <a:ext cx="584200" cy="152400"/>
          </a:xfrm>
          <a:prstGeom prst="rect">
            <a:avLst/>
          </a:prstGeom>
        </p:spPr>
      </p:pic>
      <p:sp>
        <p:nvSpPr>
          <p:cNvPr id="24" name="Shape 13"/>
          <p:cNvSpPr/>
          <p:nvPr/>
        </p:nvSpPr>
        <p:spPr>
          <a:xfrm>
            <a:off x="10033000" y="3111500"/>
            <a:ext cx="1346200" cy="825500"/>
          </a:xfrm>
          <a:prstGeom prst="roundRect">
            <a:avLst>
              <a:gd name="adj" fmla="val 10769"/>
            </a:avLst>
          </a:prstGeom>
          <a:solidFill>
            <a:srgbClr val="14213D"/>
          </a:solidFill>
          <a:ln/>
        </p:spPr>
      </p:sp>
      <p:sp>
        <p:nvSpPr>
          <p:cNvPr id="25" name="Text 14"/>
          <p:cNvSpPr/>
          <p:nvPr/>
        </p:nvSpPr>
        <p:spPr>
          <a:xfrm>
            <a:off x="10007600" y="3333750"/>
            <a:ext cx="1397000"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E9B949"/>
                </a:solidFill>
                <a:latin typeface="IBM Plex Sans" pitchFamily="34" charset="0"/>
                <a:ea typeface="IBM Plex Sans" pitchFamily="34" charset="-122"/>
                <a:cs typeface="IBM Plex Sans" pitchFamily="34" charset="-120"/>
              </a:rPr>
              <a:t>BCE loss</a:t>
            </a:r>
            <a:endParaRPr lang="en-US" sz="1600" dirty="0"/>
          </a:p>
        </p:txBody>
      </p:sp>
      <p:pic>
        <p:nvPicPr>
          <p:cNvPr id="26" name="Image 9" descr="connector">    </p:cNvPr>
          <p:cNvPicPr>
            <a:picLocks noChangeAspect="1"/>
          </p:cNvPicPr>
          <p:nvPr/>
        </p:nvPicPr>
        <p:blipFill>
          <a:blip r:embed="rId10"/>
          <a:srcRect l="0" r="0" t="0" b="0"/>
          <a:stretch/>
        </p:blipFill>
        <p:spPr>
          <a:xfrm>
            <a:off x="7435850" y="3854450"/>
            <a:ext cx="3365500" cy="254000"/>
          </a:xfrm>
          <a:prstGeom prst="rect">
            <a:avLst/>
          </a:prstGeom>
        </p:spPr>
      </p:pic>
      <p:sp>
        <p:nvSpPr>
          <p:cNvPr id="27" name="Text 15"/>
          <p:cNvSpPr/>
          <p:nvPr/>
        </p:nvSpPr>
        <p:spPr>
          <a:xfrm>
            <a:off x="8001000" y="4127500"/>
            <a:ext cx="313944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B24E17"/>
                </a:solidFill>
                <a:latin typeface="IBM Plex Sans" pitchFamily="34" charset="0"/>
                <a:ea typeface="IBM Plex Sans" pitchFamily="34" charset="-122"/>
                <a:cs typeface="IBM Plex Sans" pitchFamily="34" charset="-120"/>
              </a:rPr>
              <a:t>Step 1:</a:t>
            </a:r>
            <a:r>
              <a:rPr lang="en-US" sz="1400" dirty="0">
                <a:solidFill>
                  <a:srgbClr val="B24E17"/>
                </a:solidFill>
                <a:latin typeface="IBM Plex Sans" pitchFamily="34" charset="0"/>
                <a:ea typeface="IBM Plex Sans" pitchFamily="34" charset="-122"/>
                <a:cs typeface="IBM Plex Sans" pitchFamily="34" charset="-120"/>
              </a:rPr>
              <a:t> update D (real → 1, fake → 0)</a:t>
            </a:r>
            <a:endParaRPr lang="en-US" sz="1400" dirty="0"/>
          </a:p>
        </p:txBody>
      </p:sp>
      <p:pic>
        <p:nvPicPr>
          <p:cNvPr id="28" name="Image 10" descr="connector">    </p:cNvPr>
          <p:cNvPicPr>
            <a:picLocks noChangeAspect="1"/>
          </p:cNvPicPr>
          <p:nvPr/>
        </p:nvPicPr>
        <p:blipFill>
          <a:blip r:embed="rId11"/>
          <a:srcRect l="0" r="0" t="0" b="0"/>
          <a:stretch/>
        </p:blipFill>
        <p:spPr>
          <a:xfrm>
            <a:off x="11080750" y="3854450"/>
            <a:ext cx="190500" cy="1701800"/>
          </a:xfrm>
          <a:prstGeom prst="rect">
            <a:avLst/>
          </a:prstGeom>
        </p:spPr>
      </p:pic>
      <p:pic>
        <p:nvPicPr>
          <p:cNvPr id="29" name="Image 11" descr="connector">    </p:cNvPr>
          <p:cNvPicPr>
            <a:picLocks noChangeAspect="1"/>
          </p:cNvPicPr>
          <p:nvPr/>
        </p:nvPicPr>
        <p:blipFill>
          <a:blip r:embed="rId12"/>
          <a:srcRect l="0" r="0" t="0" b="0"/>
          <a:stretch/>
        </p:blipFill>
        <p:spPr>
          <a:xfrm>
            <a:off x="2825750" y="5365750"/>
            <a:ext cx="8445500" cy="190500"/>
          </a:xfrm>
          <a:prstGeom prst="rect">
            <a:avLst/>
          </a:prstGeom>
        </p:spPr>
      </p:pic>
      <p:pic>
        <p:nvPicPr>
          <p:cNvPr id="30" name="Image 12" descr="connector">    </p:cNvPr>
          <p:cNvPicPr>
            <a:picLocks noChangeAspect="1"/>
          </p:cNvPicPr>
          <p:nvPr/>
        </p:nvPicPr>
        <p:blipFill>
          <a:blip r:embed="rId13"/>
          <a:srcRect l="0" r="0" t="0" b="0"/>
          <a:stretch/>
        </p:blipFill>
        <p:spPr>
          <a:xfrm>
            <a:off x="2825750" y="4806950"/>
            <a:ext cx="190500" cy="749300"/>
          </a:xfrm>
          <a:prstGeom prst="rect">
            <a:avLst/>
          </a:prstGeom>
        </p:spPr>
      </p:pic>
      <p:sp>
        <p:nvSpPr>
          <p:cNvPr id="31" name="Text 16"/>
          <p:cNvSpPr/>
          <p:nvPr/>
        </p:nvSpPr>
        <p:spPr>
          <a:xfrm>
            <a:off x="8001000" y="4762500"/>
            <a:ext cx="313944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2563A8"/>
                </a:solidFill>
                <a:latin typeface="IBM Plex Sans" pitchFamily="34" charset="0"/>
                <a:ea typeface="IBM Plex Sans" pitchFamily="34" charset="-122"/>
                <a:cs typeface="IBM Plex Sans" pitchFamily="34" charset="-120"/>
              </a:rPr>
              <a:t>Step 2:</a:t>
            </a:r>
            <a:r>
              <a:rPr lang="en-US" sz="1400" dirty="0">
                <a:solidFill>
                  <a:srgbClr val="2563A8"/>
                </a:solidFill>
                <a:latin typeface="IBM Plex Sans" pitchFamily="34" charset="0"/>
                <a:ea typeface="IBM Plex Sans" pitchFamily="34" charset="-122"/>
                <a:cs typeface="IBM Plex Sans" pitchFamily="34" charset="-120"/>
              </a:rPr>
              <a:t> update G (make D say "real")</a:t>
            </a:r>
            <a:endParaRPr lang="en-US" sz="1400" dirty="0"/>
          </a:p>
        </p:txBody>
      </p:sp>
      <p:sp>
        <p:nvSpPr>
          <p:cNvPr id="32" name="Text 17"/>
          <p:cNvSpPr/>
          <p:nvPr/>
        </p:nvSpPr>
        <p:spPr>
          <a:xfrm>
            <a:off x="812800" y="561975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Repeat for every mini-batch.</a:t>
            </a:r>
            <a:r>
              <a:rPr lang="en-US" sz="1500" dirty="0">
                <a:solidFill>
                  <a:srgbClr val="14213D"/>
                </a:solidFill>
                <a:latin typeface="IBM Plex Sans" pitchFamily="34" charset="0"/>
                <a:ea typeface="IBM Plex Sans" pitchFamily="34" charset="-122"/>
                <a:cs typeface="IBM Plex Sans" pitchFamily="34" charset="-120"/>
              </a:rPr>
              <a:t> Two players, two losses, one shared score.</a:t>
            </a:r>
            <a:endParaRPr lang="en-US" sz="1500" dirty="0"/>
          </a:p>
        </p:txBody>
      </p:sp>
      <p:sp>
        <p:nvSpPr>
          <p:cNvPr id="33" name="Text 18"/>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1 · 06 Training · min 53–56</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06 · STEP 1 OF EACH BATCH</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Step 1: train the inspector, G is frozen</a:t>
            </a:r>
            <a:endParaRPr lang="en-US" sz="3200" dirty="0"/>
          </a:p>
        </p:txBody>
      </p:sp>
      <p:sp>
        <p:nvSpPr>
          <p:cNvPr id="4" name="Shape 2"/>
          <p:cNvSpPr/>
          <p:nvPr/>
        </p:nvSpPr>
        <p:spPr>
          <a:xfrm>
            <a:off x="812800" y="1841500"/>
            <a:ext cx="6350000" cy="3810000"/>
          </a:xfrm>
          <a:prstGeom prst="roundRect">
            <a:avLst>
              <a:gd name="adj" fmla="val 3000"/>
            </a:avLst>
          </a:prstGeom>
          <a:solidFill>
            <a:srgbClr val="14213D"/>
          </a:solidFill>
          <a:ln/>
        </p:spPr>
      </p:sp>
      <p:sp>
        <p:nvSpPr>
          <p:cNvPr id="5" name="Text 3"/>
          <p:cNvSpPr/>
          <p:nvPr/>
        </p:nvSpPr>
        <p:spPr>
          <a:xfrm>
            <a:off x="1066800" y="2000250"/>
            <a:ext cx="6148070" cy="3458964"/>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8E9AAF"/>
                </a:solidFill>
                <a:latin typeface="JetBrains Mono" pitchFamily="34" charset="0"/>
                <a:ea typeface="JetBrains Mono" pitchFamily="34" charset="-122"/>
                <a:cs typeface="JetBrains Mono" pitchFamily="34" charset="-120"/>
              </a:rPr>
              <a:t># Train Discriminator</a:t>
            </a:r>
            <a:endParaRPr lang="en-US" sz="1300" dirty="0"/>
          </a:p>
          <a:p>
            <a:pPr algn="l" indent="0" marL="0">
              <a:lnSpc>
                <a:spcPts val="2080"/>
              </a:lnSpc>
              <a:buNone/>
            </a:pPr>
            <a:r>
              <a:rPr lang="en-US" sz="1300" dirty="0">
                <a:solidFill>
                  <a:srgbClr val="E6EAF0"/>
                </a:solidFill>
                <a:latin typeface="JetBrains Mono" pitchFamily="34" charset="0"/>
                <a:ea typeface="JetBrains Mono" pitchFamily="34" charset="-122"/>
                <a:cs typeface="JetBrains Mono" pitchFamily="34" charset="-120"/>
              </a:rPr>
              <a:t>optimizer_d.zero_grad()</a:t>
            </a:r>
            <a:endParaRPr lang="en-US" sz="1300" dirty="0"/>
          </a:p>
          <a:p>
            <a:pPr algn="l" indent="0" marL="0">
              <a:lnSpc>
                <a:spcPts val="2080"/>
              </a:lnSpc>
              <a:buNone/>
            </a:pPr>
            <a:r>
              <a:rPr lang="en-US" sz="1300" dirty="0">
                <a:solidFill>
                  <a:srgbClr val="F2B48C"/>
                </a:solidFill>
                <a:latin typeface="JetBrains Mono" pitchFamily="34" charset="0"/>
                <a:ea typeface="JetBrains Mono" pitchFamily="34" charset="-122"/>
                <a:cs typeface="JetBrains Mono" pitchFamily="34" charset="-120"/>
              </a:rPr>
              <a:t>outputs_real = discriminator(real)</a:t>
            </a:r>
            <a:endParaRPr lang="en-US" sz="1300" dirty="0"/>
          </a:p>
          <a:p>
            <a:pPr algn="l" indent="0" marL="0">
              <a:lnSpc>
                <a:spcPts val="2080"/>
              </a:lnSpc>
              <a:buNone/>
            </a:pPr>
            <a:r>
              <a:rPr lang="en-US" sz="1300" dirty="0">
                <a:solidFill>
                  <a:srgbClr val="F2B48C"/>
                </a:solidFill>
                <a:latin typeface="JetBrains Mono" pitchFamily="34" charset="0"/>
                <a:ea typeface="JetBrains Mono" pitchFamily="34" charset="-122"/>
                <a:cs typeface="JetBrains Mono" pitchFamily="34" charset="-120"/>
              </a:rPr>
              <a:t>loss_real = criterion(outputs_real, labels_real)</a:t>
            </a:r>
            <a:endParaRPr lang="en-US" sz="1300" dirty="0"/>
          </a:p>
          <a:p>
            <a:pPr algn="l" indent="0" marL="0">
              <a:lnSpc>
                <a:spcPts val="2080"/>
              </a:lnSpc>
              <a:buNone/>
            </a:pPr>
            <a:endParaRPr lang="en-US" sz="1300" dirty="0"/>
          </a:p>
          <a:p>
            <a:pPr algn="l" indent="0" marL="0">
              <a:lnSpc>
                <a:spcPts val="2080"/>
              </a:lnSpc>
              <a:buNone/>
            </a:pPr>
            <a:r>
              <a:rPr lang="en-US" sz="1300" dirty="0">
                <a:solidFill>
                  <a:srgbClr val="E6EAF0"/>
                </a:solidFill>
                <a:latin typeface="JetBrains Mono" pitchFamily="34" charset="0"/>
                <a:ea typeface="JetBrains Mono" pitchFamily="34" charset="-122"/>
                <a:cs typeface="JetBrains Mono" pitchFamily="34" charset="-120"/>
              </a:rPr>
              <a:t>noise = torch.randn(batch_size, 100)</a:t>
            </a:r>
            <a:endParaRPr lang="en-US" sz="1300" dirty="0"/>
          </a:p>
          <a:p>
            <a:pPr algn="l" indent="0" marL="0">
              <a:lnSpc>
                <a:spcPts val="2080"/>
              </a:lnSpc>
              <a:buNone/>
            </a:pPr>
            <a:r>
              <a:rPr lang="en-US" sz="1300" dirty="0">
                <a:solidFill>
                  <a:srgbClr val="E6EAF0"/>
                </a:solidFill>
                <a:latin typeface="JetBrains Mono" pitchFamily="34" charset="0"/>
                <a:ea typeface="JetBrains Mono" pitchFamily="34" charset="-122"/>
                <a:cs typeface="JetBrains Mono" pitchFamily="34" charset="-120"/>
              </a:rPr>
              <a:t>fake = generator(noise)</a:t>
            </a:r>
            <a:endParaRPr lang="en-US" sz="1300" dirty="0"/>
          </a:p>
          <a:p>
            <a:pPr algn="l" indent="0" marL="0">
              <a:lnSpc>
                <a:spcPts val="2080"/>
              </a:lnSpc>
              <a:buNone/>
            </a:pPr>
            <a:r>
              <a:rPr lang="en-US" sz="1300" dirty="0">
                <a:solidFill>
                  <a:srgbClr val="8DB8EA"/>
                </a:solidFill>
                <a:latin typeface="JetBrains Mono" pitchFamily="34" charset="0"/>
                <a:ea typeface="JetBrains Mono" pitchFamily="34" charset="-122"/>
                <a:cs typeface="JetBrains Mono" pitchFamily="34" charset="-120"/>
              </a:rPr>
              <a:t>outputs_fake = discriminator(fake</a:t>
            </a:r>
            <a:r>
              <a:rPr lang="en-US" sz="1300" dirty="0">
                <a:solidFill>
                  <a:srgbClr val="E9B949"/>
                </a:solidFill>
                <a:latin typeface="JetBrains Mono" pitchFamily="34" charset="0"/>
                <a:ea typeface="JetBrains Mono" pitchFamily="34" charset="-122"/>
                <a:cs typeface="JetBrains Mono" pitchFamily="34" charset="-120"/>
              </a:rPr>
              <a:t>.detach()</a:t>
            </a:r>
            <a:r>
              <a:rPr lang="en-US" sz="1300" dirty="0">
                <a:solidFill>
                  <a:srgbClr val="8DB8EA"/>
                </a:solidFill>
                <a:latin typeface="JetBrains Mono" pitchFamily="34" charset="0"/>
                <a:ea typeface="JetBrains Mono" pitchFamily="34" charset="-122"/>
                <a:cs typeface="JetBrains Mono" pitchFamily="34" charset="-120"/>
              </a:rPr>
              <a:t>)</a:t>
            </a:r>
            <a:endParaRPr lang="en-US" sz="1300" dirty="0"/>
          </a:p>
          <a:p>
            <a:pPr algn="l" indent="0" marL="0">
              <a:lnSpc>
                <a:spcPts val="2080"/>
              </a:lnSpc>
              <a:buNone/>
            </a:pPr>
            <a:r>
              <a:rPr lang="en-US" sz="1300" dirty="0">
                <a:solidFill>
                  <a:srgbClr val="8DB8EA"/>
                </a:solidFill>
                <a:latin typeface="JetBrains Mono" pitchFamily="34" charset="0"/>
                <a:ea typeface="JetBrains Mono" pitchFamily="34" charset="-122"/>
                <a:cs typeface="JetBrains Mono" pitchFamily="34" charset="-120"/>
              </a:rPr>
              <a:t>loss_fake = criterion(outputs_fake, labels_fake)</a:t>
            </a:r>
            <a:endParaRPr lang="en-US" sz="1300" dirty="0"/>
          </a:p>
          <a:p>
            <a:pPr algn="l" indent="0" marL="0">
              <a:lnSpc>
                <a:spcPts val="2080"/>
              </a:lnSpc>
              <a:buNone/>
            </a:pPr>
            <a:endParaRPr lang="en-US" sz="1300" dirty="0"/>
          </a:p>
          <a:p>
            <a:pPr algn="l" indent="0" marL="0">
              <a:lnSpc>
                <a:spcPts val="2080"/>
              </a:lnSpc>
              <a:buNone/>
            </a:pPr>
            <a:r>
              <a:rPr lang="en-US" sz="1300" dirty="0">
                <a:solidFill>
                  <a:srgbClr val="E6EAF0"/>
                </a:solidFill>
                <a:latin typeface="JetBrains Mono" pitchFamily="34" charset="0"/>
                <a:ea typeface="JetBrains Mono" pitchFamily="34" charset="-122"/>
                <a:cs typeface="JetBrains Mono" pitchFamily="34" charset="-120"/>
              </a:rPr>
              <a:t>loss_d = loss_real + loss_fake</a:t>
            </a:r>
            <a:endParaRPr lang="en-US" sz="1300" dirty="0"/>
          </a:p>
          <a:p>
            <a:pPr algn="l" indent="0" marL="0">
              <a:lnSpc>
                <a:spcPts val="2080"/>
              </a:lnSpc>
              <a:buNone/>
            </a:pPr>
            <a:r>
              <a:rPr lang="en-US" sz="1300" dirty="0">
                <a:solidFill>
                  <a:srgbClr val="E6EAF0"/>
                </a:solidFill>
                <a:latin typeface="JetBrains Mono" pitchFamily="34" charset="0"/>
                <a:ea typeface="JetBrains Mono" pitchFamily="34" charset="-122"/>
                <a:cs typeface="JetBrains Mono" pitchFamily="34" charset="-120"/>
              </a:rPr>
              <a:t>loss_d.backward()</a:t>
            </a:r>
            <a:endParaRPr lang="en-US" sz="1300" dirty="0"/>
          </a:p>
          <a:p>
            <a:pPr algn="l" indent="0" marL="0">
              <a:lnSpc>
                <a:spcPts val="2080"/>
              </a:lnSpc>
              <a:buNone/>
            </a:pPr>
            <a:r>
              <a:rPr lang="en-US" sz="1300" dirty="0">
                <a:solidFill>
                  <a:srgbClr val="E9B949"/>
                </a:solidFill>
                <a:latin typeface="JetBrains Mono" pitchFamily="34" charset="0"/>
                <a:ea typeface="JetBrains Mono" pitchFamily="34" charset="-122"/>
                <a:cs typeface="JetBrains Mono" pitchFamily="34" charset="-120"/>
              </a:rPr>
              <a:t>optimizer_d.step()</a:t>
            </a:r>
            <a:endParaRPr lang="en-US" sz="1300" dirty="0"/>
          </a:p>
        </p:txBody>
      </p:sp>
      <p:sp>
        <p:nvSpPr>
          <p:cNvPr id="6" name="Shape 4"/>
          <p:cNvSpPr/>
          <p:nvPr/>
        </p:nvSpPr>
        <p:spPr>
          <a:xfrm>
            <a:off x="7372350" y="1847850"/>
            <a:ext cx="4000500" cy="1066800"/>
          </a:xfrm>
          <a:prstGeom prst="roundRect">
            <a:avLst>
              <a:gd name="adj" fmla="val 7738"/>
            </a:avLst>
          </a:prstGeom>
          <a:solidFill>
            <a:srgbClr val="FFFDF8"/>
          </a:solidFill>
          <a:ln w="12700">
            <a:solidFill>
              <a:srgbClr val="E4DED0"/>
            </a:solidFill>
            <a:prstDash val="solid"/>
          </a:ln>
        </p:spPr>
      </p:sp>
      <p:sp>
        <p:nvSpPr>
          <p:cNvPr id="7" name="Text 5"/>
          <p:cNvSpPr/>
          <p:nvPr/>
        </p:nvSpPr>
        <p:spPr>
          <a:xfrm>
            <a:off x="7588250" y="1955800"/>
            <a:ext cx="3793490" cy="50542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4213D"/>
                </a:solidFill>
                <a:latin typeface="IBM Plex Sans" pitchFamily="34" charset="0"/>
                <a:ea typeface="IBM Plex Sans" pitchFamily="34" charset="-122"/>
                <a:cs typeface="IBM Plex Sans" pitchFamily="34" charset="-120"/>
              </a:rPr>
              <a:t>Real batch → target 1.</a:t>
            </a:r>
            <a:r>
              <a:rPr lang="en-US" sz="1400" dirty="0">
                <a:solidFill>
                  <a:srgbClr val="14213D"/>
                </a:solidFill>
                <a:latin typeface="IBM Plex Sans" pitchFamily="34" charset="0"/>
                <a:ea typeface="IBM Plex Sans" pitchFamily="34" charset="-122"/>
                <a:cs typeface="IBM Plex Sans" pitchFamily="34" charset="-120"/>
              </a:rPr>
              <a:t> Penalise D if it calls real flowers fake.</a:t>
            </a:r>
            <a:endParaRPr lang="en-US" sz="1400" dirty="0"/>
          </a:p>
        </p:txBody>
      </p:sp>
      <p:sp>
        <p:nvSpPr>
          <p:cNvPr id="8" name="Shape 6"/>
          <p:cNvSpPr/>
          <p:nvPr/>
        </p:nvSpPr>
        <p:spPr>
          <a:xfrm>
            <a:off x="7372350" y="3054350"/>
            <a:ext cx="4000500" cy="1066800"/>
          </a:xfrm>
          <a:prstGeom prst="roundRect">
            <a:avLst>
              <a:gd name="adj" fmla="val 7738"/>
            </a:avLst>
          </a:prstGeom>
          <a:solidFill>
            <a:srgbClr val="FFFDF8"/>
          </a:solidFill>
          <a:ln w="12700">
            <a:solidFill>
              <a:srgbClr val="E4DED0"/>
            </a:solidFill>
            <a:prstDash val="solid"/>
          </a:ln>
        </p:spPr>
      </p:sp>
      <p:sp>
        <p:nvSpPr>
          <p:cNvPr id="9" name="Text 7"/>
          <p:cNvSpPr/>
          <p:nvPr/>
        </p:nvSpPr>
        <p:spPr>
          <a:xfrm>
            <a:off x="7588250" y="3162300"/>
            <a:ext cx="3793490" cy="50542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4213D"/>
                </a:solidFill>
                <a:latin typeface="IBM Plex Sans" pitchFamily="34" charset="0"/>
                <a:ea typeface="IBM Plex Sans" pitchFamily="34" charset="-122"/>
                <a:cs typeface="IBM Plex Sans" pitchFamily="34" charset="-120"/>
              </a:rPr>
              <a:t>Fake batch → target 0.</a:t>
            </a:r>
            <a:r>
              <a:rPr lang="en-US" sz="1400" dirty="0">
                <a:solidFill>
                  <a:srgbClr val="14213D"/>
                </a:solidFill>
                <a:latin typeface="IBM Plex Sans" pitchFamily="34" charset="0"/>
                <a:ea typeface="IBM Plex Sans" pitchFamily="34" charset="-122"/>
                <a:cs typeface="IBM Plex Sans" pitchFamily="34" charset="-120"/>
              </a:rPr>
              <a:t> Penalise D if it calls fakes real.</a:t>
            </a:r>
            <a:endParaRPr lang="en-US" sz="1400" dirty="0"/>
          </a:p>
        </p:txBody>
      </p:sp>
      <p:sp>
        <p:nvSpPr>
          <p:cNvPr id="10" name="Shape 8"/>
          <p:cNvSpPr/>
          <p:nvPr/>
        </p:nvSpPr>
        <p:spPr>
          <a:xfrm>
            <a:off x="7366000" y="4254500"/>
            <a:ext cx="4013200" cy="1397000"/>
          </a:xfrm>
          <a:prstGeom prst="roundRect">
            <a:avLst>
              <a:gd name="adj" fmla="val 6364"/>
            </a:avLst>
          </a:prstGeom>
          <a:solidFill>
            <a:srgbClr val="FBF0CF"/>
          </a:solidFill>
          <a:ln/>
        </p:spPr>
      </p:sp>
      <p:sp>
        <p:nvSpPr>
          <p:cNvPr id="11" name="Text 9"/>
          <p:cNvSpPr/>
          <p:nvPr/>
        </p:nvSpPr>
        <p:spPr>
          <a:xfrm>
            <a:off x="7588250" y="4368800"/>
            <a:ext cx="3793490" cy="74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4213D"/>
                </a:solidFill>
                <a:latin typeface="IBM Plex Sans" pitchFamily="34" charset="0"/>
                <a:ea typeface="IBM Plex Sans" pitchFamily="34" charset="-122"/>
                <a:cs typeface="IBM Plex Sans" pitchFamily="34" charset="-120"/>
              </a:rPr>
              <a:t>.detach()</a:t>
            </a:r>
            <a:r>
              <a:rPr lang="en-US" sz="1400" dirty="0">
                <a:solidFill>
                  <a:srgbClr val="14213D"/>
                </a:solidFill>
                <a:latin typeface="IBM Plex Sans" pitchFamily="34" charset="0"/>
                <a:ea typeface="IBM Plex Sans" pitchFamily="34" charset="-122"/>
                <a:cs typeface="IBM Plex Sans" pitchFamily="34" charset="-120"/>
              </a:rPr>
              <a:t> cuts the wire back to G, and only </a:t>
            </a:r>
            <a:r>
              <a:rPr lang="en-US" sz="1400" b="1" dirty="0">
                <a:solidFill>
                  <a:srgbClr val="14213D"/>
                </a:solidFill>
                <a:latin typeface="IBM Plex Sans" pitchFamily="34" charset="0"/>
                <a:ea typeface="IBM Plex Sans" pitchFamily="34" charset="-122"/>
                <a:cs typeface="IBM Plex Sans" pitchFamily="34" charset="-120"/>
              </a:rPr>
              <a:t>optimizer_d</a:t>
            </a:r>
            <a:r>
              <a:rPr lang="en-US" sz="1400" dirty="0">
                <a:solidFill>
                  <a:srgbClr val="14213D"/>
                </a:solidFill>
                <a:latin typeface="IBM Plex Sans" pitchFamily="34" charset="0"/>
                <a:ea typeface="IBM Plex Sans" pitchFamily="34" charset="-122"/>
                <a:cs typeface="IBM Plex Sans" pitchFamily="34" charset="-120"/>
              </a:rPr>
              <a:t> steps. So this step changes D's weights only.</a:t>
            </a:r>
            <a:endParaRPr lang="en-US" sz="1400" dirty="0"/>
          </a:p>
        </p:txBody>
      </p:sp>
      <p:sp>
        <p:nvSpPr>
          <p:cNvPr id="12" name="Text 10"/>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1 · 06 Training · min 56–58 · notebook training loop, lines 1–12</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63A8"/>
                </a:solidFill>
                <a:latin typeface="IBM Plex Sans" pitchFamily="34" charset="0"/>
                <a:ea typeface="IBM Plex Sans" pitchFamily="34" charset="-122"/>
                <a:cs typeface="IBM Plex Sans" pitchFamily="34" charset="-120"/>
              </a:rPr>
              <a:t>06 · STEP 2 OF EACH BATCH</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Step 2: train the forger, D is not updated</a:t>
            </a:r>
            <a:endParaRPr lang="en-US" sz="3200" dirty="0"/>
          </a:p>
        </p:txBody>
      </p:sp>
      <p:sp>
        <p:nvSpPr>
          <p:cNvPr id="4" name="Shape 2"/>
          <p:cNvSpPr/>
          <p:nvPr/>
        </p:nvSpPr>
        <p:spPr>
          <a:xfrm>
            <a:off x="812800" y="1841500"/>
            <a:ext cx="6350000" cy="2413000"/>
          </a:xfrm>
          <a:prstGeom prst="roundRect">
            <a:avLst>
              <a:gd name="adj" fmla="val 4737"/>
            </a:avLst>
          </a:prstGeom>
          <a:solidFill>
            <a:srgbClr val="14213D"/>
          </a:solidFill>
          <a:ln/>
        </p:spPr>
      </p:sp>
      <p:sp>
        <p:nvSpPr>
          <p:cNvPr id="5" name="Text 3"/>
          <p:cNvSpPr/>
          <p:nvPr/>
        </p:nvSpPr>
        <p:spPr>
          <a:xfrm>
            <a:off x="1066800" y="2000250"/>
            <a:ext cx="6148070" cy="1732161"/>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8E9AAF"/>
                </a:solidFill>
                <a:latin typeface="JetBrains Mono" pitchFamily="34" charset="0"/>
                <a:ea typeface="JetBrains Mono" pitchFamily="34" charset="-122"/>
                <a:cs typeface="JetBrains Mono" pitchFamily="34" charset="-120"/>
              </a:rPr>
              <a:t># Train Generator</a:t>
            </a:r>
            <a:endParaRPr lang="en-US" sz="1400" dirty="0"/>
          </a:p>
          <a:p>
            <a:pPr algn="l" indent="0" marL="0">
              <a:lnSpc>
                <a:spcPts val="2240"/>
              </a:lnSpc>
              <a:buNone/>
            </a:pPr>
            <a:r>
              <a:rPr lang="en-US" sz="1400" dirty="0">
                <a:solidFill>
                  <a:srgbClr val="E6EAF0"/>
                </a:solidFill>
                <a:latin typeface="JetBrains Mono" pitchFamily="34" charset="0"/>
                <a:ea typeface="JetBrains Mono" pitchFamily="34" charset="-122"/>
                <a:cs typeface="JetBrains Mono" pitchFamily="34" charset="-120"/>
              </a:rPr>
              <a:t>optimizer_g.zero_grad()</a:t>
            </a:r>
            <a:endParaRPr lang="en-US" sz="1400" dirty="0"/>
          </a:p>
          <a:p>
            <a:pPr algn="l" indent="0" marL="0">
              <a:lnSpc>
                <a:spcPts val="2240"/>
              </a:lnSpc>
              <a:buNone/>
            </a:pPr>
            <a:r>
              <a:rPr lang="en-US" sz="1400" dirty="0">
                <a:solidFill>
                  <a:srgbClr val="8DB8EA"/>
                </a:solidFill>
                <a:latin typeface="JetBrains Mono" pitchFamily="34" charset="0"/>
                <a:ea typeface="JetBrains Mono" pitchFamily="34" charset="-122"/>
                <a:cs typeface="JetBrains Mono" pitchFamily="34" charset="-120"/>
              </a:rPr>
              <a:t>outputs_fake = discriminator(fake)</a:t>
            </a:r>
            <a:endParaRPr lang="en-US" sz="1400" dirty="0"/>
          </a:p>
          <a:p>
            <a:pPr algn="l" indent="0" marL="0">
              <a:lnSpc>
                <a:spcPts val="2240"/>
              </a:lnSpc>
              <a:buNone/>
            </a:pPr>
            <a:r>
              <a:rPr lang="en-US" sz="1400" dirty="0">
                <a:solidFill>
                  <a:srgbClr val="8DB8EA"/>
                </a:solidFill>
                <a:latin typeface="JetBrains Mono" pitchFamily="34" charset="0"/>
                <a:ea typeface="JetBrains Mono" pitchFamily="34" charset="-122"/>
                <a:cs typeface="JetBrains Mono" pitchFamily="34" charset="-120"/>
              </a:rPr>
              <a:t>loss_g = criterion(outputs_fake,</a:t>
            </a:r>
            <a:r>
              <a:rPr lang="en-US" sz="1400" dirty="0">
                <a:solidFill>
                  <a:srgbClr val="E6EAF0"/>
                </a:solidFill>
                <a:latin typeface="JetBrains Mono" pitchFamily="34" charset="0"/>
                <a:ea typeface="JetBrains Mono" pitchFamily="34" charset="-122"/>
                <a:cs typeface="JetBrains Mono" pitchFamily="34" charset="-120"/>
              </a:rPr>
              <a:t> </a:t>
            </a:r>
            <a:r>
              <a:rPr lang="en-US" sz="1400" dirty="0">
                <a:solidFill>
                  <a:srgbClr val="E9B949"/>
                </a:solidFill>
                <a:latin typeface="JetBrains Mono" pitchFamily="34" charset="0"/>
                <a:ea typeface="JetBrains Mono" pitchFamily="34" charset="-122"/>
                <a:cs typeface="JetBrains Mono" pitchFamily="34" charset="-120"/>
              </a:rPr>
              <a:t>labels_real</a:t>
            </a:r>
            <a:r>
              <a:rPr lang="en-US" sz="1400" dirty="0">
                <a:solidFill>
                  <a:srgbClr val="8DB8EA"/>
                </a:solidFill>
                <a:latin typeface="JetBrains Mono" pitchFamily="34" charset="0"/>
                <a:ea typeface="JetBrains Mono" pitchFamily="34" charset="-122"/>
                <a:cs typeface="JetBrains Mono" pitchFamily="34" charset="-120"/>
              </a:rPr>
              <a:t>)</a:t>
            </a:r>
            <a:endParaRPr lang="en-US" sz="1400" dirty="0"/>
          </a:p>
          <a:p>
            <a:pPr algn="l" indent="0" marL="0">
              <a:lnSpc>
                <a:spcPts val="2240"/>
              </a:lnSpc>
              <a:buNone/>
            </a:pPr>
            <a:r>
              <a:rPr lang="en-US" sz="1400" dirty="0">
                <a:solidFill>
                  <a:srgbClr val="E6EAF0"/>
                </a:solidFill>
                <a:latin typeface="JetBrains Mono" pitchFamily="34" charset="0"/>
                <a:ea typeface="JetBrains Mono" pitchFamily="34" charset="-122"/>
                <a:cs typeface="JetBrains Mono" pitchFamily="34" charset="-120"/>
              </a:rPr>
              <a:t>loss_g.backward()</a:t>
            </a:r>
            <a:endParaRPr lang="en-US" sz="1400" dirty="0"/>
          </a:p>
          <a:p>
            <a:pPr algn="l" indent="0" marL="0">
              <a:lnSpc>
                <a:spcPts val="2240"/>
              </a:lnSpc>
              <a:buNone/>
            </a:pPr>
            <a:r>
              <a:rPr lang="en-US" sz="1400" dirty="0">
                <a:solidFill>
                  <a:srgbClr val="E9B949"/>
                </a:solidFill>
                <a:latin typeface="JetBrains Mono" pitchFamily="34" charset="0"/>
                <a:ea typeface="JetBrains Mono" pitchFamily="34" charset="-122"/>
                <a:cs typeface="JetBrains Mono" pitchFamily="34" charset="-120"/>
              </a:rPr>
              <a:t>optimizer_g.step()</a:t>
            </a:r>
            <a:endParaRPr lang="en-US" sz="1400" dirty="0"/>
          </a:p>
        </p:txBody>
      </p:sp>
      <p:sp>
        <p:nvSpPr>
          <p:cNvPr id="6" name="Shape 4"/>
          <p:cNvSpPr/>
          <p:nvPr/>
        </p:nvSpPr>
        <p:spPr>
          <a:xfrm>
            <a:off x="7372350" y="1847850"/>
            <a:ext cx="4000500" cy="1130300"/>
          </a:xfrm>
          <a:prstGeom prst="roundRect">
            <a:avLst>
              <a:gd name="adj" fmla="val 7303"/>
            </a:avLst>
          </a:prstGeom>
          <a:solidFill>
            <a:srgbClr val="FFFDF8"/>
          </a:solidFill>
          <a:ln w="12700">
            <a:solidFill>
              <a:srgbClr val="E4DED0"/>
            </a:solidFill>
            <a:prstDash val="solid"/>
          </a:ln>
        </p:spPr>
      </p:sp>
      <p:sp>
        <p:nvSpPr>
          <p:cNvPr id="7" name="Text 5"/>
          <p:cNvSpPr/>
          <p:nvPr/>
        </p:nvSpPr>
        <p:spPr>
          <a:xfrm>
            <a:off x="7588250" y="1955800"/>
            <a:ext cx="379349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213D"/>
                </a:solidFill>
                <a:latin typeface="IBM Plex Sans" pitchFamily="34" charset="0"/>
                <a:ea typeface="IBM Plex Sans" pitchFamily="34" charset="-122"/>
                <a:cs typeface="IBM Plex Sans" pitchFamily="34" charset="-120"/>
              </a:rPr>
              <a:t>Same fakes, </a:t>
            </a:r>
            <a:r>
              <a:rPr lang="en-US" sz="1400" b="1" dirty="0">
                <a:solidFill>
                  <a:srgbClr val="14213D"/>
                </a:solidFill>
                <a:latin typeface="IBM Plex Sans" pitchFamily="34" charset="0"/>
                <a:ea typeface="IBM Plex Sans" pitchFamily="34" charset="-122"/>
                <a:cs typeface="IBM Plex Sans" pitchFamily="34" charset="-120"/>
              </a:rPr>
              <a:t>no detach</a:t>
            </a:r>
            <a:r>
              <a:rPr lang="en-US" sz="1400" dirty="0">
                <a:solidFill>
                  <a:srgbClr val="14213D"/>
                </a:solidFill>
                <a:latin typeface="IBM Plex Sans" pitchFamily="34" charset="0"/>
                <a:ea typeface="IBM Plex Sans" pitchFamily="34" charset="-122"/>
                <a:cs typeface="IBM Plex Sans" pitchFamily="34" charset="-120"/>
              </a:rPr>
              <a:t>: gradients flow through D back into G.</a:t>
            </a:r>
            <a:endParaRPr lang="en-US" sz="1400" dirty="0"/>
          </a:p>
        </p:txBody>
      </p:sp>
      <p:sp>
        <p:nvSpPr>
          <p:cNvPr id="8" name="Shape 6"/>
          <p:cNvSpPr/>
          <p:nvPr/>
        </p:nvSpPr>
        <p:spPr>
          <a:xfrm>
            <a:off x="7366000" y="3111500"/>
            <a:ext cx="4013200" cy="1143000"/>
          </a:xfrm>
          <a:prstGeom prst="roundRect">
            <a:avLst>
              <a:gd name="adj" fmla="val 7778"/>
            </a:avLst>
          </a:prstGeom>
          <a:solidFill>
            <a:srgbClr val="FBF0CF"/>
          </a:solidFill>
          <a:ln/>
        </p:spPr>
      </p:sp>
      <p:sp>
        <p:nvSpPr>
          <p:cNvPr id="9" name="Text 7"/>
          <p:cNvSpPr/>
          <p:nvPr/>
        </p:nvSpPr>
        <p:spPr>
          <a:xfrm>
            <a:off x="7588250" y="3225800"/>
            <a:ext cx="3793490" cy="50542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4213D"/>
                </a:solidFill>
                <a:latin typeface="IBM Plex Sans" pitchFamily="34" charset="0"/>
                <a:ea typeface="IBM Plex Sans" pitchFamily="34" charset="-122"/>
                <a:cs typeface="IBM Plex Sans" pitchFamily="34" charset="-120"/>
              </a:rPr>
              <a:t>Target = labels_real (1)</a:t>
            </a:r>
            <a:r>
              <a:rPr lang="en-US" sz="1400" dirty="0">
                <a:solidFill>
                  <a:srgbClr val="14213D"/>
                </a:solidFill>
                <a:latin typeface="IBM Plex Sans" pitchFamily="34" charset="0"/>
                <a:ea typeface="IBM Plex Sans" pitchFamily="34" charset="-122"/>
                <a:cs typeface="IBM Plex Sans" pitchFamily="34" charset="-120"/>
              </a:rPr>
              <a:t> for fakes: "loss is low when D is fooled".</a:t>
            </a:r>
            <a:endParaRPr lang="en-US" sz="1400" dirty="0"/>
          </a:p>
        </p:txBody>
      </p:sp>
      <p:sp>
        <p:nvSpPr>
          <p:cNvPr id="10" name="Shape 8"/>
          <p:cNvSpPr/>
          <p:nvPr/>
        </p:nvSpPr>
        <p:spPr>
          <a:xfrm>
            <a:off x="812800" y="4508500"/>
            <a:ext cx="10566400" cy="1206500"/>
          </a:xfrm>
          <a:prstGeom prst="roundRect">
            <a:avLst>
              <a:gd name="adj" fmla="val 8421"/>
            </a:avLst>
          </a:prstGeom>
          <a:solidFill>
            <a:srgbClr val="DCE8F5"/>
          </a:solidFill>
          <a:ln/>
        </p:spPr>
      </p:sp>
      <p:sp>
        <p:nvSpPr>
          <p:cNvPr id="11" name="Text 9"/>
          <p:cNvSpPr/>
          <p:nvPr/>
        </p:nvSpPr>
        <p:spPr>
          <a:xfrm>
            <a:off x="1079500" y="4635500"/>
            <a:ext cx="10399395"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Not cheating:</a:t>
            </a:r>
            <a:r>
              <a:rPr lang="en-US" sz="1500" dirty="0">
                <a:solidFill>
                  <a:srgbClr val="14213D"/>
                </a:solidFill>
                <a:latin typeface="IBM Plex Sans" pitchFamily="34" charset="0"/>
                <a:ea typeface="IBM Plex Sans" pitchFamily="34" charset="-122"/>
                <a:cs typeface="IBM Plex Sans" pitchFamily="34" charset="-120"/>
              </a:rPr>
              <a:t> the label 1 here does not claim the image is real. It states </a:t>
            </a:r>
            <a:r>
              <a:rPr lang="en-US" sz="1500" b="1" dirty="0">
                <a:solidFill>
                  <a:srgbClr val="14213D"/>
                </a:solidFill>
                <a:latin typeface="IBM Plex Sans" pitchFamily="34" charset="0"/>
                <a:ea typeface="IBM Plex Sans" pitchFamily="34" charset="-122"/>
                <a:cs typeface="IBM Plex Sans" pitchFamily="34" charset="-120"/>
              </a:rPr>
              <a:t>what G wants</a:t>
            </a:r>
            <a:r>
              <a:rPr lang="en-US" sz="1500" dirty="0">
                <a:solidFill>
                  <a:srgbClr val="14213D"/>
                </a:solidFill>
                <a:latin typeface="IBM Plex Sans" pitchFamily="34" charset="0"/>
                <a:ea typeface="IBM Plex Sans" pitchFamily="34" charset="-122"/>
                <a:cs typeface="IBM Plex Sans" pitchFamily="34" charset="-120"/>
              </a:rPr>
              <a:t> D to say. Only </a:t>
            </a:r>
            <a:r>
              <a:rPr lang="en-US" sz="1500" b="1" dirty="0">
                <a:solidFill>
                  <a:srgbClr val="14213D"/>
                </a:solidFill>
                <a:latin typeface="IBM Plex Sans" pitchFamily="34" charset="0"/>
                <a:ea typeface="IBM Plex Sans" pitchFamily="34" charset="-122"/>
                <a:cs typeface="IBM Plex Sans" pitchFamily="34" charset="-120"/>
              </a:rPr>
              <a:t>optimizer_g</a:t>
            </a:r>
            <a:r>
              <a:rPr lang="en-US" sz="1500" dirty="0">
                <a:solidFill>
                  <a:srgbClr val="14213D"/>
                </a:solidFill>
                <a:latin typeface="IBM Plex Sans" pitchFamily="34" charset="0"/>
                <a:ea typeface="IBM Plex Sans" pitchFamily="34" charset="-122"/>
                <a:cs typeface="IBM Plex Sans" pitchFamily="34" charset="-120"/>
              </a:rPr>
              <a:t> steps, so D is used as a fixed judge in this step.</a:t>
            </a:r>
            <a:endParaRPr lang="en-US" sz="1500" dirty="0"/>
          </a:p>
        </p:txBody>
      </p:sp>
      <p:sp>
        <p:nvSpPr>
          <p:cNvPr id="12" name="Text 10"/>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1 · 06 Training · min 58–60 · notebook training loop, lines 13–18</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06 · THE LOSS: NN.BCELOSS</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Binary cross-entropy: small when confident and right</a:t>
            </a:r>
            <a:endParaRPr lang="en-US" sz="3200" dirty="0"/>
          </a:p>
        </p:txBody>
      </p:sp>
      <p:sp>
        <p:nvSpPr>
          <p:cNvPr id="4" name="Shape 2"/>
          <p:cNvSpPr/>
          <p:nvPr/>
        </p:nvSpPr>
        <p:spPr>
          <a:xfrm>
            <a:off x="812800" y="1841500"/>
            <a:ext cx="10566400" cy="762000"/>
          </a:xfrm>
          <a:prstGeom prst="roundRect">
            <a:avLst>
              <a:gd name="adj" fmla="val 13333"/>
            </a:avLst>
          </a:prstGeom>
          <a:solidFill>
            <a:srgbClr val="14213D"/>
          </a:solidFill>
          <a:ln/>
        </p:spPr>
      </p:sp>
      <p:sp>
        <p:nvSpPr>
          <p:cNvPr id="5" name="Text 3"/>
          <p:cNvSpPr/>
          <p:nvPr/>
        </p:nvSpPr>
        <p:spPr>
          <a:xfrm>
            <a:off x="654304" y="2019300"/>
            <a:ext cx="10883392" cy="381000"/>
          </a:xfrm>
          <a:prstGeom prst="rect">
            <a:avLst/>
          </a:prstGeom>
          <a:noFill/>
          <a:ln/>
        </p:spPr>
        <p:txBody>
          <a:bodyPr wrap="square" lIns="0" tIns="0" rIns="0" bIns="0" rtlCol="0" anchor="t">
            <a:normAutofit/>
          </a:bodyPr>
          <a:lstStyle/>
          <a:p>
            <a:pPr algn="ctr" indent="0" marL="0">
              <a:lnSpc>
                <a:spcPts val="2800"/>
              </a:lnSpc>
              <a:buNone/>
            </a:pPr>
            <a:r>
              <a:rPr lang="en-US" sz="2000" dirty="0">
                <a:solidFill>
                  <a:srgbClr val="F6F3EC"/>
                </a:solidFill>
                <a:latin typeface="JetBrains Mono" pitchFamily="34" charset="0"/>
                <a:ea typeface="JetBrains Mono" pitchFamily="34" charset="-122"/>
                <a:cs typeface="JetBrains Mono" pitchFamily="34" charset="-120"/>
              </a:rPr>
              <a:t>BCE(p, y) = −[ y·log p + (1 − y)·log(1 − p) ]</a:t>
            </a:r>
            <a:endParaRPr lang="en-US" sz="2000" dirty="0"/>
          </a:p>
        </p:txBody>
      </p:sp>
      <p:sp>
        <p:nvSpPr>
          <p:cNvPr id="6" name="Text 4"/>
          <p:cNvSpPr/>
          <p:nvPr/>
        </p:nvSpPr>
        <p:spPr>
          <a:xfrm>
            <a:off x="654304" y="2730500"/>
            <a:ext cx="10883392" cy="274290"/>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6B7280"/>
                </a:solidFill>
                <a:latin typeface="IBM Plex Sans" pitchFamily="34" charset="0"/>
                <a:ea typeface="IBM Plex Sans" pitchFamily="34" charset="-122"/>
                <a:cs typeface="IBM Plex Sans" pitchFamily="34" charset="-120"/>
              </a:rPr>
              <a:t>y = 1 → loss is −log p · y = 0 → loss is −log(1 − p) · natural log</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3124200"/>
          <a:ext cx="6337300" cy="1930053"/>
        </p:xfrm>
        <a:graphic>
          <a:graphicData uri="http://schemas.openxmlformats.org/drawingml/2006/table">
            <a:tbl>
              <a:tblPr/>
              <a:tblGrid>
                <a:gridCol w="2788412"/>
                <a:gridCol w="887222"/>
                <a:gridCol w="887222"/>
                <a:gridCol w="1774444"/>
              </a:tblGrid>
              <a:tr h="386011">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Case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loss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D, real flower, confident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0.105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D, real flower, wrong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2.303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D, fake flower, confident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0.223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G, same fake (wants y = 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1.609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8" name="Shape 5"/>
          <p:cNvSpPr/>
          <p:nvPr/>
        </p:nvSpPr>
        <p:spPr>
          <a:xfrm>
            <a:off x="7429500" y="3111500"/>
            <a:ext cx="3949700" cy="1270000"/>
          </a:xfrm>
          <a:prstGeom prst="roundRect">
            <a:avLst>
              <a:gd name="adj" fmla="val 8000"/>
            </a:avLst>
          </a:prstGeom>
          <a:solidFill>
            <a:srgbClr val="F6E1D3"/>
          </a:solidFill>
          <a:ln/>
        </p:spPr>
      </p:sp>
      <p:sp>
        <p:nvSpPr>
          <p:cNvPr id="9" name="Text 6"/>
          <p:cNvSpPr/>
          <p:nvPr/>
        </p:nvSpPr>
        <p:spPr>
          <a:xfrm>
            <a:off x="7651750" y="3225800"/>
            <a:ext cx="3728085"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D's loss</a:t>
            </a:r>
            <a:r>
              <a:rPr lang="en-US" sz="1400" dirty="0">
                <a:solidFill>
                  <a:srgbClr val="14213D"/>
                </a:solidFill>
                <a:latin typeface="IBM Plex Sans" pitchFamily="34" charset="0"/>
                <a:ea typeface="IBM Plex Sans" pitchFamily="34" charset="-122"/>
                <a:cs typeface="IBM Plex Sans" pitchFamily="34" charset="-120"/>
              </a:rPr>
              <a:t> for one real (0.9) + one fake (0.2):</a:t>
            </a:r>
            <a:endParaRPr lang="en-US" sz="1400" dirty="0"/>
          </a:p>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0.105 + 0.223 = </a:t>
            </a:r>
            <a:r>
              <a:rPr lang="en-US" sz="1400" b="1" dirty="0">
                <a:solidFill>
                  <a:srgbClr val="14213D"/>
                </a:solidFill>
                <a:latin typeface="IBM Plex Sans" pitchFamily="34" charset="0"/>
                <a:ea typeface="IBM Plex Sans" pitchFamily="34" charset="-122"/>
                <a:cs typeface="IBM Plex Sans" pitchFamily="34" charset="-120"/>
              </a:rPr>
              <a:t>0.328</a:t>
            </a:r>
            <a:r>
              <a:rPr lang="en-US" sz="1400" dirty="0">
                <a:solidFill>
                  <a:srgbClr val="14213D"/>
                </a:solidFill>
                <a:latin typeface="IBM Plex Sans" pitchFamily="34" charset="0"/>
                <a:ea typeface="IBM Plex Sans" pitchFamily="34" charset="-122"/>
                <a:cs typeface="IBM Plex Sans" pitchFamily="34" charset="-120"/>
              </a:rPr>
              <a:t> (low: D is doing well)</a:t>
            </a:r>
            <a:endParaRPr lang="en-US" sz="1400" dirty="0"/>
          </a:p>
        </p:txBody>
      </p:sp>
      <p:sp>
        <p:nvSpPr>
          <p:cNvPr id="10" name="Shape 7"/>
          <p:cNvSpPr/>
          <p:nvPr/>
        </p:nvSpPr>
        <p:spPr>
          <a:xfrm>
            <a:off x="7429500" y="4508500"/>
            <a:ext cx="3949700" cy="1270000"/>
          </a:xfrm>
          <a:prstGeom prst="roundRect">
            <a:avLst>
              <a:gd name="adj" fmla="val 8000"/>
            </a:avLst>
          </a:prstGeom>
          <a:solidFill>
            <a:srgbClr val="DCE8F5"/>
          </a:solidFill>
          <a:ln/>
        </p:spPr>
      </p:sp>
      <p:sp>
        <p:nvSpPr>
          <p:cNvPr id="11" name="Text 8"/>
          <p:cNvSpPr/>
          <p:nvPr/>
        </p:nvSpPr>
        <p:spPr>
          <a:xfrm>
            <a:off x="7651750" y="4622800"/>
            <a:ext cx="3728085"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G's loss</a:t>
            </a:r>
            <a:r>
              <a:rPr lang="en-US" sz="1400" dirty="0">
                <a:solidFill>
                  <a:srgbClr val="14213D"/>
                </a:solidFill>
                <a:latin typeface="IBM Plex Sans" pitchFamily="34" charset="0"/>
                <a:ea typeface="IBM Plex Sans" pitchFamily="34" charset="-122"/>
                <a:cs typeface="IBM Plex Sans" pitchFamily="34" charset="-120"/>
              </a:rPr>
              <a:t> on that same fake:</a:t>
            </a:r>
            <a:endParaRPr lang="en-US" sz="1400" dirty="0"/>
          </a:p>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−log 0.2 = </a:t>
            </a:r>
            <a:r>
              <a:rPr lang="en-US" sz="1400" b="1" dirty="0">
                <a:solidFill>
                  <a:srgbClr val="14213D"/>
                </a:solidFill>
                <a:latin typeface="IBM Plex Sans" pitchFamily="34" charset="0"/>
                <a:ea typeface="IBM Plex Sans" pitchFamily="34" charset="-122"/>
                <a:cs typeface="IBM Plex Sans" pitchFamily="34" charset="-120"/>
              </a:rPr>
              <a:t>1.609</a:t>
            </a:r>
            <a:r>
              <a:rPr lang="en-US" sz="1400" dirty="0">
                <a:solidFill>
                  <a:srgbClr val="14213D"/>
                </a:solidFill>
                <a:latin typeface="IBM Plex Sans" pitchFamily="34" charset="0"/>
                <a:ea typeface="IBM Plex Sans" pitchFamily="34" charset="-122"/>
                <a:cs typeface="IBM Plex Sans" pitchFamily="34" charset="-120"/>
              </a:rPr>
              <a:t> (high: G must improve)</a:t>
            </a:r>
            <a:endParaRPr lang="en-US" sz="1400" dirty="0"/>
          </a:p>
        </p:txBody>
      </p:sp>
      <p:sp>
        <p:nvSpPr>
          <p:cNvPr id="12" name="Text 9"/>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1 · 06 Training · min 60–63 · criterion = nn.BCELoss() in the notebook</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06 · WORKED EXAMPLE · ONE ROUND WITH NUMBERS</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One round of the game, step by step</a:t>
            </a:r>
            <a:endParaRPr lang="en-US" sz="3200" dirty="0"/>
          </a:p>
        </p:txBody>
      </p:sp>
      <p:sp>
        <p:nvSpPr>
          <p:cNvPr id="4" name="Text 2"/>
          <p:cNvSpPr/>
          <p:nvPr/>
        </p:nvSpPr>
        <p:spPr>
          <a:xfrm>
            <a:off x="812800" y="17145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657"/>
                </a:solidFill>
                <a:latin typeface="IBM Plex Sans" pitchFamily="34" charset="0"/>
                <a:ea typeface="IBM Plex Sans" pitchFamily="34" charset="-122"/>
                <a:cs typeface="IBM Plex Sans" pitchFamily="34" charset="-120"/>
              </a:rPr>
              <a:t>One real flower x and one fake flower G(z). Scores are illustrative; losses use natural log.</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171700"/>
          <a:ext cx="10553700" cy="1544042"/>
        </p:xfrm>
        <a:graphic>
          <a:graphicData uri="http://schemas.openxmlformats.org/drawingml/2006/table">
            <a:tbl>
              <a:tblPr/>
              <a:tblGrid>
                <a:gridCol w="2321814"/>
                <a:gridCol w="1583055"/>
                <a:gridCol w="1583055"/>
                <a:gridCol w="2532888"/>
                <a:gridCol w="2532888"/>
              </a:tblGrid>
              <a:tr h="386011">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Moment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D(x)</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D(G(z))</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D's loss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G's loss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Start of round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0.60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0.40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0.511 + 0.511 = 1.022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−ln 0.40 = 0.916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After D step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B4A9"/>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B4A9"/>
                      </a:solidFill>
                      <a:prstDash val="solid"/>
                      <a:round/>
                      <a:headEnd type="none" w="med" len="med"/>
                      <a:tailEnd type="none" w="med" len="med"/>
                    </a:lnB>
                    <a:solidFill>
                      <a:srgbClr val="F6E1D3"/>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0.70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B4A9"/>
                      </a:solidFill>
                      <a:prstDash val="solid"/>
                      <a:round/>
                      <a:headEnd type="none" w="med" len="med"/>
                      <a:tailEnd type="none" w="med" len="med"/>
                    </a:lnL>
                    <a:lnR w="12700" cap="flat" cmpd="sng" algn="ctr">
                      <a:solidFill>
                        <a:srgbClr val="C4B4A9"/>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B4A9"/>
                      </a:solidFill>
                      <a:prstDash val="solid"/>
                      <a:round/>
                      <a:headEnd type="none" w="med" len="med"/>
                      <a:tailEnd type="none" w="med" len="med"/>
                    </a:lnB>
                    <a:solidFill>
                      <a:srgbClr val="F6E1D3"/>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0.30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B4A9"/>
                      </a:solidFill>
                      <a:prstDash val="solid"/>
                      <a:round/>
                      <a:headEnd type="none" w="med" len="med"/>
                      <a:tailEnd type="none" w="med" len="med"/>
                    </a:lnL>
                    <a:lnR w="12700" cap="flat" cmpd="sng" algn="ctr">
                      <a:solidFill>
                        <a:srgbClr val="C4B4A9"/>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B4A9"/>
                      </a:solidFill>
                      <a:prstDash val="solid"/>
                      <a:round/>
                      <a:headEnd type="none" w="med" len="med"/>
                      <a:tailEnd type="none" w="med" len="med"/>
                    </a:lnB>
                    <a:solidFill>
                      <a:srgbClr val="F6E1D3"/>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0.357 + 0.357 = 0.713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B4A9"/>
                      </a:solidFill>
                      <a:prstDash val="solid"/>
                      <a:round/>
                      <a:headEnd type="none" w="med" len="med"/>
                      <a:tailEnd type="none" w="med" len="med"/>
                    </a:lnL>
                    <a:lnR w="12700" cap="flat" cmpd="sng" algn="ctr">
                      <a:solidFill>
                        <a:srgbClr val="C4B4A9"/>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B4A9"/>
                      </a:solidFill>
                      <a:prstDash val="solid"/>
                      <a:round/>
                      <a:headEnd type="none" w="med" len="med"/>
                      <a:tailEnd type="none" w="med" len="med"/>
                    </a:lnB>
                    <a:solidFill>
                      <a:srgbClr val="F6E1D3"/>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−ln 0.30 = 1.204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B4A9"/>
                      </a:solidFill>
                      <a:prstDash val="solid"/>
                      <a:round/>
                      <a:headEnd type="none" w="med" len="med"/>
                      <a:tailEnd type="none" w="med" len="med"/>
                    </a:lnL>
                    <a:lnR w="12700" cap="flat" cmpd="sng" algn="ctr">
                      <a:solidFill>
                        <a:srgbClr val="C4B4A9"/>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B4A9"/>
                      </a:solidFill>
                      <a:prstDash val="solid"/>
                      <a:round/>
                      <a:headEnd type="none" w="med" len="med"/>
                      <a:tailEnd type="none" w="med" len="med"/>
                    </a:lnB>
                    <a:solidFill>
                      <a:srgbClr val="F6E1D3"/>
                    </a:solidFill>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After G step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C4B4A9"/>
                      </a:solidFill>
                      <a:prstDash val="solid"/>
                      <a:round/>
                      <a:headEnd type="none" w="med" len="med"/>
                      <a:tailEnd type="none" w="med" len="med"/>
                    </a:lnT>
                    <a:lnB w="12700" cap="flat" cmpd="sng" algn="ctr">
                      <a:solidFill>
                        <a:srgbClr val="B0B9C3"/>
                      </a:solidFill>
                      <a:prstDash val="solid"/>
                      <a:round/>
                      <a:headEnd type="none" w="med" len="med"/>
                      <a:tailEnd type="none" w="med" len="med"/>
                    </a:lnB>
                    <a:solidFill>
                      <a:srgbClr val="DCE8F5"/>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0.70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0B9C3"/>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C4B4A9"/>
                      </a:solidFill>
                      <a:prstDash val="solid"/>
                      <a:round/>
                      <a:headEnd type="none" w="med" len="med"/>
                      <a:tailEnd type="none" w="med" len="med"/>
                    </a:lnT>
                    <a:lnB w="12700" cap="flat" cmpd="sng" algn="ctr">
                      <a:solidFill>
                        <a:srgbClr val="B0B9C3"/>
                      </a:solidFill>
                      <a:prstDash val="solid"/>
                      <a:round/>
                      <a:headEnd type="none" w="med" len="med"/>
                      <a:tailEnd type="none" w="med" len="med"/>
                    </a:lnB>
                    <a:solidFill>
                      <a:srgbClr val="DCE8F5"/>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0.45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0B9C3"/>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C4B4A9"/>
                      </a:solidFill>
                      <a:prstDash val="solid"/>
                      <a:round/>
                      <a:headEnd type="none" w="med" len="med"/>
                      <a:tailEnd type="none" w="med" len="med"/>
                    </a:lnT>
                    <a:lnB w="12700" cap="flat" cmpd="sng" algn="ctr">
                      <a:solidFill>
                        <a:srgbClr val="B0B9C3"/>
                      </a:solidFill>
                      <a:prstDash val="solid"/>
                      <a:round/>
                      <a:headEnd type="none" w="med" len="med"/>
                      <a:tailEnd type="none" w="med" len="med"/>
                    </a:lnB>
                    <a:solidFill>
                      <a:srgbClr val="DCE8F5"/>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0.357 + 0.598 = 0.955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0B9C3"/>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C4B4A9"/>
                      </a:solidFill>
                      <a:prstDash val="solid"/>
                      <a:round/>
                      <a:headEnd type="none" w="med" len="med"/>
                      <a:tailEnd type="none" w="med" len="med"/>
                    </a:lnT>
                    <a:lnB w="12700" cap="flat" cmpd="sng" algn="ctr">
                      <a:solidFill>
                        <a:srgbClr val="B0B9C3"/>
                      </a:solidFill>
                      <a:prstDash val="solid"/>
                      <a:round/>
                      <a:headEnd type="none" w="med" len="med"/>
                      <a:tailEnd type="none" w="med" len="med"/>
                    </a:lnB>
                    <a:solidFill>
                      <a:srgbClr val="DCE8F5"/>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−ln 0.45 = 0.799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0B9C3"/>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C4B4A9"/>
                      </a:solidFill>
                      <a:prstDash val="solid"/>
                      <a:round/>
                      <a:headEnd type="none" w="med" len="med"/>
                      <a:tailEnd type="none" w="med" len="med"/>
                    </a:lnT>
                    <a:lnB w="12700" cap="flat" cmpd="sng" algn="ctr">
                      <a:solidFill>
                        <a:srgbClr val="B0B9C3"/>
                      </a:solidFill>
                      <a:prstDash val="solid"/>
                      <a:round/>
                      <a:headEnd type="none" w="med" len="med"/>
                      <a:tailEnd type="none" w="med" len="med"/>
                    </a:lnB>
                    <a:solidFill>
                      <a:srgbClr val="DCE8F5"/>
                    </a:solidFill>
                  </a:tcPr>
                </a:tc>
              </a:tr>
            </a:tbl>
          </a:graphicData>
        </a:graphic>
      </p:graphicFrame>
      <p:sp>
        <p:nvSpPr>
          <p:cNvPr id="6" name="Shape 3"/>
          <p:cNvSpPr/>
          <p:nvPr/>
        </p:nvSpPr>
        <p:spPr>
          <a:xfrm>
            <a:off x="812800" y="4064000"/>
            <a:ext cx="5143500" cy="1651000"/>
          </a:xfrm>
          <a:prstGeom prst="roundRect">
            <a:avLst>
              <a:gd name="adj" fmla="val 6154"/>
            </a:avLst>
          </a:prstGeom>
          <a:solidFill>
            <a:srgbClr val="F6E1D3"/>
          </a:solidFill>
          <a:ln/>
        </p:spPr>
      </p:sp>
      <p:sp>
        <p:nvSpPr>
          <p:cNvPr id="7" name="Text 4"/>
          <p:cNvSpPr/>
          <p:nvPr/>
        </p:nvSpPr>
        <p:spPr>
          <a:xfrm>
            <a:off x="1047750" y="4191000"/>
            <a:ext cx="4839970"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D step:</a:t>
            </a:r>
            <a:r>
              <a:rPr lang="en-US" sz="1400" dirty="0">
                <a:solidFill>
                  <a:srgbClr val="14213D"/>
                </a:solidFill>
                <a:latin typeface="IBM Plex Sans" pitchFamily="34" charset="0"/>
                <a:ea typeface="IBM Plex Sans" pitchFamily="34" charset="-122"/>
                <a:cs typeface="IBM Plex Sans" pitchFamily="34" charset="-120"/>
              </a:rPr>
              <a:t> D raises D(x) and lowers D(G(z)). Its loss falls 1.022 → 0.713. Side effect: G's loss rises 0.916 → 1.204.</a:t>
            </a:r>
            <a:endParaRPr lang="en-US" sz="1400" dirty="0"/>
          </a:p>
        </p:txBody>
      </p:sp>
      <p:sp>
        <p:nvSpPr>
          <p:cNvPr id="8" name="Shape 5"/>
          <p:cNvSpPr/>
          <p:nvPr/>
        </p:nvSpPr>
        <p:spPr>
          <a:xfrm>
            <a:off x="6235700" y="4064000"/>
            <a:ext cx="5143500" cy="1651000"/>
          </a:xfrm>
          <a:prstGeom prst="roundRect">
            <a:avLst>
              <a:gd name="adj" fmla="val 6154"/>
            </a:avLst>
          </a:prstGeom>
          <a:solidFill>
            <a:srgbClr val="DCE8F5"/>
          </a:solidFill>
          <a:ln/>
        </p:spPr>
      </p:sp>
      <p:sp>
        <p:nvSpPr>
          <p:cNvPr id="9" name="Text 6"/>
          <p:cNvSpPr/>
          <p:nvPr/>
        </p:nvSpPr>
        <p:spPr>
          <a:xfrm>
            <a:off x="6470650" y="4191000"/>
            <a:ext cx="4839970" cy="77207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G step:</a:t>
            </a:r>
            <a:r>
              <a:rPr lang="en-US" sz="1400" dirty="0">
                <a:solidFill>
                  <a:srgbClr val="14213D"/>
                </a:solidFill>
                <a:latin typeface="IBM Plex Sans" pitchFamily="34" charset="0"/>
                <a:ea typeface="IBM Plex Sans" pitchFamily="34" charset="-122"/>
                <a:cs typeface="IBM Plex Sans" pitchFamily="34" charset="-120"/>
              </a:rPr>
              <a:t> G changes its painting so D(G(z)) rises to 0.45. G's loss falls 1.204 → 0.799. D's loss rises again. </a:t>
            </a:r>
            <a:r>
              <a:rPr lang="en-US" sz="1400" b="1" dirty="0">
                <a:solidFill>
                  <a:srgbClr val="14213D"/>
                </a:solidFill>
                <a:latin typeface="IBM Plex Sans" pitchFamily="34" charset="0"/>
                <a:ea typeface="IBM Plex Sans" pitchFamily="34" charset="-122"/>
                <a:cs typeface="IBM Plex Sans" pitchFamily="34" charset="-120"/>
              </a:rPr>
              <a:t>Neither wins for good.</a:t>
            </a:r>
            <a:endParaRPr lang="en-US" sz="1400" dirty="0"/>
          </a:p>
        </p:txBody>
      </p:sp>
      <p:sp>
        <p:nvSpPr>
          <p:cNvPr id="10" name="Text 7"/>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1 · 06 Training · min 63–66 · numbers are illustrative, not from a real run</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06 · THE MINIMAX OBJECTIVE · GOODFELLOW ET AL. 2014</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One value V(D, G). D pushes it up, G pushes it down.</a:t>
            </a:r>
            <a:endParaRPr lang="en-US" sz="3200" dirty="0"/>
          </a:p>
        </p:txBody>
      </p:sp>
      <p:sp>
        <p:nvSpPr>
          <p:cNvPr id="4" name="Shape 2"/>
          <p:cNvSpPr/>
          <p:nvPr/>
        </p:nvSpPr>
        <p:spPr>
          <a:xfrm>
            <a:off x="812800" y="1841500"/>
            <a:ext cx="10566400" cy="1079500"/>
          </a:xfrm>
          <a:prstGeom prst="roundRect">
            <a:avLst>
              <a:gd name="adj" fmla="val 10588"/>
            </a:avLst>
          </a:prstGeom>
          <a:solidFill>
            <a:srgbClr val="14213D"/>
          </a:solidFill>
          <a:ln/>
        </p:spPr>
      </p:sp>
      <p:sp>
        <p:nvSpPr>
          <p:cNvPr id="5" name="Text 3"/>
          <p:cNvSpPr/>
          <p:nvPr/>
        </p:nvSpPr>
        <p:spPr>
          <a:xfrm>
            <a:off x="887730" y="2127250"/>
            <a:ext cx="2223770" cy="398760"/>
          </a:xfrm>
          <a:prstGeom prst="rect">
            <a:avLst/>
          </a:prstGeom>
          <a:noFill/>
          <a:ln/>
        </p:spPr>
        <p:txBody>
          <a:bodyPr wrap="square" lIns="0" tIns="0" rIns="0" bIns="0" rtlCol="0" anchor="t">
            <a:normAutofit/>
          </a:bodyPr>
          <a:lstStyle/>
          <a:p>
            <a:pPr algn="r" indent="0" marL="0">
              <a:lnSpc>
                <a:spcPts val="2940"/>
              </a:lnSpc>
              <a:buNone/>
            </a:pPr>
            <a:r>
              <a:rPr lang="en-US" sz="2100" dirty="0">
                <a:solidFill>
                  <a:srgbClr val="8DB8EA"/>
                </a:solidFill>
                <a:latin typeface="JetBrains Mono" pitchFamily="34" charset="0"/>
                <a:ea typeface="JetBrains Mono" pitchFamily="34" charset="-122"/>
                <a:cs typeface="JetBrains Mono" pitchFamily="34" charset="-120"/>
              </a:rPr>
              <a:t>min_G</a:t>
            </a:r>
            <a:r>
              <a:rPr lang="en-US" sz="2100" dirty="0">
                <a:solidFill>
                  <a:srgbClr val="F6F3EC"/>
                </a:solidFill>
                <a:latin typeface="JetBrains Mono" pitchFamily="34" charset="0"/>
                <a:ea typeface="JetBrains Mono" pitchFamily="34" charset="-122"/>
                <a:cs typeface="JetBrains Mono" pitchFamily="34" charset="-120"/>
              </a:rPr>
              <a:t> </a:t>
            </a:r>
            <a:r>
              <a:rPr lang="en-US" sz="2100" dirty="0">
                <a:solidFill>
                  <a:srgbClr val="F2B48C"/>
                </a:solidFill>
                <a:latin typeface="JetBrains Mono" pitchFamily="34" charset="0"/>
                <a:ea typeface="JetBrains Mono" pitchFamily="34" charset="-122"/>
                <a:cs typeface="JetBrains Mono" pitchFamily="34" charset="-120"/>
              </a:rPr>
              <a:t>max_D</a:t>
            </a:r>
            <a:endParaRPr lang="en-US" sz="2100" dirty="0"/>
          </a:p>
        </p:txBody>
      </p:sp>
      <p:sp>
        <p:nvSpPr>
          <p:cNvPr id="6" name="Text 4"/>
          <p:cNvSpPr/>
          <p:nvPr/>
        </p:nvSpPr>
        <p:spPr>
          <a:xfrm>
            <a:off x="3175000" y="2127250"/>
            <a:ext cx="8371840" cy="398760"/>
          </a:xfrm>
          <a:prstGeom prst="rect">
            <a:avLst/>
          </a:prstGeom>
          <a:noFill/>
          <a:ln/>
        </p:spPr>
        <p:txBody>
          <a:bodyPr wrap="square" lIns="0" tIns="0" rIns="0" bIns="0" rtlCol="0" anchor="t">
            <a:normAutofit/>
          </a:bodyPr>
          <a:lstStyle/>
          <a:p>
            <a:pPr algn="l" indent="0" marL="0">
              <a:lnSpc>
                <a:spcPts val="2940"/>
              </a:lnSpc>
              <a:buNone/>
            </a:pPr>
            <a:r>
              <a:rPr lang="en-US" sz="2100" dirty="0">
                <a:solidFill>
                  <a:srgbClr val="F6F3EC"/>
                </a:solidFill>
                <a:latin typeface="JetBrains Mono" pitchFamily="34" charset="0"/>
                <a:ea typeface="JetBrains Mono" pitchFamily="34" charset="-122"/>
                <a:cs typeface="JetBrains Mono" pitchFamily="34" charset="-120"/>
              </a:rPr>
              <a:t>E_x[ log D(x) ] + E_z[ log(1 − D(G(z))) ]</a:t>
            </a:r>
            <a:endParaRPr lang="en-US" sz="2100" dirty="0"/>
          </a:p>
        </p:txBody>
      </p:sp>
      <p:sp>
        <p:nvSpPr>
          <p:cNvPr id="7" name="Shape 5"/>
          <p:cNvSpPr/>
          <p:nvPr/>
        </p:nvSpPr>
        <p:spPr>
          <a:xfrm>
            <a:off x="3175000" y="2984500"/>
            <a:ext cx="3619500" cy="63500"/>
          </a:xfrm>
          <a:prstGeom prst="roundRect">
            <a:avLst>
              <a:gd name="adj" fmla="val 50000"/>
            </a:avLst>
          </a:prstGeom>
          <a:solidFill>
            <a:srgbClr val="14213D"/>
          </a:solidFill>
          <a:ln/>
        </p:spPr>
      </p:sp>
      <p:sp>
        <p:nvSpPr>
          <p:cNvPr id="8" name="Shape 6"/>
          <p:cNvSpPr/>
          <p:nvPr/>
        </p:nvSpPr>
        <p:spPr>
          <a:xfrm>
            <a:off x="819150" y="3181350"/>
            <a:ext cx="5130800" cy="1574800"/>
          </a:xfrm>
          <a:prstGeom prst="roundRect">
            <a:avLst>
              <a:gd name="adj" fmla="val 6048"/>
            </a:avLst>
          </a:prstGeom>
          <a:solidFill>
            <a:srgbClr val="FFFDF8"/>
          </a:solidFill>
          <a:ln w="12700">
            <a:solidFill>
              <a:srgbClr val="E4DED0"/>
            </a:solidFill>
            <a:prstDash val="solid"/>
          </a:ln>
        </p:spPr>
      </p:sp>
      <p:sp>
        <p:nvSpPr>
          <p:cNvPr id="9" name="Text 7"/>
          <p:cNvSpPr/>
          <p:nvPr/>
        </p:nvSpPr>
        <p:spPr>
          <a:xfrm>
            <a:off x="1079500" y="3333750"/>
            <a:ext cx="4839970" cy="77207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Term 1: real flowers.</a:t>
            </a:r>
            <a:r>
              <a:rPr lang="en-US" sz="1400" dirty="0">
                <a:solidFill>
                  <a:srgbClr val="14213D"/>
                </a:solidFill>
                <a:latin typeface="IBM Plex Sans" pitchFamily="34" charset="0"/>
                <a:ea typeface="IBM Plex Sans" pitchFamily="34" charset="-122"/>
                <a:cs typeface="IBM Plex Sans" pitchFamily="34" charset="-120"/>
              </a:rPr>
              <a:t> Average of log D(x). Largest (0) when D(x) = 1. </a:t>
            </a:r>
            <a:r>
              <a:rPr lang="en-US" sz="1400" b="1" dirty="0">
                <a:solidFill>
                  <a:srgbClr val="B24E17"/>
                </a:solidFill>
                <a:latin typeface="IBM Plex Sans" pitchFamily="34" charset="0"/>
                <a:ea typeface="IBM Plex Sans" pitchFamily="34" charset="-122"/>
                <a:cs typeface="IBM Plex Sans" pitchFamily="34" charset="-120"/>
              </a:rPr>
              <a:t>D maximises it</a:t>
            </a:r>
            <a:r>
              <a:rPr lang="en-US" sz="1400" dirty="0">
                <a:solidFill>
                  <a:srgbClr val="14213D"/>
                </a:solidFill>
                <a:latin typeface="IBM Plex Sans" pitchFamily="34" charset="0"/>
                <a:ea typeface="IBM Plex Sans" pitchFamily="34" charset="-122"/>
                <a:cs typeface="IBM Plex Sans" pitchFamily="34" charset="-120"/>
              </a:rPr>
              <a:t> by saying "real" to real data. G can't touch it.</a:t>
            </a:r>
            <a:endParaRPr lang="en-US" sz="1400" dirty="0"/>
          </a:p>
        </p:txBody>
      </p:sp>
      <p:sp>
        <p:nvSpPr>
          <p:cNvPr id="10" name="Shape 8"/>
          <p:cNvSpPr/>
          <p:nvPr/>
        </p:nvSpPr>
        <p:spPr>
          <a:xfrm>
            <a:off x="7048500" y="2984500"/>
            <a:ext cx="4318000" cy="63500"/>
          </a:xfrm>
          <a:prstGeom prst="roundRect">
            <a:avLst>
              <a:gd name="adj" fmla="val 50000"/>
            </a:avLst>
          </a:prstGeom>
          <a:solidFill>
            <a:srgbClr val="2563A8"/>
          </a:solidFill>
          <a:ln/>
        </p:spPr>
      </p:sp>
      <p:sp>
        <p:nvSpPr>
          <p:cNvPr id="11" name="Shape 9"/>
          <p:cNvSpPr/>
          <p:nvPr/>
        </p:nvSpPr>
        <p:spPr>
          <a:xfrm>
            <a:off x="6242050" y="3181350"/>
            <a:ext cx="5130800" cy="1574800"/>
          </a:xfrm>
          <a:prstGeom prst="roundRect">
            <a:avLst>
              <a:gd name="adj" fmla="val 6048"/>
            </a:avLst>
          </a:prstGeom>
          <a:solidFill>
            <a:srgbClr val="FFFDF8"/>
          </a:solidFill>
          <a:ln w="12700">
            <a:solidFill>
              <a:srgbClr val="E4DED0"/>
            </a:solidFill>
            <a:prstDash val="solid"/>
          </a:ln>
        </p:spPr>
      </p:sp>
      <p:sp>
        <p:nvSpPr>
          <p:cNvPr id="12" name="Text 10"/>
          <p:cNvSpPr/>
          <p:nvPr/>
        </p:nvSpPr>
        <p:spPr>
          <a:xfrm>
            <a:off x="6502400" y="3333750"/>
            <a:ext cx="4839970"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Term 2: fake flowers.</a:t>
            </a:r>
            <a:r>
              <a:rPr lang="en-US" sz="1400" dirty="0">
                <a:solidFill>
                  <a:srgbClr val="14213D"/>
                </a:solidFill>
                <a:latin typeface="IBM Plex Sans" pitchFamily="34" charset="0"/>
                <a:ea typeface="IBM Plex Sans" pitchFamily="34" charset="-122"/>
                <a:cs typeface="IBM Plex Sans" pitchFamily="34" charset="-120"/>
              </a:rPr>
              <a:t> </a:t>
            </a:r>
            <a:r>
              <a:rPr lang="en-US" sz="1400" b="1" dirty="0">
                <a:solidFill>
                  <a:srgbClr val="B24E17"/>
                </a:solidFill>
                <a:latin typeface="IBM Plex Sans" pitchFamily="34" charset="0"/>
                <a:ea typeface="IBM Plex Sans" pitchFamily="34" charset="-122"/>
                <a:cs typeface="IBM Plex Sans" pitchFamily="34" charset="-120"/>
              </a:rPr>
              <a:t>D maximises it</a:t>
            </a:r>
            <a:r>
              <a:rPr lang="en-US" sz="1400" dirty="0">
                <a:solidFill>
                  <a:srgbClr val="14213D"/>
                </a:solidFill>
                <a:latin typeface="IBM Plex Sans" pitchFamily="34" charset="0"/>
                <a:ea typeface="IBM Plex Sans" pitchFamily="34" charset="-122"/>
                <a:cs typeface="IBM Plex Sans" pitchFamily="34" charset="-120"/>
              </a:rPr>
              <a:t> by pushing D(G(z)) → 0. </a:t>
            </a:r>
            <a:r>
              <a:rPr lang="en-US" sz="1400" b="1" dirty="0">
                <a:solidFill>
                  <a:srgbClr val="2563A8"/>
                </a:solidFill>
                <a:latin typeface="IBM Plex Sans" pitchFamily="34" charset="0"/>
                <a:ea typeface="IBM Plex Sans" pitchFamily="34" charset="-122"/>
                <a:cs typeface="IBM Plex Sans" pitchFamily="34" charset="-120"/>
              </a:rPr>
              <a:t>G minimises it</a:t>
            </a:r>
            <a:r>
              <a:rPr lang="en-US" sz="1400" dirty="0">
                <a:solidFill>
                  <a:srgbClr val="14213D"/>
                </a:solidFill>
                <a:latin typeface="IBM Plex Sans" pitchFamily="34" charset="0"/>
                <a:ea typeface="IBM Plex Sans" pitchFamily="34" charset="-122"/>
                <a:cs typeface="IBM Plex Sans" pitchFamily="34" charset="-120"/>
              </a:rPr>
              <a:t> by pushing D(G(z)) → 1.</a:t>
            </a:r>
            <a:endParaRPr lang="en-US" sz="1400" dirty="0"/>
          </a:p>
        </p:txBody>
      </p:sp>
      <p:sp>
        <p:nvSpPr>
          <p:cNvPr id="13" name="Shape 11"/>
          <p:cNvSpPr/>
          <p:nvPr/>
        </p:nvSpPr>
        <p:spPr>
          <a:xfrm>
            <a:off x="812800" y="4953000"/>
            <a:ext cx="10566400" cy="825500"/>
          </a:xfrm>
          <a:prstGeom prst="roundRect">
            <a:avLst>
              <a:gd name="adj" fmla="val 12308"/>
            </a:avLst>
          </a:prstGeom>
          <a:solidFill>
            <a:srgbClr val="FBF0CF"/>
          </a:solidFill>
          <a:ln/>
        </p:spPr>
      </p:sp>
      <p:sp>
        <p:nvSpPr>
          <p:cNvPr id="14" name="Text 12"/>
          <p:cNvSpPr/>
          <p:nvPr/>
        </p:nvSpPr>
        <p:spPr>
          <a:xfrm>
            <a:off x="1079500" y="5080000"/>
            <a:ext cx="10399395"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Minimax</a:t>
            </a:r>
            <a:r>
              <a:rPr lang="en-US" sz="1500" dirty="0">
                <a:solidFill>
                  <a:srgbClr val="14213D"/>
                </a:solidFill>
                <a:latin typeface="IBM Plex Sans" pitchFamily="34" charset="0"/>
                <a:ea typeface="IBM Plex Sans" pitchFamily="34" charset="-122"/>
                <a:cs typeface="IBM Plex Sans" pitchFamily="34" charset="-120"/>
              </a:rPr>
              <a:t> = G minimises what the best D can maximise. This is the zero-sum game: D's gain is G's loss. Note: maximising V = minimising the notebook's </a:t>
            </a:r>
            <a:r>
              <a:rPr lang="en-US" sz="1500" b="1" dirty="0">
                <a:solidFill>
                  <a:srgbClr val="14213D"/>
                </a:solidFill>
                <a:latin typeface="IBM Plex Sans" pitchFamily="34" charset="0"/>
                <a:ea typeface="IBM Plex Sans" pitchFamily="34" charset="-122"/>
                <a:cs typeface="IBM Plex Sans" pitchFamily="34" charset="-120"/>
              </a:rPr>
              <a:t>loss_d</a:t>
            </a:r>
            <a:r>
              <a:rPr lang="en-US" sz="1500" dirty="0">
                <a:solidFill>
                  <a:srgbClr val="14213D"/>
                </a:solidFill>
                <a:latin typeface="IBM Plex Sans" pitchFamily="34" charset="0"/>
                <a:ea typeface="IBM Plex Sans" pitchFamily="34" charset="-122"/>
                <a:cs typeface="IBM Plex Sans" pitchFamily="34" charset="-120"/>
              </a:rPr>
              <a:t>.</a:t>
            </a:r>
            <a:endParaRPr lang="en-US" sz="1500" dirty="0"/>
          </a:p>
        </p:txBody>
      </p:sp>
      <p:sp>
        <p:nvSpPr>
          <p:cNvPr id="15" name="Text 13"/>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1 · 06 Training · min 66–70</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06 · WHERE THE GAME SETTLES</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At the ideal end point, D can only say 0.5</a:t>
            </a:r>
            <a:endParaRPr lang="en-US" sz="3200" dirty="0"/>
          </a:p>
        </p:txBody>
      </p:sp>
      <p:sp>
        <p:nvSpPr>
          <p:cNvPr id="4" name="Shape 2"/>
          <p:cNvSpPr/>
          <p:nvPr/>
        </p:nvSpPr>
        <p:spPr>
          <a:xfrm>
            <a:off x="819150" y="1911350"/>
            <a:ext cx="5067300" cy="1892300"/>
          </a:xfrm>
          <a:prstGeom prst="roundRect">
            <a:avLst>
              <a:gd name="adj" fmla="val 5034"/>
            </a:avLst>
          </a:prstGeom>
          <a:solidFill>
            <a:srgbClr val="FFFDF8"/>
          </a:solidFill>
          <a:ln w="12700">
            <a:solidFill>
              <a:srgbClr val="E4DED0"/>
            </a:solidFill>
            <a:prstDash val="solid"/>
          </a:ln>
        </p:spPr>
      </p:sp>
      <p:sp>
        <p:nvSpPr>
          <p:cNvPr id="5" name="Text 3"/>
          <p:cNvSpPr/>
          <p:nvPr/>
        </p:nvSpPr>
        <p:spPr>
          <a:xfrm>
            <a:off x="1079500" y="2063750"/>
            <a:ext cx="4709160" cy="27429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B24E17"/>
                </a:solidFill>
                <a:latin typeface="IBM Plex Sans" pitchFamily="34" charset="0"/>
                <a:ea typeface="IBM Plex Sans" pitchFamily="34" charset="-122"/>
                <a:cs typeface="IBM Plex Sans" pitchFamily="34" charset="-120"/>
              </a:rPr>
              <a:t>BEST D FOR A FIXED G</a:t>
            </a:r>
            <a:endParaRPr lang="en-US" sz="1400" dirty="0"/>
          </a:p>
        </p:txBody>
      </p:sp>
      <p:sp>
        <p:nvSpPr>
          <p:cNvPr id="6" name="Text 4"/>
          <p:cNvSpPr/>
          <p:nvPr/>
        </p:nvSpPr>
        <p:spPr>
          <a:xfrm>
            <a:off x="1079500" y="2444750"/>
            <a:ext cx="470916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JetBrains Mono" pitchFamily="34" charset="0"/>
                <a:ea typeface="JetBrains Mono" pitchFamily="34" charset="-122"/>
                <a:cs typeface="JetBrains Mono" pitchFamily="34" charset="-120"/>
              </a:rPr>
              <a:t>D*(x) = p_data(x) / (p_data(x) + p_g(x))</a:t>
            </a:r>
            <a:endParaRPr lang="en-US" sz="1400" dirty="0"/>
          </a:p>
        </p:txBody>
      </p:sp>
      <p:sp>
        <p:nvSpPr>
          <p:cNvPr id="7" name="Text 5"/>
          <p:cNvSpPr/>
          <p:nvPr/>
        </p:nvSpPr>
        <p:spPr>
          <a:xfrm>
            <a:off x="1079500" y="2921000"/>
            <a:ext cx="470916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657"/>
                </a:solidFill>
                <a:latin typeface="IBM Plex Sans" pitchFamily="34" charset="0"/>
                <a:ea typeface="IBM Plex Sans" pitchFamily="34" charset="-122"/>
                <a:cs typeface="IBM Plex Sans" pitchFamily="34" charset="-120"/>
              </a:rPr>
              <a:t>"How much of the probability at x comes from real data?"</a:t>
            </a:r>
            <a:endParaRPr lang="en-US" sz="1400" dirty="0"/>
          </a:p>
        </p:txBody>
      </p:sp>
      <p:sp>
        <p:nvSpPr>
          <p:cNvPr id="8" name="Shape 6"/>
          <p:cNvSpPr/>
          <p:nvPr/>
        </p:nvSpPr>
        <p:spPr>
          <a:xfrm>
            <a:off x="6305550" y="1911350"/>
            <a:ext cx="5067300" cy="1892300"/>
          </a:xfrm>
          <a:prstGeom prst="roundRect">
            <a:avLst>
              <a:gd name="adj" fmla="val 5034"/>
            </a:avLst>
          </a:prstGeom>
          <a:solidFill>
            <a:srgbClr val="FFFDF8"/>
          </a:solidFill>
          <a:ln w="12700">
            <a:solidFill>
              <a:srgbClr val="E4DED0"/>
            </a:solidFill>
            <a:prstDash val="solid"/>
          </a:ln>
        </p:spPr>
      </p:sp>
      <p:sp>
        <p:nvSpPr>
          <p:cNvPr id="9" name="Text 7"/>
          <p:cNvSpPr/>
          <p:nvPr/>
        </p:nvSpPr>
        <p:spPr>
          <a:xfrm>
            <a:off x="6565900" y="2063750"/>
            <a:ext cx="4709160" cy="27429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2563A8"/>
                </a:solidFill>
                <a:latin typeface="IBM Plex Sans" pitchFamily="34" charset="0"/>
                <a:ea typeface="IBM Plex Sans" pitchFamily="34" charset="-122"/>
                <a:cs typeface="IBM Plex Sans" pitchFamily="34" charset="-120"/>
              </a:rPr>
              <a:t>BEST G</a:t>
            </a:r>
            <a:endParaRPr lang="en-US" sz="1400" dirty="0"/>
          </a:p>
        </p:txBody>
      </p:sp>
      <p:sp>
        <p:nvSpPr>
          <p:cNvPr id="10" name="Text 8"/>
          <p:cNvSpPr/>
          <p:nvPr/>
        </p:nvSpPr>
        <p:spPr>
          <a:xfrm>
            <a:off x="6565900" y="2444750"/>
            <a:ext cx="470916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JetBrains Mono" pitchFamily="34" charset="0"/>
                <a:ea typeface="JetBrains Mono" pitchFamily="34" charset="-122"/>
                <a:cs typeface="JetBrains Mono" pitchFamily="34" charset="-120"/>
              </a:rPr>
              <a:t>p_g = p_data → D*(x) = ½</a:t>
            </a:r>
            <a:endParaRPr lang="en-US" sz="1600" dirty="0"/>
          </a:p>
        </p:txBody>
      </p:sp>
      <p:sp>
        <p:nvSpPr>
          <p:cNvPr id="11" name="Text 9"/>
          <p:cNvSpPr/>
          <p:nvPr/>
        </p:nvSpPr>
        <p:spPr>
          <a:xfrm>
            <a:off x="6565900" y="2921000"/>
            <a:ext cx="470916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657"/>
                </a:solidFill>
                <a:latin typeface="IBM Plex Sans" pitchFamily="34" charset="0"/>
                <a:ea typeface="IBM Plex Sans" pitchFamily="34" charset="-122"/>
                <a:cs typeface="IBM Plex Sans" pitchFamily="34" charset="-120"/>
              </a:rPr>
              <a:t>Fakes are statistically identical to real flowers. D can do no better than a coin flip.</a:t>
            </a:r>
            <a:endParaRPr lang="en-US" sz="1400" dirty="0"/>
          </a:p>
        </p:txBody>
      </p:sp>
      <p:sp>
        <p:nvSpPr>
          <p:cNvPr id="12" name="Shape 10"/>
          <p:cNvSpPr/>
          <p:nvPr/>
        </p:nvSpPr>
        <p:spPr>
          <a:xfrm>
            <a:off x="812800" y="4064000"/>
            <a:ext cx="10566400" cy="1651000"/>
          </a:xfrm>
          <a:prstGeom prst="roundRect">
            <a:avLst>
              <a:gd name="adj" fmla="val 6154"/>
            </a:avLst>
          </a:prstGeom>
          <a:solidFill>
            <a:srgbClr val="14213D"/>
          </a:solidFill>
          <a:ln/>
        </p:spPr>
      </p:sp>
      <p:sp>
        <p:nvSpPr>
          <p:cNvPr id="13" name="Text 11"/>
          <p:cNvSpPr/>
          <p:nvPr/>
        </p:nvSpPr>
        <p:spPr>
          <a:xfrm>
            <a:off x="1079500" y="4222750"/>
            <a:ext cx="10399395" cy="27429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E9B949"/>
                </a:solidFill>
                <a:latin typeface="IBM Plex Sans" pitchFamily="34" charset="0"/>
                <a:ea typeface="IBM Plex Sans" pitchFamily="34" charset="-122"/>
                <a:cs typeface="IBM Plex Sans" pitchFamily="34" charset="-120"/>
              </a:rPr>
              <a:t>REFERENCE NUMBERS FOR THE NOTEBOOK PRINTOUT</a:t>
            </a:r>
            <a:endParaRPr lang="en-US" sz="1400" dirty="0"/>
          </a:p>
        </p:txBody>
      </p:sp>
      <p:sp>
        <p:nvSpPr>
          <p:cNvPr id="14" name="Text 12"/>
          <p:cNvSpPr/>
          <p:nvPr/>
        </p:nvSpPr>
        <p:spPr>
          <a:xfrm>
            <a:off x="1079500" y="4572000"/>
            <a:ext cx="10399395"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6F3EC"/>
                </a:solidFill>
                <a:latin typeface="IBM Plex Sans" pitchFamily="34" charset="0"/>
                <a:ea typeface="IBM Plex Sans" pitchFamily="34" charset="-122"/>
                <a:cs typeface="IBM Plex Sans" pitchFamily="34" charset="-120"/>
              </a:rPr>
              <a:t>If D outputs 0.5 everywhere: </a:t>
            </a:r>
            <a:r>
              <a:rPr lang="en-US" sz="1500" b="1" dirty="0">
                <a:solidFill>
                  <a:srgbClr val="F6F3EC"/>
                </a:solidFill>
                <a:latin typeface="IBM Plex Sans" pitchFamily="34" charset="0"/>
                <a:ea typeface="IBM Plex Sans" pitchFamily="34" charset="-122"/>
                <a:cs typeface="IBM Plex Sans" pitchFamily="34" charset="-120"/>
              </a:rPr>
              <a:t>loss_d = 2 × ln 2 ≈ 1.386</a:t>
            </a:r>
            <a:r>
              <a:rPr lang="en-US" sz="1500" dirty="0">
                <a:solidFill>
                  <a:srgbClr val="F6F3EC"/>
                </a:solidFill>
                <a:latin typeface="IBM Plex Sans" pitchFamily="34" charset="0"/>
                <a:ea typeface="IBM Plex Sans" pitchFamily="34" charset="-122"/>
                <a:cs typeface="IBM Plex Sans" pitchFamily="34" charset="-120"/>
              </a:rPr>
              <a:t> and </a:t>
            </a:r>
            <a:r>
              <a:rPr lang="en-US" sz="1500" b="1" dirty="0">
                <a:solidFill>
                  <a:srgbClr val="F6F3EC"/>
                </a:solidFill>
                <a:latin typeface="IBM Plex Sans" pitchFamily="34" charset="0"/>
                <a:ea typeface="IBM Plex Sans" pitchFamily="34" charset="-122"/>
                <a:cs typeface="IBM Plex Sans" pitchFamily="34" charset="-120"/>
              </a:rPr>
              <a:t>loss_g = ln 2 ≈ 0.693</a:t>
            </a:r>
            <a:r>
              <a:rPr lang="en-US" sz="1500" dirty="0">
                <a:solidFill>
                  <a:srgbClr val="F6F3EC"/>
                </a:solidFill>
                <a:latin typeface="IBM Plex Sans" pitchFamily="34" charset="0"/>
                <a:ea typeface="IBM Plex Sans" pitchFamily="34" charset="-122"/>
                <a:cs typeface="IBM Plex Sans" pitchFamily="34" charset="-120"/>
              </a:rPr>
              <a:t>.</a:t>
            </a:r>
            <a:endParaRPr lang="en-US" sz="1500" dirty="0"/>
          </a:p>
          <a:p>
            <a:pPr algn="l" indent="0" marL="0">
              <a:lnSpc>
                <a:spcPts val="2250"/>
              </a:lnSpc>
              <a:buNone/>
            </a:pPr>
            <a:r>
              <a:rPr lang="en-US" sz="1500" dirty="0">
                <a:solidFill>
                  <a:srgbClr val="BFC8D6"/>
                </a:solidFill>
                <a:latin typeface="IBM Plex Sans" pitchFamily="34" charset="0"/>
                <a:ea typeface="IBM Plex Sans" pitchFamily="34" charset="-122"/>
                <a:cs typeface="IBM Plex Sans" pitchFamily="34" charset="-120"/>
              </a:rPr>
              <a:t>Also this point is a Nash equilibrium: neither player can improve by changing alone. Real training only approximates it.</a:t>
            </a:r>
            <a:endParaRPr lang="en-US" sz="1500" dirty="0"/>
          </a:p>
        </p:txBody>
      </p:sp>
      <p:sp>
        <p:nvSpPr>
          <p:cNvPr id="15" name="Text 13"/>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1 · 06 Training · min 70–72 · Goodfellow et al. 2014, Proposition 1 and Theorem 1</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06 · A PRACTICAL FIX USED IN OUR NOTEBOOK</a:t>
            </a:r>
            <a:endParaRPr lang="en-US" sz="1200" dirty="0"/>
          </a:p>
        </p:txBody>
      </p:sp>
      <p:sp>
        <p:nvSpPr>
          <p:cNvPr id="3" name="Text 1"/>
          <p:cNvSpPr/>
          <p:nvPr/>
        </p:nvSpPr>
        <p:spPr>
          <a:xfrm>
            <a:off x="812800" y="82550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Why the notebook's G uses labels_real, not the minimax term</a:t>
            </a:r>
            <a:endParaRPr lang="en-US" sz="3200" dirty="0"/>
          </a:p>
        </p:txBody>
      </p:sp>
      <p:sp>
        <p:nvSpPr>
          <p:cNvPr id="4" name="Shape 2"/>
          <p:cNvSpPr/>
          <p:nvPr/>
        </p:nvSpPr>
        <p:spPr>
          <a:xfrm>
            <a:off x="819150" y="1911350"/>
            <a:ext cx="5702300" cy="3797300"/>
          </a:xfrm>
          <a:prstGeom prst="roundRect">
            <a:avLst>
              <a:gd name="adj" fmla="val 2508"/>
            </a:avLst>
          </a:prstGeom>
          <a:solidFill>
            <a:srgbClr val="FFFDF8"/>
          </a:solidFill>
          <a:ln w="12700">
            <a:solidFill>
              <a:srgbClr val="E4DED0"/>
            </a:solidFill>
            <a:prstDash val="solid"/>
          </a:ln>
        </p:spPr>
      </p:sp>
      <p:pic>
        <p:nvPicPr>
          <p:cNvPr id="5" name="Image 0" descr="Plot of generator loss against D of G of z. The original term log(1 minus D) is almost flat near zero; the notebook term minus log D is very steep near zero, highlighted in yellow as the early-training region.">    </p:cNvPr>
          <p:cNvPicPr>
            <a:picLocks noChangeAspect="1"/>
          </p:cNvPicPr>
          <p:nvPr/>
        </p:nvPicPr>
        <p:blipFill>
          <a:blip r:embed="rId1"/>
          <a:srcRect l="0" r="0" t="-2093" b="-2093"/>
          <a:stretch/>
        </p:blipFill>
        <p:spPr>
          <a:xfrm>
            <a:off x="939800" y="2032000"/>
            <a:ext cx="5461000" cy="3556000"/>
          </a:xfrm>
          <a:prstGeom prst="rect">
            <a:avLst/>
          </a:prstGeom>
        </p:spPr>
      </p:pic>
      <p:sp>
        <p:nvSpPr>
          <p:cNvPr id="6" name="Text 3"/>
          <p:cNvSpPr/>
          <p:nvPr/>
        </p:nvSpPr>
        <p:spPr>
          <a:xfrm>
            <a:off x="6858000" y="1968500"/>
            <a:ext cx="4656836"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Early training</a:t>
            </a:r>
            <a:r>
              <a:rPr lang="en-US" sz="1500" dirty="0">
                <a:solidFill>
                  <a:srgbClr val="14213D"/>
                </a:solidFill>
                <a:latin typeface="IBM Plex Sans" pitchFamily="34" charset="0"/>
                <a:ea typeface="IBM Plex Sans" pitchFamily="34" charset="-122"/>
                <a:cs typeface="IBM Plex Sans" pitchFamily="34" charset="-120"/>
              </a:rPr>
              <a:t> (yellow band): fakes are bad, so D(G(z)) ≈ 0.</a:t>
            </a:r>
            <a:endParaRPr lang="en-US" sz="1500" dirty="0"/>
          </a:p>
        </p:txBody>
      </p:sp>
      <p:sp>
        <p:nvSpPr>
          <p:cNvPr id="7" name="Text 4"/>
          <p:cNvSpPr/>
          <p:nvPr/>
        </p:nvSpPr>
        <p:spPr>
          <a:xfrm>
            <a:off x="6858000" y="2794000"/>
            <a:ext cx="4656836"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24E17"/>
                </a:solidFill>
                <a:latin typeface="IBM Plex Sans" pitchFamily="34" charset="0"/>
                <a:ea typeface="IBM Plex Sans" pitchFamily="34" charset="-122"/>
                <a:cs typeface="IBM Plex Sans" pitchFamily="34" charset="-120"/>
              </a:rPr>
              <a:t>Original term</a:t>
            </a:r>
            <a:r>
              <a:rPr lang="en-US" sz="1500" dirty="0">
                <a:solidFill>
                  <a:srgbClr val="B24E17"/>
                </a:solidFill>
                <a:latin typeface="IBM Plex Sans" pitchFamily="34" charset="0"/>
                <a:ea typeface="IBM Plex Sans" pitchFamily="34" charset="-122"/>
                <a:cs typeface="IBM Plex Sans" pitchFamily="34" charset="-120"/>
              </a:rPr>
              <a:t> log(1 − D(G(z))) is almost flat there → tiny gradient → G barely learns.</a:t>
            </a:r>
            <a:endParaRPr lang="en-US" sz="1500" dirty="0"/>
          </a:p>
        </p:txBody>
      </p:sp>
      <p:sp>
        <p:nvSpPr>
          <p:cNvPr id="8" name="Text 5"/>
          <p:cNvSpPr/>
          <p:nvPr/>
        </p:nvSpPr>
        <p:spPr>
          <a:xfrm>
            <a:off x="6858000" y="3873500"/>
            <a:ext cx="4656836"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563A8"/>
                </a:solidFill>
                <a:latin typeface="IBM Plex Sans" pitchFamily="34" charset="0"/>
                <a:ea typeface="IBM Plex Sans" pitchFamily="34" charset="-122"/>
                <a:cs typeface="IBM Plex Sans" pitchFamily="34" charset="-120"/>
              </a:rPr>
              <a:t>Notebook's term</a:t>
            </a:r>
            <a:r>
              <a:rPr lang="en-US" sz="1500" dirty="0">
                <a:solidFill>
                  <a:srgbClr val="2563A8"/>
                </a:solidFill>
                <a:latin typeface="IBM Plex Sans" pitchFamily="34" charset="0"/>
                <a:ea typeface="IBM Plex Sans" pitchFamily="34" charset="-122"/>
                <a:cs typeface="IBM Plex Sans" pitchFamily="34" charset="-120"/>
              </a:rPr>
              <a:t> −log D(G(z)) is steep there → strong gradient exactly when G needs it.</a:t>
            </a:r>
            <a:endParaRPr lang="en-US" sz="1500" dirty="0"/>
          </a:p>
        </p:txBody>
      </p:sp>
      <p:sp>
        <p:nvSpPr>
          <p:cNvPr id="9" name="Text 6"/>
          <p:cNvSpPr/>
          <p:nvPr/>
        </p:nvSpPr>
        <p:spPr>
          <a:xfrm>
            <a:off x="6858000" y="4953000"/>
            <a:ext cx="465683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Same goal (D(G(z)) → 1). This is the </a:t>
            </a:r>
            <a:r>
              <a:rPr lang="en-US" sz="1400" b="1" dirty="0">
                <a:solidFill>
                  <a:srgbClr val="14213D"/>
                </a:solidFill>
                <a:latin typeface="IBM Plex Sans" pitchFamily="34" charset="0"/>
                <a:ea typeface="IBM Plex Sans" pitchFamily="34" charset="-122"/>
                <a:cs typeface="IBM Plex Sans" pitchFamily="34" charset="-120"/>
              </a:rPr>
              <a:t>non-saturating</a:t>
            </a:r>
            <a:r>
              <a:rPr lang="en-US" sz="1400" dirty="0">
                <a:solidFill>
                  <a:srgbClr val="14213D"/>
                </a:solidFill>
                <a:latin typeface="IBM Plex Sans" pitchFamily="34" charset="0"/>
                <a:ea typeface="IBM Plex Sans" pitchFamily="34" charset="-122"/>
                <a:cs typeface="IBM Plex Sans" pitchFamily="34" charset="-120"/>
              </a:rPr>
              <a:t> loss: </a:t>
            </a:r>
            <a:r>
              <a:rPr lang="en-US" sz="1400" dirty="0">
                <a:solidFill>
                  <a:srgbClr val="2563A8"/>
                </a:solidFill>
                <a:latin typeface="IBM Plex Sans" pitchFamily="34" charset="0"/>
                <a:ea typeface="IBM Plex Sans" pitchFamily="34" charset="-122"/>
                <a:cs typeface="IBM Plex Sans" pitchFamily="34" charset="-120"/>
              </a:rPr>
              <a:t>criterion(outputs_fake, labels_real)</a:t>
            </a:r>
            <a:r>
              <a:rPr lang="en-US" sz="1400" dirty="0">
                <a:solidFill>
                  <a:srgbClr val="14213D"/>
                </a:solidFill>
                <a:latin typeface="IBM Plex Sans" pitchFamily="34" charset="0"/>
                <a:ea typeface="IBM Plex Sans" pitchFamily="34" charset="-122"/>
                <a:cs typeface="IBM Plex Sans" pitchFamily="34" charset="-120"/>
              </a:rPr>
              <a:t>.</a:t>
            </a:r>
            <a:endParaRPr lang="en-US" sz="1400" dirty="0"/>
          </a:p>
        </p:txBody>
      </p:sp>
      <p:sp>
        <p:nvSpPr>
          <p:cNvPr id="10" name="Text 7"/>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1 · 06 Training · min 72–75 · also suggested in Goodfellow et al. 2014, Section 3</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06 · PREVIEW OF CLASS 2</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When the game goes wrong</a:t>
            </a:r>
            <a:endParaRPr lang="en-US" sz="3200" dirty="0"/>
          </a:p>
        </p:txBody>
      </p:sp>
      <p:sp>
        <p:nvSpPr>
          <p:cNvPr id="4" name="Shape 2"/>
          <p:cNvSpPr/>
          <p:nvPr/>
        </p:nvSpPr>
        <p:spPr>
          <a:xfrm>
            <a:off x="819150" y="1847850"/>
            <a:ext cx="3352800" cy="3924300"/>
          </a:xfrm>
          <a:prstGeom prst="roundRect">
            <a:avLst>
              <a:gd name="adj" fmla="val 2841"/>
            </a:avLst>
          </a:prstGeom>
          <a:solidFill>
            <a:srgbClr val="FFFDF8"/>
          </a:solidFill>
          <a:ln w="12700">
            <a:solidFill>
              <a:srgbClr val="E4DED0"/>
            </a:solidFill>
            <a:prstDash val="solid"/>
          </a:ln>
        </p:spPr>
      </p:sp>
      <p:sp>
        <p:nvSpPr>
          <p:cNvPr id="5" name="Text 3"/>
          <p:cNvSpPr/>
          <p:nvPr/>
        </p:nvSpPr>
        <p:spPr>
          <a:xfrm>
            <a:off x="1047750" y="2032000"/>
            <a:ext cx="3008630"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4213D"/>
                </a:solidFill>
                <a:latin typeface="Space Grotesk" pitchFamily="34" charset="0"/>
                <a:ea typeface="Space Grotesk" pitchFamily="34" charset="-122"/>
                <a:cs typeface="Space Grotesk" pitchFamily="34" charset="-120"/>
              </a:rPr>
              <a:t>Mode collapse</a:t>
            </a:r>
            <a:endParaRPr lang="en-US" sz="1900" dirty="0"/>
          </a:p>
        </p:txBody>
      </p:sp>
      <p:pic>
        <p:nvPicPr>
          <p:cNvPr id="6" name="Image 0" descr="Same yellow flower">    </p:cNvPr>
          <p:cNvPicPr>
            <a:picLocks noChangeAspect="1"/>
          </p:cNvPicPr>
          <p:nvPr/>
        </p:nvPicPr>
        <p:blipFill>
          <a:blip r:embed="rId1"/>
          <a:srcRect l="0" r="0" t="0" b="0"/>
          <a:stretch/>
        </p:blipFill>
        <p:spPr>
          <a:xfrm>
            <a:off x="1016000" y="2476500"/>
            <a:ext cx="952500" cy="952500"/>
          </a:xfrm>
          <a:prstGeom prst="rect">
            <a:avLst/>
          </a:prstGeom>
        </p:spPr>
      </p:pic>
      <p:pic>
        <p:nvPicPr>
          <p:cNvPr id="7" name="Image 1" descr="Same yellow flower again">    </p:cNvPr>
          <p:cNvPicPr>
            <a:picLocks noChangeAspect="1"/>
          </p:cNvPicPr>
          <p:nvPr/>
        </p:nvPicPr>
        <p:blipFill>
          <a:blip r:embed="rId2"/>
          <a:srcRect l="0" r="0" t="0" b="0"/>
          <a:stretch/>
        </p:blipFill>
        <p:spPr>
          <a:xfrm>
            <a:off x="2019300" y="2476500"/>
            <a:ext cx="952500" cy="952500"/>
          </a:xfrm>
          <a:prstGeom prst="rect">
            <a:avLst/>
          </a:prstGeom>
        </p:spPr>
      </p:pic>
      <p:pic>
        <p:nvPicPr>
          <p:cNvPr id="8" name="Image 2" descr="Same yellow flower a third time">    </p:cNvPr>
          <p:cNvPicPr>
            <a:picLocks noChangeAspect="1"/>
          </p:cNvPicPr>
          <p:nvPr/>
        </p:nvPicPr>
        <p:blipFill>
          <a:blip r:embed="rId3"/>
          <a:srcRect l="0" r="0" t="0" b="0"/>
          <a:stretch/>
        </p:blipFill>
        <p:spPr>
          <a:xfrm>
            <a:off x="3022600" y="2476500"/>
            <a:ext cx="952500" cy="952500"/>
          </a:xfrm>
          <a:prstGeom prst="rect">
            <a:avLst/>
          </a:prstGeom>
        </p:spPr>
      </p:pic>
      <p:sp>
        <p:nvSpPr>
          <p:cNvPr id="9" name="Text 4"/>
          <p:cNvSpPr/>
          <p:nvPr/>
        </p:nvSpPr>
        <p:spPr>
          <a:xfrm>
            <a:off x="1047750" y="3619500"/>
            <a:ext cx="3008630"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657"/>
                </a:solidFill>
                <a:latin typeface="IBM Plex Sans" pitchFamily="34" charset="0"/>
                <a:ea typeface="IBM Plex Sans" pitchFamily="34" charset="-122"/>
                <a:cs typeface="IBM Plex Sans" pitchFamily="34" charset="-120"/>
              </a:rPr>
              <a:t>G finds one flower that fools D and paints only that. Every z → the same kind of output. Looks good; </a:t>
            </a:r>
            <a:r>
              <a:rPr lang="en-US" sz="1400" b="1" dirty="0">
                <a:solidFill>
                  <a:srgbClr val="3D4657"/>
                </a:solidFill>
                <a:latin typeface="IBM Plex Sans" pitchFamily="34" charset="0"/>
                <a:ea typeface="IBM Plex Sans" pitchFamily="34" charset="-122"/>
                <a:cs typeface="IBM Plex Sans" pitchFamily="34" charset="-120"/>
              </a:rPr>
              <a:t>no variety</a:t>
            </a:r>
            <a:r>
              <a:rPr lang="en-US" sz="1400" dirty="0">
                <a:solidFill>
                  <a:srgbClr val="3D4657"/>
                </a:solidFill>
                <a:latin typeface="IBM Plex Sans" pitchFamily="34" charset="0"/>
                <a:ea typeface="IBM Plex Sans" pitchFamily="34" charset="-122"/>
                <a:cs typeface="IBM Plex Sans" pitchFamily="34" charset="-120"/>
              </a:rPr>
              <a:t>.</a:t>
            </a:r>
            <a:endParaRPr lang="en-US" sz="1400" dirty="0"/>
          </a:p>
        </p:txBody>
      </p:sp>
      <p:sp>
        <p:nvSpPr>
          <p:cNvPr id="10" name="Shape 5"/>
          <p:cNvSpPr/>
          <p:nvPr/>
        </p:nvSpPr>
        <p:spPr>
          <a:xfrm>
            <a:off x="4419600" y="1847850"/>
            <a:ext cx="3352800" cy="3924300"/>
          </a:xfrm>
          <a:prstGeom prst="roundRect">
            <a:avLst>
              <a:gd name="adj" fmla="val 2841"/>
            </a:avLst>
          </a:prstGeom>
          <a:solidFill>
            <a:srgbClr val="FFFDF8"/>
          </a:solidFill>
          <a:ln w="12700">
            <a:solidFill>
              <a:srgbClr val="E4DED0"/>
            </a:solidFill>
            <a:prstDash val="solid"/>
          </a:ln>
        </p:spPr>
      </p:sp>
      <p:sp>
        <p:nvSpPr>
          <p:cNvPr id="11" name="Text 6"/>
          <p:cNvSpPr/>
          <p:nvPr/>
        </p:nvSpPr>
        <p:spPr>
          <a:xfrm>
            <a:off x="4648200" y="2032000"/>
            <a:ext cx="3008630"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4213D"/>
                </a:solidFill>
                <a:latin typeface="Space Grotesk" pitchFamily="34" charset="0"/>
                <a:ea typeface="Space Grotesk" pitchFamily="34" charset="-122"/>
                <a:cs typeface="Space Grotesk" pitchFamily="34" charset="-120"/>
              </a:rPr>
              <a:t>Non-convergence</a:t>
            </a:r>
            <a:endParaRPr lang="en-US" sz="1900" dirty="0"/>
          </a:p>
        </p:txBody>
      </p:sp>
      <p:sp>
        <p:nvSpPr>
          <p:cNvPr id="12" name="Text 7"/>
          <p:cNvSpPr/>
          <p:nvPr/>
        </p:nvSpPr>
        <p:spPr>
          <a:xfrm>
            <a:off x="4648200" y="2540000"/>
            <a:ext cx="3008630" cy="126985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657"/>
                </a:solidFill>
                <a:latin typeface="IBM Plex Sans" pitchFamily="34" charset="0"/>
                <a:ea typeface="IBM Plex Sans" pitchFamily="34" charset="-122"/>
                <a:cs typeface="IBM Plex Sans" pitchFamily="34" charset="-120"/>
              </a:rPr>
              <a:t>G fixes one weakness, D learns a new check, G switches trick, D switches back… The players </a:t>
            </a:r>
            <a:r>
              <a:rPr lang="en-US" sz="1400" b="1" dirty="0">
                <a:solidFill>
                  <a:srgbClr val="3D4657"/>
                </a:solidFill>
                <a:latin typeface="IBM Plex Sans" pitchFamily="34" charset="0"/>
                <a:ea typeface="IBM Plex Sans" pitchFamily="34" charset="-122"/>
                <a:cs typeface="IBM Plex Sans" pitchFamily="34" charset="-120"/>
              </a:rPr>
              <a:t>chase each other in circles</a:t>
            </a:r>
            <a:r>
              <a:rPr lang="en-US" sz="1400" dirty="0">
                <a:solidFill>
                  <a:srgbClr val="3D4657"/>
                </a:solidFill>
                <a:latin typeface="IBM Plex Sans" pitchFamily="34" charset="0"/>
                <a:ea typeface="IBM Plex Sans" pitchFamily="34" charset="-122"/>
                <a:cs typeface="IBM Plex Sans" pitchFamily="34" charset="-120"/>
              </a:rPr>
              <a:t> instead of settling at 0.5.</a:t>
            </a:r>
            <a:endParaRPr lang="en-US" sz="1400" dirty="0"/>
          </a:p>
        </p:txBody>
      </p:sp>
      <p:sp>
        <p:nvSpPr>
          <p:cNvPr id="13" name="Shape 8"/>
          <p:cNvSpPr/>
          <p:nvPr/>
        </p:nvSpPr>
        <p:spPr>
          <a:xfrm>
            <a:off x="8020050" y="1847850"/>
            <a:ext cx="3352800" cy="3924300"/>
          </a:xfrm>
          <a:prstGeom prst="roundRect">
            <a:avLst>
              <a:gd name="adj" fmla="val 2841"/>
            </a:avLst>
          </a:prstGeom>
          <a:solidFill>
            <a:srgbClr val="FFFDF8"/>
          </a:solidFill>
          <a:ln w="12700">
            <a:solidFill>
              <a:srgbClr val="E4DED0"/>
            </a:solidFill>
            <a:prstDash val="solid"/>
          </a:ln>
        </p:spPr>
      </p:sp>
      <p:sp>
        <p:nvSpPr>
          <p:cNvPr id="14" name="Text 9"/>
          <p:cNvSpPr/>
          <p:nvPr/>
        </p:nvSpPr>
        <p:spPr>
          <a:xfrm>
            <a:off x="8248650" y="2032000"/>
            <a:ext cx="3008630"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4213D"/>
                </a:solidFill>
                <a:latin typeface="Space Grotesk" pitchFamily="34" charset="0"/>
                <a:ea typeface="Space Grotesk" pitchFamily="34" charset="-122"/>
                <a:cs typeface="Space Grotesk" pitchFamily="34" charset="-120"/>
              </a:rPr>
              <a:t>D too strong</a:t>
            </a:r>
            <a:endParaRPr lang="en-US" sz="1900" dirty="0"/>
          </a:p>
        </p:txBody>
      </p:sp>
      <p:sp>
        <p:nvSpPr>
          <p:cNvPr id="15" name="Text 10"/>
          <p:cNvSpPr/>
          <p:nvPr/>
        </p:nvSpPr>
        <p:spPr>
          <a:xfrm>
            <a:off x="8248650" y="2540000"/>
            <a:ext cx="3008630"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657"/>
                </a:solidFill>
                <a:latin typeface="IBM Plex Sans" pitchFamily="34" charset="0"/>
                <a:ea typeface="IBM Plex Sans" pitchFamily="34" charset="-122"/>
                <a:cs typeface="IBM Plex Sans" pitchFamily="34" charset="-120"/>
              </a:rPr>
              <a:t>D rejects every fake with total confidence. With the original loss G's gradient </a:t>
            </a:r>
            <a:r>
              <a:rPr lang="en-US" sz="1400" b="1" dirty="0">
                <a:solidFill>
                  <a:srgbClr val="3D4657"/>
                </a:solidFill>
                <a:latin typeface="IBM Plex Sans" pitchFamily="34" charset="0"/>
                <a:ea typeface="IBM Plex Sans" pitchFamily="34" charset="-122"/>
                <a:cs typeface="IBM Plex Sans" pitchFamily="34" charset="-120"/>
              </a:rPr>
              <a:t>vanishes</a:t>
            </a:r>
            <a:r>
              <a:rPr lang="en-US" sz="1400" dirty="0">
                <a:solidFill>
                  <a:srgbClr val="3D4657"/>
                </a:solidFill>
                <a:latin typeface="IBM Plex Sans" pitchFamily="34" charset="0"/>
                <a:ea typeface="IBM Plex Sans" pitchFamily="34" charset="-122"/>
                <a:cs typeface="IBM Plex Sans" pitchFamily="34" charset="-120"/>
              </a:rPr>
              <a:t>, so G stops learning. Balance matters.</a:t>
            </a:r>
            <a:endParaRPr lang="en-US" sz="1400" dirty="0"/>
          </a:p>
        </p:txBody>
      </p:sp>
      <p:sp>
        <p:nvSpPr>
          <p:cNvPr id="16" name="Text 11"/>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1 · 06 Training · min 75–77 · notebook cell 2: "Challenges: mode collapse, instability"</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06 · THE BIGGER PICTURE · COMING LATER IN THIS MODULE</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GANs among other generative models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90700"/>
          <a:ext cx="10553700" cy="2258864"/>
        </p:xfrm>
        <a:graphic>
          <a:graphicData uri="http://schemas.openxmlformats.org/drawingml/2006/table">
            <a:tbl>
              <a:tblPr/>
              <a:tblGrid>
                <a:gridCol w="2005203"/>
                <a:gridCol w="2849499"/>
                <a:gridCol w="2849499"/>
                <a:gridCol w="2849499"/>
              </a:tblGrid>
              <a:tr h="359321">
                <a:tc>
                  <a:txBody>
                    <a:bodyPr/>
                    <a:lstStyle/>
                    <a:p>
                      <a:pPr indent="0" marL="0">
                        <a:lnSpc>
                          <a:spcPts val="1820"/>
                        </a:lnSpc>
                        <a:buNone/>
                      </a:pP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GAN (today)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VAE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Diffusion model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r>
              <a:tr h="59045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How it learns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A generator vs a discriminator game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Encode, then decode; reconstruction + KL loss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Learn to remove noise, a little at a time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Making a sample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One forward pass: fast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One decoder pass: fast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Many denoising steps: slower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Typical images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Sharp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Often blurrier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Sharp and varied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59045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Main difficulty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Unstable training, mode collapse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Blur; quality vs latent structure trade-off</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Slow sampling, heavy compute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Text 2"/>
          <p:cNvSpPr/>
          <p:nvPr/>
        </p:nvSpPr>
        <p:spPr>
          <a:xfrm>
            <a:off x="812800" y="53975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All three answer the same question: </a:t>
            </a:r>
            <a:r>
              <a:rPr lang="en-US" sz="1500" b="1" dirty="0">
                <a:solidFill>
                  <a:srgbClr val="14213D"/>
                </a:solidFill>
                <a:latin typeface="IBM Plex Sans" pitchFamily="34" charset="0"/>
                <a:ea typeface="IBM Plex Sans" pitchFamily="34" charset="-122"/>
                <a:cs typeface="IBM Plex Sans" pitchFamily="34" charset="-120"/>
              </a:rPr>
              <a:t>how do we draw new samples that follow p_data?</a:t>
            </a:r>
            <a:endParaRPr lang="en-US" sz="1500" dirty="0"/>
          </a:p>
        </p:txBody>
      </p:sp>
      <p:sp>
        <p:nvSpPr>
          <p:cNvPr id="6" name="Text 3"/>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1 · 06 Training · min 77–79 · notebook wrap-up: "GANs vs VAEs comparison"</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BF0CF"/>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0"/>
                </a:solidFill>
                <a:latin typeface="IBM Plex Sans" pitchFamily="34" charset="0"/>
                <a:ea typeface="IBM Plex Sans" pitchFamily="34" charset="-122"/>
                <a:cs typeface="IBM Plex Sans" pitchFamily="34" charset="-120"/>
              </a:rPr>
              <a:t>RECAP · STORY, MATHS AND CODE</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Everything so far, in three languages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90700"/>
          <a:ext cx="10553700" cy="3088084"/>
        </p:xfrm>
        <a:graphic>
          <a:graphicData uri="http://schemas.openxmlformats.org/drawingml/2006/table">
            <a:tbl>
              <a:tblPr/>
              <a:tblGrid>
                <a:gridCol w="3166110"/>
                <a:gridCol w="3166110"/>
                <a:gridCol w="4221480"/>
              </a:tblGrid>
              <a:tr h="386011">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Flower story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0A6"/>
                      </a:solidFill>
                      <a:prstDash val="solid"/>
                      <a:round/>
                      <a:headEnd type="none" w="med" len="med"/>
                      <a:tailEnd type="none" w="med" len="med"/>
                    </a:lnL>
                    <a:lnR w="12700" cap="flat" cmpd="sng" algn="ctr">
                      <a:solidFill>
                        <a:srgbClr val="BAB29A"/>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BAB29A"/>
                      </a:solidFill>
                      <a:prstDash val="solid"/>
                      <a:round/>
                      <a:headEnd type="none" w="med" len="med"/>
                      <a:tailEnd type="none" w="med" len="med"/>
                    </a:lnB>
                    <a:solidFill>
                      <a:srgbClr val="E9DEC0"/>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Maths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B29A"/>
                      </a:solidFill>
                      <a:prstDash val="solid"/>
                      <a:round/>
                      <a:headEnd type="none" w="med" len="med"/>
                      <a:tailEnd type="none" w="med" len="med"/>
                    </a:lnL>
                    <a:lnR w="12700" cap="flat" cmpd="sng" algn="ctr">
                      <a:solidFill>
                        <a:srgbClr val="BAB29A"/>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BAB29A"/>
                      </a:solidFill>
                      <a:prstDash val="solid"/>
                      <a:round/>
                      <a:headEnd type="none" w="med" len="med"/>
                      <a:tailEnd type="none" w="med" len="med"/>
                    </a:lnB>
                    <a:solidFill>
                      <a:srgbClr val="E9DEC0"/>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Notebook code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B29A"/>
                      </a:solidFill>
                      <a:prstDash val="solid"/>
                      <a:round/>
                      <a:headEnd type="none" w="med" len="med"/>
                      <a:tailEnd type="none" w="med" len="med"/>
                    </a:lnL>
                    <a:lnR w="12700" cap="flat" cmpd="sng" algn="ctr">
                      <a:solidFill>
                        <a:srgbClr val="BAB29A"/>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BAB29A"/>
                      </a:solidFill>
                      <a:prstDash val="solid"/>
                      <a:round/>
                      <a:headEnd type="none" w="med" len="med"/>
                      <a:tailEnd type="none" w="med" len="med"/>
                    </a:lnB>
                    <a:solidFill>
                      <a:srgbClr val="E9DEC0"/>
                    </a:solidFill>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Real flower photos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BAB29A"/>
                      </a:solidFill>
                      <a:prstDash val="solid"/>
                      <a:round/>
                      <a:headEnd type="none" w="med" len="med"/>
                      <a:tailEnd type="none" w="med" len="med"/>
                    </a:lnT>
                    <a:lnB w="12700" cap="flat" cmpd="sng" algn="ctr">
                      <a:solidFill>
                        <a:srgbClr val="C8C0A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x ~ p_data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BAB29A"/>
                      </a:solidFill>
                      <a:prstDash val="solid"/>
                      <a:round/>
                      <a:headEnd type="none" w="med" len="med"/>
                      <a:tailEnd type="none" w="med" len="med"/>
                    </a:lnT>
                    <a:lnB w="12700" cap="flat" cmpd="sng" algn="ctr">
                      <a:solidFill>
                        <a:srgbClr val="C8C0A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for real, _ in train_loader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BAB29A"/>
                      </a:solidFill>
                      <a:prstDash val="solid"/>
                      <a:round/>
                      <a:headEnd type="none" w="med" len="med"/>
                      <a:tailEnd type="none" w="med" len="med"/>
                    </a:lnT>
                    <a:lnB w="12700" cap="flat" cmpd="sng" algn="ctr">
                      <a:solidFill>
                        <a:srgbClr val="C8C0A6"/>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Forger's blank idea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C8C0A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z ~ N(0, 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C8C0A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torch.randn(batch_size, 100)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C8C0A6"/>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Forger paints a flower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C8C0A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G(z)</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C8C0A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fake = generator(noise)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C8C0A6"/>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Inspector's verdict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C8C0A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D(x), D(G(z))</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C8C0A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discriminator(real), (fake)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C8C0A6"/>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Inspector studies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C8C0A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max_D V</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C8C0A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loss_d = loss_real + loss_fake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C8C0A6"/>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Forger improves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C8C0A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min_G (non-saturating)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C8C0A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criterion(outputs_fake, labels_real)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C8C0A6"/>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Fakes pass as real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C8C0A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p_g = p_data, D = ½</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C8C0A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loss_d ≈ 1.386, loss_g ≈ 0.693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C8C0A6"/>
                      </a:solidFill>
                      <a:prstDash val="solid"/>
                      <a:round/>
                      <a:headEnd type="none" w="med" len="med"/>
                      <a:tailEnd type="none" w="med" len="med"/>
                    </a:lnB>
                  </a:tcPr>
                </a:tc>
              </a:tr>
            </a:tbl>
          </a:graphicData>
        </a:graphic>
      </p:graphicFrame>
      <p:sp>
        <p:nvSpPr>
          <p:cNvPr id="5" name="Text 2"/>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1 · 06 Training · min 79–81 · end of the conceptual part</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1905000"/>
            <a:ext cx="3924300"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E9B949"/>
                </a:solidFill>
                <a:latin typeface="Space Grotesk" pitchFamily="34" charset="0"/>
                <a:ea typeface="Space Grotesk" pitchFamily="34" charset="-122"/>
                <a:cs typeface="Space Grotesk" pitchFamily="34" charset="-120"/>
              </a:rPr>
              <a:t>07</a:t>
            </a:r>
            <a:endParaRPr lang="en-US" sz="8000" dirty="0"/>
          </a:p>
        </p:txBody>
      </p:sp>
      <p:sp>
        <p:nvSpPr>
          <p:cNvPr id="3" name="Text 1"/>
          <p:cNvSpPr/>
          <p:nvPr/>
        </p:nvSpPr>
        <p:spPr>
          <a:xfrm>
            <a:off x="812800" y="3175000"/>
            <a:ext cx="10464800"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6F3EC"/>
                </a:solidFill>
                <a:latin typeface="Space Grotesk" pitchFamily="34" charset="0"/>
                <a:ea typeface="Space Grotesk" pitchFamily="34" charset="-122"/>
                <a:cs typeface="Space Grotesk" pitchFamily="34" charset="-120"/>
              </a:rPr>
              <a:t>MNIST and the notebook</a:t>
            </a:r>
            <a:endParaRPr lang="en-US" sz="4400" dirty="0"/>
          </a:p>
        </p:txBody>
      </p:sp>
      <p:sp>
        <p:nvSpPr>
          <p:cNvPr id="4" name="Text 2"/>
          <p:cNvSpPr/>
          <p:nvPr/>
        </p:nvSpPr>
        <p:spPr>
          <a:xfrm>
            <a:off x="812800" y="4064000"/>
            <a:ext cx="9156700"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BFC8D6"/>
                </a:solidFill>
                <a:latin typeface="IBM Plex Sans" pitchFamily="34" charset="0"/>
                <a:ea typeface="IBM Plex Sans" pitchFamily="34" charset="-122"/>
                <a:cs typeface="IBM Plex Sans" pitchFamily="34" charset="-120"/>
              </a:rPr>
              <a:t>Meet the data, then 60 minutes hands-on with CV-Week4-Lecture1.ipynb.</a:t>
            </a:r>
            <a:endParaRPr lang="en-US" sz="1800" dirty="0"/>
          </a:p>
        </p:txBody>
      </p:sp>
      <p:sp>
        <p:nvSpPr>
          <p:cNvPr id="5" name="Text 3"/>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E9AAF"/>
                </a:solidFill>
                <a:latin typeface="IBM Plex Sans" pitchFamily="34" charset="0"/>
                <a:ea typeface="IBM Plex Sans" pitchFamily="34" charset="-122"/>
                <a:cs typeface="IBM Plex Sans" pitchFamily="34" charset="-120"/>
              </a:rPr>
              <a:t>GAN Class 1 · min 81–145</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07 · BRIDGE</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From flower forger to digit forger</a:t>
            </a:r>
            <a:endParaRPr lang="en-US" sz="3200" dirty="0"/>
          </a:p>
        </p:txBody>
      </p:sp>
      <p:pic>
        <p:nvPicPr>
          <p:cNvPr id="4" name="Image 0" descr="Flower">    </p:cNvPr>
          <p:cNvPicPr>
            <a:picLocks noChangeAspect="1"/>
          </p:cNvPicPr>
          <p:nvPr/>
        </p:nvPicPr>
        <p:blipFill>
          <a:blip r:embed="rId1"/>
          <a:srcRect l="0" r="0" t="0" b="0"/>
          <a:stretch/>
        </p:blipFill>
        <p:spPr>
          <a:xfrm>
            <a:off x="812800" y="1905000"/>
            <a:ext cx="1270000" cy="1270000"/>
          </a:xfrm>
          <a:prstGeom prst="rect">
            <a:avLst/>
          </a:prstGeom>
        </p:spPr>
      </p:pic>
      <p:pic>
        <p:nvPicPr>
          <p:cNvPr id="5" name="Image 1" descr="Flower">    </p:cNvPr>
          <p:cNvPicPr>
            <a:picLocks noChangeAspect="1"/>
          </p:cNvPicPr>
          <p:nvPr/>
        </p:nvPicPr>
        <p:blipFill>
          <a:blip r:embed="rId2"/>
          <a:srcRect l="0" r="0" t="0" b="0"/>
          <a:stretch/>
        </p:blipFill>
        <p:spPr>
          <a:xfrm>
            <a:off x="2032000" y="1905000"/>
            <a:ext cx="1270000" cy="1270000"/>
          </a:xfrm>
          <a:prstGeom prst="rect">
            <a:avLst/>
          </a:prstGeom>
        </p:spPr>
      </p:pic>
      <p:pic>
        <p:nvPicPr>
          <p:cNvPr id="6" name="Image 2" descr="arrow-right">    </p:cNvPr>
          <p:cNvPicPr>
            <a:picLocks noChangeAspect="1"/>
          </p:cNvPicPr>
          <p:nvPr/>
        </p:nvPicPr>
        <p:blipFill>
          <a:blip r:embed="rId3"/>
          <a:srcRect l="0" r="0" t="0" b="0"/>
          <a:stretch/>
        </p:blipFill>
        <p:spPr>
          <a:xfrm>
            <a:off x="3556000" y="2349500"/>
            <a:ext cx="825500" cy="381000"/>
          </a:xfrm>
          <a:prstGeom prst="rect">
            <a:avLst/>
          </a:prstGeom>
        </p:spPr>
      </p:pic>
      <p:sp>
        <p:nvSpPr>
          <p:cNvPr id="7" name="Shape 2"/>
          <p:cNvSpPr/>
          <p:nvPr/>
        </p:nvSpPr>
        <p:spPr>
          <a:xfrm>
            <a:off x="4635500" y="2095500"/>
            <a:ext cx="6743700" cy="889000"/>
          </a:xfrm>
          <a:prstGeom prst="roundRect">
            <a:avLst>
              <a:gd name="adj" fmla="val 8571"/>
            </a:avLst>
          </a:prstGeom>
          <a:solidFill>
            <a:srgbClr val="14213D"/>
          </a:solidFill>
          <a:ln/>
        </p:spPr>
      </p:sp>
      <p:pic>
        <p:nvPicPr>
          <p:cNvPr id="8" name="Image 3" descr="Row of handwritten-style digits 5 0 4 1 9 2 1 3 1 4">    </p:cNvPr>
          <p:cNvPicPr>
            <a:picLocks noChangeAspect="1"/>
          </p:cNvPicPr>
          <p:nvPr/>
        </p:nvPicPr>
        <p:blipFill>
          <a:blip r:embed="rId4"/>
          <a:srcRect l="0" r="0" t="-8359" b="-8359"/>
          <a:stretch/>
        </p:blipFill>
        <p:spPr>
          <a:xfrm>
            <a:off x="4762500" y="2222500"/>
            <a:ext cx="6489700" cy="635000"/>
          </a:xfrm>
          <a:prstGeom prst="rect">
            <a:avLst/>
          </a:prstGeom>
        </p:spPr>
      </p:pic>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5500" y="3441700"/>
          <a:ext cx="10553700" cy="2063750"/>
        </p:xfrm>
        <a:graphic>
          <a:graphicData uri="http://schemas.openxmlformats.org/drawingml/2006/table">
            <a:tbl>
              <a:tblPr/>
              <a:tblGrid>
                <a:gridCol w="2955036"/>
                <a:gridCol w="3799332"/>
                <a:gridCol w="3799332"/>
              </a:tblGrid>
              <a:tr h="412750">
                <a:tc>
                  <a:txBody>
                    <a:bodyPr/>
                    <a:lstStyle/>
                    <a:p>
                      <a:pPr indent="0" marL="0">
                        <a:lnSpc>
                          <a:spcPts val="2100"/>
                        </a:lnSpc>
                        <a:buNone/>
                      </a:pP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Flower story</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Notebook (MNIST)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r>
              <a:tr h="41275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Real data</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flower photos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60,000 digits, 28×28, grey</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1275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Forger G</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paints flowers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100 noise values → 784 pixels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1275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Inspector 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real or fake flower?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784 pixels → P(real)</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1275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Unconditional</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any flower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any digit: we can't choose which</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10" name="Text 3"/>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1 · 07 Notebook · min 81–82 · digit strip is an illustration in MNIST style</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07 · MEET THE DATA</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What is MNIST?</a:t>
            </a:r>
            <a:endParaRPr lang="en-US" sz="3200" dirty="0"/>
          </a:p>
        </p:txBody>
      </p:sp>
      <p:sp>
        <p:nvSpPr>
          <p:cNvPr id="4" name="Text 2"/>
          <p:cNvSpPr/>
          <p:nvPr/>
        </p:nvSpPr>
        <p:spPr>
          <a:xfrm>
            <a:off x="812800" y="1714500"/>
            <a:ext cx="6540500"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MNIST</a:t>
            </a:r>
            <a:r>
              <a:rPr lang="en-US" sz="1600" dirty="0">
                <a:solidFill>
                  <a:srgbClr val="14213D"/>
                </a:solidFill>
                <a:latin typeface="IBM Plex Sans" pitchFamily="34" charset="0"/>
                <a:ea typeface="IBM Plex Sans" pitchFamily="34" charset="-122"/>
                <a:cs typeface="IBM Plex Sans" pitchFamily="34" charset="-120"/>
              </a:rPr>
              <a:t> = </a:t>
            </a:r>
            <a:r>
              <a:rPr lang="en-US" sz="1600" b="1" dirty="0">
                <a:solidFill>
                  <a:srgbClr val="14213D"/>
                </a:solidFill>
                <a:latin typeface="IBM Plex Sans" pitchFamily="34" charset="0"/>
                <a:ea typeface="IBM Plex Sans" pitchFamily="34" charset="-122"/>
                <a:cs typeface="IBM Plex Sans" pitchFamily="34" charset="-120"/>
              </a:rPr>
              <a:t>M</a:t>
            </a:r>
            <a:r>
              <a:rPr lang="en-US" sz="1600" dirty="0">
                <a:solidFill>
                  <a:srgbClr val="14213D"/>
                </a:solidFill>
                <a:latin typeface="IBM Plex Sans" pitchFamily="34" charset="0"/>
                <a:ea typeface="IBM Plex Sans" pitchFamily="34" charset="-122"/>
                <a:cs typeface="IBM Plex Sans" pitchFamily="34" charset="-120"/>
              </a:rPr>
              <a:t>odified </a:t>
            </a:r>
            <a:r>
              <a:rPr lang="en-US" sz="1600" b="1" dirty="0">
                <a:solidFill>
                  <a:srgbClr val="14213D"/>
                </a:solidFill>
                <a:latin typeface="IBM Plex Sans" pitchFamily="34" charset="0"/>
                <a:ea typeface="IBM Plex Sans" pitchFamily="34" charset="-122"/>
                <a:cs typeface="IBM Plex Sans" pitchFamily="34" charset="-120"/>
              </a:rPr>
              <a:t>N</a:t>
            </a:r>
            <a:r>
              <a:rPr lang="en-US" sz="1600" dirty="0">
                <a:solidFill>
                  <a:srgbClr val="14213D"/>
                </a:solidFill>
                <a:latin typeface="IBM Plex Sans" pitchFamily="34" charset="0"/>
                <a:ea typeface="IBM Plex Sans" pitchFamily="34" charset="-122"/>
                <a:cs typeface="IBM Plex Sans" pitchFamily="34" charset="-120"/>
              </a:rPr>
              <a:t>ational </a:t>
            </a:r>
            <a:r>
              <a:rPr lang="en-US" sz="1600" b="1" dirty="0">
                <a:solidFill>
                  <a:srgbClr val="14213D"/>
                </a:solidFill>
                <a:latin typeface="IBM Plex Sans" pitchFamily="34" charset="0"/>
                <a:ea typeface="IBM Plex Sans" pitchFamily="34" charset="-122"/>
                <a:cs typeface="IBM Plex Sans" pitchFamily="34" charset="-120"/>
              </a:rPr>
              <a:t>I</a:t>
            </a:r>
            <a:r>
              <a:rPr lang="en-US" sz="1600" dirty="0">
                <a:solidFill>
                  <a:srgbClr val="14213D"/>
                </a:solidFill>
                <a:latin typeface="IBM Plex Sans" pitchFamily="34" charset="0"/>
                <a:ea typeface="IBM Plex Sans" pitchFamily="34" charset="-122"/>
                <a:cs typeface="IBM Plex Sans" pitchFamily="34" charset="-120"/>
              </a:rPr>
              <a:t>nstitute of </a:t>
            </a:r>
            <a:r>
              <a:rPr lang="en-US" sz="1600" b="1" dirty="0">
                <a:solidFill>
                  <a:srgbClr val="14213D"/>
                </a:solidFill>
                <a:latin typeface="IBM Plex Sans" pitchFamily="34" charset="0"/>
                <a:ea typeface="IBM Plex Sans" pitchFamily="34" charset="-122"/>
                <a:cs typeface="IBM Plex Sans" pitchFamily="34" charset="-120"/>
              </a:rPr>
              <a:t>S</a:t>
            </a:r>
            <a:r>
              <a:rPr lang="en-US" sz="1600" dirty="0">
                <a:solidFill>
                  <a:srgbClr val="14213D"/>
                </a:solidFill>
                <a:latin typeface="IBM Plex Sans" pitchFamily="34" charset="0"/>
                <a:ea typeface="IBM Plex Sans" pitchFamily="34" charset="-122"/>
                <a:cs typeface="IBM Plex Sans" pitchFamily="34" charset="-120"/>
              </a:rPr>
              <a:t>tandards and </a:t>
            </a:r>
            <a:r>
              <a:rPr lang="en-US" sz="1600" b="1" dirty="0">
                <a:solidFill>
                  <a:srgbClr val="14213D"/>
                </a:solidFill>
                <a:latin typeface="IBM Plex Sans" pitchFamily="34" charset="0"/>
                <a:ea typeface="IBM Plex Sans" pitchFamily="34" charset="-122"/>
                <a:cs typeface="IBM Plex Sans" pitchFamily="34" charset="-120"/>
              </a:rPr>
              <a:t>T</a:t>
            </a:r>
            <a:r>
              <a:rPr lang="en-US" sz="1600" dirty="0">
                <a:solidFill>
                  <a:srgbClr val="14213D"/>
                </a:solidFill>
                <a:latin typeface="IBM Plex Sans" pitchFamily="34" charset="0"/>
                <a:ea typeface="IBM Plex Sans" pitchFamily="34" charset="-122"/>
                <a:cs typeface="IBM Plex Sans" pitchFamily="34" charset="-120"/>
              </a:rPr>
              <a:t>echnology database: a collection of </a:t>
            </a:r>
            <a:r>
              <a:rPr lang="en-US" sz="1600" b="1" dirty="0">
                <a:solidFill>
                  <a:srgbClr val="14213D"/>
                </a:solidFill>
                <a:latin typeface="IBM Plex Sans" pitchFamily="34" charset="0"/>
                <a:ea typeface="IBM Plex Sans" pitchFamily="34" charset="-122"/>
                <a:cs typeface="IBM Plex Sans" pitchFamily="34" charset="-120"/>
              </a:rPr>
              <a:t>handwritten digits 0–9</a:t>
            </a:r>
            <a:r>
              <a:rPr lang="en-US" sz="1600" dirty="0">
                <a:solidFill>
                  <a:srgbClr val="14213D"/>
                </a:solidFill>
                <a:latin typeface="IBM Plex Sans" pitchFamily="34" charset="0"/>
                <a:ea typeface="IBM Plex Sans" pitchFamily="34" charset="-122"/>
                <a:cs typeface="IBM Plex Sans" pitchFamily="34" charset="-120"/>
              </a:rPr>
              <a:t>.</a:t>
            </a:r>
            <a:endParaRPr lang="en-US" sz="1600" dirty="0"/>
          </a:p>
        </p:txBody>
      </p:sp>
      <p:sp>
        <p:nvSpPr>
          <p:cNvPr id="5" name="Shape 3"/>
          <p:cNvSpPr/>
          <p:nvPr/>
        </p:nvSpPr>
        <p:spPr>
          <a:xfrm>
            <a:off x="7493000" y="1714500"/>
            <a:ext cx="3886200" cy="3886200"/>
          </a:xfrm>
          <a:prstGeom prst="roundRect">
            <a:avLst>
              <a:gd name="adj" fmla="val 2614"/>
            </a:avLst>
          </a:prstGeom>
          <a:solidFill>
            <a:srgbClr val="14213D"/>
          </a:solidFill>
          <a:ln/>
        </p:spPr>
      </p:sp>
      <p:pic>
        <p:nvPicPr>
          <p:cNvPr id="6" name="Image 0" descr="One MNIST-style digit 7 shown as a 28 by 28 grid of grey pixels">    </p:cNvPr>
          <p:cNvPicPr>
            <a:picLocks noChangeAspect="1"/>
          </p:cNvPicPr>
          <p:nvPr/>
        </p:nvPicPr>
        <p:blipFill>
          <a:blip r:embed="rId1"/>
          <a:srcRect l="0" r="0" t="0" b="0"/>
          <a:stretch/>
        </p:blipFill>
        <p:spPr>
          <a:xfrm>
            <a:off x="7620000" y="1841500"/>
            <a:ext cx="3632200" cy="3632200"/>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2552700"/>
          <a:ext cx="6337300" cy="2515245"/>
        </p:xfrm>
        <a:graphic>
          <a:graphicData uri="http://schemas.openxmlformats.org/drawingml/2006/table">
            <a:tbl>
              <a:tblPr/>
              <a:tblGrid>
                <a:gridCol w="2027936"/>
                <a:gridCol w="4309364"/>
              </a:tblGrid>
              <a:tr h="359321">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Fact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Value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Images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70,000: 60,000 train + 10,000 test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Size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28 × 28 pixels = 784 pixels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Colour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Greyscale, 0 (black) to 255 (white)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Labels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The digit shown, 0 to 9 (10 classes)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Writers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Census Bureau staff, high-school students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Published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LeCun, Cortes and Burges, 1998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8" name="Text 4"/>
          <p:cNvSpPr/>
          <p:nvPr/>
        </p:nvSpPr>
        <p:spPr>
          <a:xfrm>
            <a:off x="812800" y="5270500"/>
            <a:ext cx="654050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D4657"/>
                </a:solidFill>
                <a:latin typeface="IBM Plex Sans" pitchFamily="34" charset="0"/>
                <a:ea typeface="IBM Plex Sans" pitchFamily="34" charset="-122"/>
                <a:cs typeface="IBM Plex Sans" pitchFamily="34" charset="-120"/>
              </a:rPr>
              <a:t>Each digit is size-normalised and centred. It is often called the "hello world" of machine learning.</a:t>
            </a:r>
            <a:endParaRPr lang="en-US" sz="1300" dirty="0"/>
          </a:p>
        </p:txBody>
      </p:sp>
      <p:sp>
        <p:nvSpPr>
          <p:cNvPr id="9" name="Text 5"/>
          <p:cNvSpPr/>
          <p:nvPr/>
        </p:nvSpPr>
        <p:spPr>
          <a:xfrm>
            <a:off x="7434707" y="5683250"/>
            <a:ext cx="4002786"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One digit = 28 × 28 grid (illustration)</a:t>
            </a:r>
            <a:endParaRPr lang="en-US" sz="1200" dirty="0"/>
          </a:p>
        </p:txBody>
      </p:sp>
      <p:sp>
        <p:nvSpPr>
          <p:cNvPr id="10" name="Text 6"/>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1 · 07 Data and notebook · min 82–84</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07 · MEET THE DATA · FROM PICTURE TO NUMBERS</a:t>
            </a:r>
            <a:endParaRPr lang="en-US" sz="1200" dirty="0"/>
          </a:p>
        </p:txBody>
      </p:sp>
      <p:sp>
        <p:nvSpPr>
          <p:cNvPr id="3" name="Text 1"/>
          <p:cNvSpPr/>
          <p:nvPr/>
        </p:nvSpPr>
        <p:spPr>
          <a:xfrm>
            <a:off x="812800" y="82550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How an MNIST digit becomes numbers for the network</a:t>
            </a:r>
            <a:endParaRPr lang="en-US" sz="3200" dirty="0"/>
          </a:p>
        </p:txBody>
      </p:sp>
      <p:sp>
        <p:nvSpPr>
          <p:cNvPr id="4" name="Shape 2"/>
          <p:cNvSpPr/>
          <p:nvPr/>
        </p:nvSpPr>
        <p:spPr>
          <a:xfrm>
            <a:off x="812800" y="1905000"/>
            <a:ext cx="3810000" cy="3810000"/>
          </a:xfrm>
          <a:prstGeom prst="roundRect">
            <a:avLst>
              <a:gd name="adj" fmla="val 2667"/>
            </a:avLst>
          </a:prstGeom>
          <a:solidFill>
            <a:srgbClr val="14213D"/>
          </a:solidFill>
          <a:ln/>
        </p:spPr>
      </p:sp>
      <p:pic>
        <p:nvPicPr>
          <p:cNvPr id="5" name="Image 0" descr="An 8 by 8 corner of a digit with each pixel's value from 0 to 255 written on it">    </p:cNvPr>
          <p:cNvPicPr>
            <a:picLocks noChangeAspect="1"/>
          </p:cNvPicPr>
          <p:nvPr/>
        </p:nvPicPr>
        <p:blipFill>
          <a:blip r:embed="rId1"/>
          <a:srcRect l="0" r="0" t="0" b="0"/>
          <a:stretch/>
        </p:blipFill>
        <p:spPr>
          <a:xfrm>
            <a:off x="939800" y="2032000"/>
            <a:ext cx="3556000" cy="3556000"/>
          </a:xfrm>
          <a:prstGeom prst="rect">
            <a:avLst/>
          </a:prstGeom>
        </p:spPr>
      </p:pic>
      <p:sp>
        <p:nvSpPr>
          <p:cNvPr id="6" name="Text 3"/>
          <p:cNvSpPr/>
          <p:nvPr/>
        </p:nvSpPr>
        <p:spPr>
          <a:xfrm>
            <a:off x="5016500" y="1905000"/>
            <a:ext cx="5588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9B949"/>
                </a:solidFill>
                <a:latin typeface="Space Grotesk" pitchFamily="34" charset="0"/>
                <a:ea typeface="Space Grotesk" pitchFamily="34" charset="-122"/>
                <a:cs typeface="Space Grotesk" pitchFamily="34" charset="-120"/>
              </a:rPr>
              <a:t>1</a:t>
            </a:r>
            <a:endParaRPr lang="en-US" sz="2200" dirty="0"/>
          </a:p>
        </p:txBody>
      </p:sp>
      <p:sp>
        <p:nvSpPr>
          <p:cNvPr id="7" name="Text 4"/>
          <p:cNvSpPr/>
          <p:nvPr/>
        </p:nvSpPr>
        <p:spPr>
          <a:xfrm>
            <a:off x="5524500" y="1936750"/>
            <a:ext cx="6030341"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Stored:</a:t>
            </a:r>
            <a:r>
              <a:rPr lang="en-US" sz="1500" dirty="0">
                <a:solidFill>
                  <a:srgbClr val="14213D"/>
                </a:solidFill>
                <a:latin typeface="IBM Plex Sans" pitchFamily="34" charset="0"/>
                <a:ea typeface="IBM Plex Sans" pitchFamily="34" charset="-122"/>
                <a:cs typeface="IBM Plex Sans" pitchFamily="34" charset="-120"/>
              </a:rPr>
              <a:t> whole numbers 0–255 per pixel (left: a zoomed 8 × 8 corner).</a:t>
            </a:r>
            <a:endParaRPr lang="en-US" sz="1500" dirty="0"/>
          </a:p>
        </p:txBody>
      </p:sp>
      <p:sp>
        <p:nvSpPr>
          <p:cNvPr id="8" name="Text 5"/>
          <p:cNvSpPr/>
          <p:nvPr/>
        </p:nvSpPr>
        <p:spPr>
          <a:xfrm>
            <a:off x="5016500" y="2667000"/>
            <a:ext cx="5588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9B949"/>
                </a:solidFill>
                <a:latin typeface="Space Grotesk" pitchFamily="34" charset="0"/>
                <a:ea typeface="Space Grotesk" pitchFamily="34" charset="-122"/>
                <a:cs typeface="Space Grotesk" pitchFamily="34" charset="-120"/>
              </a:rPr>
              <a:t>2</a:t>
            </a:r>
            <a:endParaRPr lang="en-US" sz="2200" dirty="0"/>
          </a:p>
        </p:txBody>
      </p:sp>
      <p:sp>
        <p:nvSpPr>
          <p:cNvPr id="9" name="Text 6"/>
          <p:cNvSpPr/>
          <p:nvPr/>
        </p:nvSpPr>
        <p:spPr>
          <a:xfrm>
            <a:off x="5524500" y="2698750"/>
            <a:ext cx="603034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ToTensor():</a:t>
            </a:r>
            <a:r>
              <a:rPr lang="en-US" sz="1500" dirty="0">
                <a:solidFill>
                  <a:srgbClr val="14213D"/>
                </a:solidFill>
                <a:latin typeface="IBM Plex Sans" pitchFamily="34" charset="0"/>
                <a:ea typeface="IBM Plex Sans" pitchFamily="34" charset="-122"/>
                <a:cs typeface="IBM Plex Sans" pitchFamily="34" charset="-120"/>
              </a:rPr>
              <a:t> divide by 255 → values 0.0–1.0, shape (1, 28, 28).</a:t>
            </a:r>
            <a:endParaRPr lang="en-US" sz="1500" dirty="0"/>
          </a:p>
        </p:txBody>
      </p:sp>
      <p:sp>
        <p:nvSpPr>
          <p:cNvPr id="10" name="Text 7"/>
          <p:cNvSpPr/>
          <p:nvPr/>
        </p:nvSpPr>
        <p:spPr>
          <a:xfrm>
            <a:off x="5016500" y="3429000"/>
            <a:ext cx="5588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9B949"/>
                </a:solidFill>
                <a:latin typeface="Space Grotesk" pitchFamily="34" charset="0"/>
                <a:ea typeface="Space Grotesk" pitchFamily="34" charset="-122"/>
                <a:cs typeface="Space Grotesk" pitchFamily="34" charset="-120"/>
              </a:rPr>
              <a:t>3</a:t>
            </a:r>
            <a:endParaRPr lang="en-US" sz="2200" dirty="0"/>
          </a:p>
        </p:txBody>
      </p:sp>
      <p:sp>
        <p:nvSpPr>
          <p:cNvPr id="11" name="Text 8"/>
          <p:cNvSpPr/>
          <p:nvPr/>
        </p:nvSpPr>
        <p:spPr>
          <a:xfrm>
            <a:off x="5524500" y="3460750"/>
            <a:ext cx="6030341"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Normalize((0.5,), (0.5,)):</a:t>
            </a:r>
            <a:r>
              <a:rPr lang="en-US" sz="1500" dirty="0">
                <a:solidFill>
                  <a:srgbClr val="14213D"/>
                </a:solidFill>
                <a:latin typeface="IBM Plex Sans" pitchFamily="34" charset="0"/>
                <a:ea typeface="IBM Plex Sans" pitchFamily="34" charset="-122"/>
                <a:cs typeface="IBM Plex Sans" pitchFamily="34" charset="-120"/>
              </a:rPr>
              <a:t> (v − 0.5) / 0.5 → values −1 to +1, the same range as G's Tanh.</a:t>
            </a:r>
            <a:endParaRPr lang="en-US" sz="1500" dirty="0"/>
          </a:p>
        </p:txBody>
      </p:sp>
      <p:sp>
        <p:nvSpPr>
          <p:cNvPr id="12" name="Text 9"/>
          <p:cNvSpPr/>
          <p:nvPr/>
        </p:nvSpPr>
        <p:spPr>
          <a:xfrm>
            <a:off x="5016500" y="4318000"/>
            <a:ext cx="5588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9B949"/>
                </a:solidFill>
                <a:latin typeface="Space Grotesk" pitchFamily="34" charset="0"/>
                <a:ea typeface="Space Grotesk" pitchFamily="34" charset="-122"/>
                <a:cs typeface="Space Grotesk" pitchFamily="34" charset="-120"/>
              </a:rPr>
              <a:t>4</a:t>
            </a:r>
            <a:endParaRPr lang="en-US" sz="2200" dirty="0"/>
          </a:p>
        </p:txBody>
      </p:sp>
      <p:sp>
        <p:nvSpPr>
          <p:cNvPr id="13" name="Text 10"/>
          <p:cNvSpPr/>
          <p:nvPr/>
        </p:nvSpPr>
        <p:spPr>
          <a:xfrm>
            <a:off x="5524500" y="4349750"/>
            <a:ext cx="6030341"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DataLoader(batch_size=64):</a:t>
            </a:r>
            <a:r>
              <a:rPr lang="en-US" sz="1500" dirty="0">
                <a:solidFill>
                  <a:srgbClr val="14213D"/>
                </a:solidFill>
                <a:latin typeface="IBM Plex Sans" pitchFamily="34" charset="0"/>
                <a:ea typeface="IBM Plex Sans" pitchFamily="34" charset="-122"/>
                <a:cs typeface="IBM Plex Sans" pitchFamily="34" charset="-120"/>
              </a:rPr>
              <a:t> 64 digits at a time → shape (64, 1, 28, 28). D flattens each to 784.</a:t>
            </a:r>
            <a:endParaRPr lang="en-US" sz="1500" dirty="0"/>
          </a:p>
        </p:txBody>
      </p:sp>
      <p:sp>
        <p:nvSpPr>
          <p:cNvPr id="14" name="Text 11"/>
          <p:cNvSpPr/>
          <p:nvPr/>
        </p:nvSpPr>
        <p:spPr>
          <a:xfrm>
            <a:off x="5016500" y="5207000"/>
            <a:ext cx="6553581"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B24E17"/>
                </a:solidFill>
                <a:latin typeface="IBM Plex Sans" pitchFamily="34" charset="0"/>
                <a:ea typeface="IBM Plex Sans" pitchFamily="34" charset="-122"/>
                <a:cs typeface="IBM Plex Sans" pitchFamily="34" charset="-120"/>
              </a:rPr>
              <a:t>Example: pixel 204 → 0.8 → +0.6. Pixel 0 → 0.0 → −1.0.</a:t>
            </a:r>
            <a:endParaRPr lang="en-US" sz="1400" dirty="0"/>
          </a:p>
        </p:txBody>
      </p:sp>
      <p:sp>
        <p:nvSpPr>
          <p:cNvPr id="15" name="Text 12"/>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1 · 07 Data and notebook · min 84–86 · pixel values shown are from an MNIST-style illustration</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07 · MAP OF THE NOTEBOOK</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What we use today, and what waits for later</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90700"/>
          <a:ext cx="10553700" cy="2702074"/>
        </p:xfrm>
        <a:graphic>
          <a:graphicData uri="http://schemas.openxmlformats.org/drawingml/2006/table">
            <a:tbl>
              <a:tblPr/>
              <a:tblGrid>
                <a:gridCol w="844296"/>
                <a:gridCol w="4432554"/>
                <a:gridCol w="2110740"/>
                <a:gridCol w="3166110"/>
              </a:tblGrid>
              <a:tr h="386011">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Cell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Today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When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Introduction: generative vs discriminative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read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covered in section 01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Theory: GANs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read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sections 04–06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Theory: VAEs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skip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VAE classes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4–5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8C0A6"/>
                      </a:solidFill>
                      <a:prstDash val="solid"/>
                      <a:round/>
                      <a:headEnd type="none" w="med" len="med"/>
                      <a:tailEnd type="none" w="med" len="med"/>
                    </a:lnB>
                    <a:solidFill>
                      <a:srgbClr val="FBF0CF"/>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Exercise: GAN on MNIST (code)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8C0A6"/>
                      </a:solidFill>
                      <a:prstDash val="solid"/>
                      <a:round/>
                      <a:headEnd type="none" w="med" len="med"/>
                      <a:tailEnd type="none" w="med" len="med"/>
                    </a:lnB>
                    <a:solidFill>
                      <a:srgbClr val="FBF0CF"/>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run + modify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8C0A6"/>
                      </a:solidFill>
                      <a:prstDash val="solid"/>
                      <a:round/>
                      <a:headEnd type="none" w="med" len="med"/>
                      <a:tailEnd type="none" w="med" len="med"/>
                    </a:lnB>
                    <a:solidFill>
                      <a:srgbClr val="FBF0CF"/>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now, 60 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8C0A6"/>
                      </a:solidFill>
                      <a:prstDash val="solid"/>
                      <a:round/>
                      <a:headEnd type="none" w="med" len="med"/>
                      <a:tailEnd type="none" w="med" len="med"/>
                    </a:lnB>
                    <a:solidFill>
                      <a:srgbClr val="FBF0CF"/>
                    </a:solidFill>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6–7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Mini-project: DCGAN on CelebA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skip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class 3 (DCGAN)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Wrap-up and Conditional GAN assignment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glance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homework / class 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Text 2"/>
          <p:cNvSpPr/>
          <p:nvPr/>
        </p:nvSpPr>
        <p:spPr>
          <a:xfrm>
            <a:off x="812800" y="52070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The whole exercise is </a:t>
            </a:r>
            <a:r>
              <a:rPr lang="en-US" sz="1500" b="1" dirty="0">
                <a:solidFill>
                  <a:srgbClr val="14213D"/>
                </a:solidFill>
                <a:latin typeface="IBM Plex Sans" pitchFamily="34" charset="0"/>
                <a:ea typeface="IBM Plex Sans" pitchFamily="34" charset="-122"/>
                <a:cs typeface="IBM Plex Sans" pitchFamily="34" charset="-120"/>
              </a:rPr>
              <a:t>one code cell</a:t>
            </a:r>
            <a:r>
              <a:rPr lang="en-US" sz="1500" dirty="0">
                <a:solidFill>
                  <a:srgbClr val="14213D"/>
                </a:solidFill>
                <a:latin typeface="IBM Plex Sans" pitchFamily="34" charset="0"/>
                <a:ea typeface="IBM Plex Sans" pitchFamily="34" charset="-122"/>
                <a:cs typeface="IBM Plex Sans" pitchFamily="34" charset="-120"/>
              </a:rPr>
              <a:t>: data → G → D → loss and optimizers → training loop → plot 16 samples.</a:t>
            </a:r>
            <a:endParaRPr lang="en-US" sz="1500" dirty="0"/>
          </a:p>
        </p:txBody>
      </p:sp>
      <p:sp>
        <p:nvSpPr>
          <p:cNvPr id="6" name="Text 3"/>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1 · 07 Notebook · min 86–88</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07 · CODE WALK, PART 1 · THE SETUP</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Data, the two players, one loss, two optimizers</a:t>
            </a:r>
            <a:endParaRPr lang="en-US" sz="3200" dirty="0"/>
          </a:p>
        </p:txBody>
      </p:sp>
      <p:sp>
        <p:nvSpPr>
          <p:cNvPr id="4" name="Shape 2"/>
          <p:cNvSpPr/>
          <p:nvPr/>
        </p:nvSpPr>
        <p:spPr>
          <a:xfrm>
            <a:off x="812800" y="1841500"/>
            <a:ext cx="6731000" cy="3937000"/>
          </a:xfrm>
          <a:prstGeom prst="roundRect">
            <a:avLst>
              <a:gd name="adj" fmla="val 2903"/>
            </a:avLst>
          </a:prstGeom>
          <a:solidFill>
            <a:srgbClr val="14213D"/>
          </a:solidFill>
          <a:ln/>
        </p:spPr>
      </p:sp>
      <p:sp>
        <p:nvSpPr>
          <p:cNvPr id="5" name="Text 3"/>
          <p:cNvSpPr/>
          <p:nvPr/>
        </p:nvSpPr>
        <p:spPr>
          <a:xfrm>
            <a:off x="1016000" y="1968500"/>
            <a:ext cx="6605905" cy="3439021"/>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8E9AAF"/>
                </a:solidFill>
                <a:latin typeface="JetBrains Mono" pitchFamily="34" charset="0"/>
                <a:ea typeface="JetBrains Mono" pitchFamily="34" charset="-122"/>
                <a:cs typeface="JetBrains Mono" pitchFamily="34" charset="-120"/>
              </a:rPr>
              <a:t># Dataset</a:t>
            </a:r>
            <a:endParaRPr lang="en-US" sz="1200" dirty="0"/>
          </a:p>
          <a:p>
            <a:pPr algn="l" indent="0" marL="0">
              <a:lnSpc>
                <a:spcPts val="1920"/>
              </a:lnSpc>
              <a:buNone/>
            </a:pPr>
            <a:r>
              <a:rPr lang="en-US" sz="1200" dirty="0">
                <a:solidFill>
                  <a:srgbClr val="E6EAF0"/>
                </a:solidFill>
                <a:latin typeface="JetBrains Mono" pitchFamily="34" charset="0"/>
                <a:ea typeface="JetBrains Mono" pitchFamily="34" charset="-122"/>
                <a:cs typeface="JetBrains Mono" pitchFamily="34" charset="-120"/>
              </a:rPr>
              <a:t>transform = transforms.Compose([</a:t>
            </a:r>
            <a:endParaRPr lang="en-US" sz="1200" dirty="0"/>
          </a:p>
          <a:p>
            <a:pPr algn="l" indent="0" marL="0">
              <a:lnSpc>
                <a:spcPts val="1920"/>
              </a:lnSpc>
              <a:buNone/>
            </a:pPr>
            <a:r>
              <a:rPr lang="en-US" sz="1200" dirty="0">
                <a:solidFill>
                  <a:srgbClr val="E6EAF0"/>
                </a:solidFill>
                <a:latin typeface="JetBrains Mono" pitchFamily="34" charset="0"/>
                <a:ea typeface="JetBrains Mono" pitchFamily="34" charset="-122"/>
                <a:cs typeface="JetBrains Mono" pitchFamily="34" charset="-120"/>
              </a:rPr>
              <a:t>  transforms.ToTensor(),</a:t>
            </a:r>
            <a:endParaRPr lang="en-US" sz="1200" dirty="0"/>
          </a:p>
          <a:p>
            <a:pPr algn="l" indent="0" marL="0">
              <a:lnSpc>
                <a:spcPts val="192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E9B949"/>
                </a:solidFill>
                <a:latin typeface="JetBrains Mono" pitchFamily="34" charset="0"/>
                <a:ea typeface="JetBrains Mono" pitchFamily="34" charset="-122"/>
                <a:cs typeface="JetBrains Mono" pitchFamily="34" charset="-120"/>
              </a:rPr>
              <a:t>transforms.Normalize((0.5,), (0.5,))</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920"/>
              </a:lnSpc>
              <a:buNone/>
            </a:pPr>
            <a:r>
              <a:rPr lang="en-US" sz="1200" dirty="0">
                <a:solidFill>
                  <a:srgbClr val="E6EAF0"/>
                </a:solidFill>
                <a:latin typeface="JetBrains Mono" pitchFamily="34" charset="0"/>
                <a:ea typeface="JetBrains Mono" pitchFamily="34" charset="-122"/>
                <a:cs typeface="JetBrains Mono" pitchFamily="34" charset="-120"/>
              </a:rPr>
              <a:t>train_data = datasets.MNIST(root='./data', train=True,</a:t>
            </a:r>
            <a:endParaRPr lang="en-US" sz="1200" dirty="0"/>
          </a:p>
          <a:p>
            <a:pPr algn="l" indent="0" marL="0">
              <a:lnSpc>
                <a:spcPts val="1920"/>
              </a:lnSpc>
              <a:buNone/>
            </a:pPr>
            <a:r>
              <a:rPr lang="en-US" sz="1200" dirty="0">
                <a:solidFill>
                  <a:srgbClr val="E6EAF0"/>
                </a:solidFill>
                <a:latin typeface="JetBrains Mono" pitchFamily="34" charset="0"/>
                <a:ea typeface="JetBrains Mono" pitchFamily="34" charset="-122"/>
                <a:cs typeface="JetBrains Mono" pitchFamily="34" charset="-120"/>
              </a:rPr>
              <a:t>  transform=transform, download=True)</a:t>
            </a:r>
            <a:endParaRPr lang="en-US" sz="1200" dirty="0"/>
          </a:p>
          <a:p>
            <a:pPr algn="l" indent="0" marL="0">
              <a:lnSpc>
                <a:spcPts val="1920"/>
              </a:lnSpc>
              <a:buNone/>
            </a:pPr>
            <a:r>
              <a:rPr lang="en-US" sz="1200" dirty="0">
                <a:solidFill>
                  <a:srgbClr val="E6EAF0"/>
                </a:solidFill>
                <a:latin typeface="JetBrains Mono" pitchFamily="34" charset="0"/>
                <a:ea typeface="JetBrains Mono" pitchFamily="34" charset="-122"/>
                <a:cs typeface="JetBrains Mono" pitchFamily="34" charset="-120"/>
              </a:rPr>
              <a:t>train_loader = DataLoader(train_data, </a:t>
            </a:r>
            <a:r>
              <a:rPr lang="en-US" sz="1200" dirty="0">
                <a:solidFill>
                  <a:srgbClr val="E9B949"/>
                </a:solidFill>
                <a:latin typeface="JetBrains Mono" pitchFamily="34" charset="0"/>
                <a:ea typeface="JetBrains Mono" pitchFamily="34" charset="-122"/>
                <a:cs typeface="JetBrains Mono" pitchFamily="34" charset="-120"/>
              </a:rPr>
              <a:t>batch_size=64</a:t>
            </a:r>
            <a:r>
              <a:rPr lang="en-US" sz="1200" dirty="0">
                <a:solidFill>
                  <a:srgbClr val="E6EAF0"/>
                </a:solidFill>
                <a:latin typeface="JetBrains Mono" pitchFamily="34" charset="0"/>
                <a:ea typeface="JetBrains Mono" pitchFamily="34" charset="-122"/>
                <a:cs typeface="JetBrains Mono" pitchFamily="34" charset="-120"/>
              </a:rPr>
              <a:t>, shuffle=True)</a:t>
            </a:r>
            <a:endParaRPr lang="en-US" sz="1200" dirty="0"/>
          </a:p>
          <a:p>
            <a:pPr algn="l" indent="0" marL="0">
              <a:lnSpc>
                <a:spcPts val="1920"/>
              </a:lnSpc>
              <a:buNone/>
            </a:pPr>
            <a:endParaRPr lang="en-US" sz="1200" dirty="0"/>
          </a:p>
          <a:p>
            <a:pPr algn="l" indent="0" marL="0">
              <a:lnSpc>
                <a:spcPts val="1920"/>
              </a:lnSpc>
              <a:buNone/>
            </a:pPr>
            <a:r>
              <a:rPr lang="en-US" sz="1200" dirty="0">
                <a:solidFill>
                  <a:srgbClr val="8DB8EA"/>
                </a:solidFill>
                <a:latin typeface="JetBrains Mono" pitchFamily="34" charset="0"/>
                <a:ea typeface="JetBrains Mono" pitchFamily="34" charset="-122"/>
                <a:cs typeface="JetBrains Mono" pitchFamily="34" charset="-120"/>
              </a:rPr>
              <a:t>generator = Generator()</a:t>
            </a:r>
            <a:endParaRPr lang="en-US" sz="1200" dirty="0"/>
          </a:p>
          <a:p>
            <a:pPr algn="l" indent="0" marL="0">
              <a:lnSpc>
                <a:spcPts val="1920"/>
              </a:lnSpc>
              <a:buNone/>
            </a:pPr>
            <a:r>
              <a:rPr lang="en-US" sz="1200" dirty="0">
                <a:solidFill>
                  <a:srgbClr val="F2B48C"/>
                </a:solidFill>
                <a:latin typeface="JetBrains Mono" pitchFamily="34" charset="0"/>
                <a:ea typeface="JetBrains Mono" pitchFamily="34" charset="-122"/>
                <a:cs typeface="JetBrains Mono" pitchFamily="34" charset="-120"/>
              </a:rPr>
              <a:t>discriminator = Discriminator()</a:t>
            </a:r>
            <a:endParaRPr lang="en-US" sz="1200" dirty="0"/>
          </a:p>
          <a:p>
            <a:pPr algn="l" indent="0" marL="0">
              <a:lnSpc>
                <a:spcPts val="1920"/>
              </a:lnSpc>
              <a:buNone/>
            </a:pPr>
            <a:endParaRPr lang="en-US" sz="1200" dirty="0"/>
          </a:p>
          <a:p>
            <a:pPr algn="l" indent="0" marL="0">
              <a:lnSpc>
                <a:spcPts val="1920"/>
              </a:lnSpc>
              <a:buNone/>
            </a:pPr>
            <a:r>
              <a:rPr lang="en-US" sz="1200" dirty="0">
                <a:solidFill>
                  <a:srgbClr val="E6EAF0"/>
                </a:solidFill>
                <a:latin typeface="JetBrains Mono" pitchFamily="34" charset="0"/>
                <a:ea typeface="JetBrains Mono" pitchFamily="34" charset="-122"/>
                <a:cs typeface="JetBrains Mono" pitchFamily="34" charset="-120"/>
              </a:rPr>
              <a:t>criterion = </a:t>
            </a:r>
            <a:r>
              <a:rPr lang="en-US" sz="1200" dirty="0">
                <a:solidFill>
                  <a:srgbClr val="E9B949"/>
                </a:solidFill>
                <a:latin typeface="JetBrains Mono" pitchFamily="34" charset="0"/>
                <a:ea typeface="JetBrains Mono" pitchFamily="34" charset="-122"/>
                <a:cs typeface="JetBrains Mono" pitchFamily="34" charset="-120"/>
              </a:rPr>
              <a:t>nn.BCELoss()</a:t>
            </a:r>
            <a:endParaRPr lang="en-US" sz="1200" dirty="0"/>
          </a:p>
          <a:p>
            <a:pPr algn="l" indent="0" marL="0">
              <a:lnSpc>
                <a:spcPts val="1920"/>
              </a:lnSpc>
              <a:buNone/>
            </a:pPr>
            <a:r>
              <a:rPr lang="en-US" sz="1200" dirty="0">
                <a:solidFill>
                  <a:srgbClr val="8DB8EA"/>
                </a:solidFill>
                <a:latin typeface="JetBrains Mono" pitchFamily="34" charset="0"/>
                <a:ea typeface="JetBrains Mono" pitchFamily="34" charset="-122"/>
                <a:cs typeface="JetBrains Mono" pitchFamily="34" charset="-120"/>
              </a:rPr>
              <a:t>optimizer_g = optim.Adam(generator.parameters(), lr=0.0002)</a:t>
            </a:r>
            <a:endParaRPr lang="en-US" sz="1200" dirty="0"/>
          </a:p>
          <a:p>
            <a:pPr algn="l" indent="0" marL="0">
              <a:lnSpc>
                <a:spcPts val="1920"/>
              </a:lnSpc>
              <a:buNone/>
            </a:pPr>
            <a:r>
              <a:rPr lang="en-US" sz="1200" dirty="0">
                <a:solidFill>
                  <a:srgbClr val="F2B48C"/>
                </a:solidFill>
                <a:latin typeface="JetBrains Mono" pitchFamily="34" charset="0"/>
                <a:ea typeface="JetBrains Mono" pitchFamily="34" charset="-122"/>
                <a:cs typeface="JetBrains Mono" pitchFamily="34" charset="-120"/>
              </a:rPr>
              <a:t>optimizer_d = optim.Adam(discriminator.parameters(), lr=0.0002)</a:t>
            </a:r>
            <a:endParaRPr lang="en-US" sz="1200" dirty="0"/>
          </a:p>
        </p:txBody>
      </p:sp>
      <p:sp>
        <p:nvSpPr>
          <p:cNvPr id="6" name="Text 4"/>
          <p:cNvSpPr/>
          <p:nvPr/>
        </p:nvSpPr>
        <p:spPr>
          <a:xfrm>
            <a:off x="7810500" y="1905000"/>
            <a:ext cx="3675761"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Normalize</a:t>
            </a:r>
            <a:r>
              <a:rPr lang="en-US" sz="1400" dirty="0">
                <a:solidFill>
                  <a:srgbClr val="14213D"/>
                </a:solidFill>
                <a:latin typeface="IBM Plex Sans" pitchFamily="34" charset="0"/>
                <a:ea typeface="IBM Plex Sans" pitchFamily="34" charset="-122"/>
                <a:cs typeface="IBM Plex Sans" pitchFamily="34" charset="-120"/>
              </a:rPr>
              <a:t> maps pixels 0…1 to −1…1, to match G's Tanh.</a:t>
            </a:r>
            <a:endParaRPr lang="en-US" sz="1400" dirty="0"/>
          </a:p>
        </p:txBody>
      </p:sp>
      <p:sp>
        <p:nvSpPr>
          <p:cNvPr id="7" name="Text 5"/>
          <p:cNvSpPr/>
          <p:nvPr/>
        </p:nvSpPr>
        <p:spPr>
          <a:xfrm>
            <a:off x="7810500" y="2857500"/>
            <a:ext cx="3675761"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64 images per batch</a:t>
            </a:r>
            <a:r>
              <a:rPr lang="en-US" sz="1400" dirty="0">
                <a:solidFill>
                  <a:srgbClr val="14213D"/>
                </a:solidFill>
                <a:latin typeface="IBM Plex Sans" pitchFamily="34" charset="0"/>
                <a:ea typeface="IBM Plex Sans" pitchFamily="34" charset="-122"/>
                <a:cs typeface="IBM Plex Sans" pitchFamily="34" charset="-120"/>
              </a:rPr>
              <a:t> → about 938 batches per epoch.</a:t>
            </a:r>
            <a:endParaRPr lang="en-US" sz="1400" dirty="0"/>
          </a:p>
        </p:txBody>
      </p:sp>
      <p:sp>
        <p:nvSpPr>
          <p:cNvPr id="8" name="Text 6"/>
          <p:cNvSpPr/>
          <p:nvPr/>
        </p:nvSpPr>
        <p:spPr>
          <a:xfrm>
            <a:off x="7810500" y="3810000"/>
            <a:ext cx="3675761"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One loss (BCE)</a:t>
            </a:r>
            <a:r>
              <a:rPr lang="en-US" sz="1400" dirty="0">
                <a:solidFill>
                  <a:srgbClr val="14213D"/>
                </a:solidFill>
                <a:latin typeface="IBM Plex Sans" pitchFamily="34" charset="0"/>
                <a:ea typeface="IBM Plex Sans" pitchFamily="34" charset="-122"/>
                <a:cs typeface="IBM Plex Sans" pitchFamily="34" charset="-120"/>
              </a:rPr>
              <a:t> used for both players, with different targets.</a:t>
            </a:r>
            <a:endParaRPr lang="en-US" sz="1400" dirty="0"/>
          </a:p>
        </p:txBody>
      </p:sp>
      <p:sp>
        <p:nvSpPr>
          <p:cNvPr id="9" name="Text 7"/>
          <p:cNvSpPr/>
          <p:nvPr/>
        </p:nvSpPr>
        <p:spPr>
          <a:xfrm>
            <a:off x="7810500" y="4762500"/>
            <a:ext cx="3675761" cy="77207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Two optimizers</a:t>
            </a:r>
            <a:r>
              <a:rPr lang="en-US" sz="1400" dirty="0">
                <a:solidFill>
                  <a:srgbClr val="14213D"/>
                </a:solidFill>
                <a:latin typeface="IBM Plex Sans" pitchFamily="34" charset="0"/>
                <a:ea typeface="IBM Plex Sans" pitchFamily="34" charset="-122"/>
                <a:cs typeface="IBM Plex Sans" pitchFamily="34" charset="-120"/>
              </a:rPr>
              <a:t>: each only updates its own network. That is what keeps the steps separate.</a:t>
            </a:r>
            <a:endParaRPr lang="en-US" sz="1400" dirty="0"/>
          </a:p>
        </p:txBody>
      </p:sp>
      <p:sp>
        <p:nvSpPr>
          <p:cNvPr id="10" name="Text 8"/>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1 · 07 Notebook · min 88–91 · exercise cell, top half</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07 · CODE WALK, PART 2 · THE GAME LOOP</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The loop you already understand</a:t>
            </a:r>
            <a:endParaRPr lang="en-US" sz="3200" dirty="0"/>
          </a:p>
        </p:txBody>
      </p:sp>
      <p:sp>
        <p:nvSpPr>
          <p:cNvPr id="4" name="Shape 2"/>
          <p:cNvSpPr/>
          <p:nvPr/>
        </p:nvSpPr>
        <p:spPr>
          <a:xfrm>
            <a:off x="812800" y="1778000"/>
            <a:ext cx="6985000" cy="4064000"/>
          </a:xfrm>
          <a:prstGeom prst="roundRect">
            <a:avLst>
              <a:gd name="adj" fmla="val 2813"/>
            </a:avLst>
          </a:prstGeom>
          <a:solidFill>
            <a:srgbClr val="14213D"/>
          </a:solidFill>
          <a:ln/>
        </p:spPr>
      </p:sp>
      <p:sp>
        <p:nvSpPr>
          <p:cNvPr id="5" name="Text 3"/>
          <p:cNvSpPr/>
          <p:nvPr/>
        </p:nvSpPr>
        <p:spPr>
          <a:xfrm>
            <a:off x="1016000" y="1879600"/>
            <a:ext cx="6867525" cy="34544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6EAF0"/>
                </a:solidFill>
                <a:latin typeface="JetBrains Mono" pitchFamily="34" charset="0"/>
                <a:ea typeface="JetBrains Mono" pitchFamily="34" charset="-122"/>
                <a:cs typeface="JetBrains Mono" pitchFamily="34" charset="-120"/>
              </a:rPr>
              <a:t>for epoch in range(epochs): </a:t>
            </a:r>
            <a:r>
              <a:rPr lang="en-US" sz="1200" dirty="0">
                <a:solidFill>
                  <a:srgbClr val="8E9AAF"/>
                </a:solidFill>
                <a:latin typeface="JetBrains Mono" pitchFamily="34" charset="0"/>
                <a:ea typeface="JetBrains Mono" pitchFamily="34" charset="-122"/>
                <a:cs typeface="JetBrains Mono" pitchFamily="34" charset="-120"/>
              </a:rPr>
              <a:t># epochs = 2</a:t>
            </a:r>
            <a:endParaRPr lang="en-US" sz="1200" dirty="0"/>
          </a:p>
          <a:p>
            <a:pPr algn="l" indent="0" marL="0">
              <a:lnSpc>
                <a:spcPts val="1800"/>
              </a:lnSpc>
              <a:buNone/>
            </a:pPr>
            <a:r>
              <a:rPr lang="en-US" sz="1200" dirty="0">
                <a:solidFill>
                  <a:srgbClr val="E6EAF0"/>
                </a:solidFill>
                <a:latin typeface="JetBrains Mono" pitchFamily="34" charset="0"/>
                <a:ea typeface="JetBrains Mono" pitchFamily="34" charset="-122"/>
                <a:cs typeface="JetBrains Mono" pitchFamily="34" charset="-120"/>
              </a:rPr>
              <a:t>  for real, _ in train_loader:</a:t>
            </a:r>
            <a:endParaRPr lang="en-US" sz="1200" dirty="0"/>
          </a:p>
          <a:p>
            <a:pPr algn="l" indent="0" marL="0">
              <a:lnSpc>
                <a:spcPts val="1800"/>
              </a:lnSpc>
              <a:buNone/>
            </a:pPr>
            <a:r>
              <a:rPr lang="en-US" sz="1200" dirty="0">
                <a:solidFill>
                  <a:srgbClr val="E6EAF0"/>
                </a:solidFill>
                <a:latin typeface="JetBrains Mono" pitchFamily="34" charset="0"/>
                <a:ea typeface="JetBrains Mono" pitchFamily="34" charset="-122"/>
                <a:cs typeface="JetBrains Mono" pitchFamily="34" charset="-120"/>
              </a:rPr>
              <a:t>    labels_real = torch.ones(batch_size, 1)</a:t>
            </a:r>
            <a:endParaRPr lang="en-US" sz="1200" dirty="0"/>
          </a:p>
          <a:p>
            <a:pPr algn="l" indent="0" marL="0">
              <a:lnSpc>
                <a:spcPts val="1800"/>
              </a:lnSpc>
              <a:buNone/>
            </a:pPr>
            <a:r>
              <a:rPr lang="en-US" sz="1200" dirty="0">
                <a:solidFill>
                  <a:srgbClr val="E6EAF0"/>
                </a:solidFill>
                <a:latin typeface="JetBrains Mono" pitchFamily="34" charset="0"/>
                <a:ea typeface="JetBrains Mono" pitchFamily="34" charset="-122"/>
                <a:cs typeface="JetBrains Mono" pitchFamily="34" charset="-120"/>
              </a:rPr>
              <a:t>    labels_fake = torch.zeros(batch_size, 1)</a:t>
            </a:r>
            <a:endParaRPr lang="en-US" sz="1200" dirty="0"/>
          </a:p>
          <a:p>
            <a:pPr algn="l" indent="0" marL="0">
              <a:lnSpc>
                <a:spcPts val="1800"/>
              </a:lnSpc>
              <a:buNone/>
            </a:pPr>
            <a:r>
              <a:rPr lang="en-US" sz="1200" dirty="0">
                <a:solidFill>
                  <a:srgbClr val="F2B48C"/>
                </a:solidFill>
                <a:latin typeface="JetBrains Mono" pitchFamily="34" charset="0"/>
                <a:ea typeface="JetBrains Mono" pitchFamily="34" charset="-122"/>
                <a:cs typeface="JetBrains Mono" pitchFamily="34" charset="-120"/>
              </a:rPr>
              <a:t>    # Step 1: D on real (→1) and fake.detach() (→0)</a:t>
            </a:r>
            <a:endParaRPr lang="en-US" sz="1200" dirty="0"/>
          </a:p>
          <a:p>
            <a:pPr algn="l" indent="0" marL="0">
              <a:lnSpc>
                <a:spcPts val="1800"/>
              </a:lnSpc>
              <a:buNone/>
            </a:pPr>
            <a:r>
              <a:rPr lang="en-US" sz="1200" dirty="0">
                <a:solidFill>
                  <a:srgbClr val="F2B48C"/>
                </a:solidFill>
                <a:latin typeface="JetBrains Mono" pitchFamily="34" charset="0"/>
                <a:ea typeface="JetBrains Mono" pitchFamily="34" charset="-122"/>
                <a:cs typeface="JetBrains Mono" pitchFamily="34" charset="-120"/>
              </a:rPr>
              <a:t>    loss_d = loss_real + loss_fake</a:t>
            </a:r>
            <a:endParaRPr lang="en-US" sz="1200" dirty="0"/>
          </a:p>
          <a:p>
            <a:pPr algn="l" indent="0" marL="0">
              <a:lnSpc>
                <a:spcPts val="1800"/>
              </a:lnSpc>
              <a:buNone/>
            </a:pPr>
            <a:r>
              <a:rPr lang="en-US" sz="1200" dirty="0">
                <a:solidFill>
                  <a:srgbClr val="F2B48C"/>
                </a:solidFill>
                <a:latin typeface="JetBrains Mono" pitchFamily="34" charset="0"/>
                <a:ea typeface="JetBrains Mono" pitchFamily="34" charset="-122"/>
                <a:cs typeface="JetBrains Mono" pitchFamily="34" charset="-120"/>
              </a:rPr>
              <a:t>    loss_d.backward(); optimizer_d.step()</a:t>
            </a:r>
            <a:endParaRPr lang="en-US" sz="1200" dirty="0"/>
          </a:p>
          <a:p>
            <a:pPr algn="l" indent="0" marL="0">
              <a:lnSpc>
                <a:spcPts val="1800"/>
              </a:lnSpc>
              <a:buNone/>
            </a:pPr>
            <a:r>
              <a:rPr lang="en-US" sz="1200" dirty="0">
                <a:solidFill>
                  <a:srgbClr val="8DB8EA"/>
                </a:solidFill>
                <a:latin typeface="JetBrains Mono" pitchFamily="34" charset="0"/>
                <a:ea typeface="JetBrains Mono" pitchFamily="34" charset="-122"/>
                <a:cs typeface="JetBrains Mono" pitchFamily="34" charset="-120"/>
              </a:rPr>
              <a:t>    # Step 2: G via D(fake) with labels_real (→1)</a:t>
            </a:r>
            <a:endParaRPr lang="en-US" sz="1200" dirty="0"/>
          </a:p>
          <a:p>
            <a:pPr algn="l" indent="0" marL="0">
              <a:lnSpc>
                <a:spcPts val="1800"/>
              </a:lnSpc>
              <a:buNone/>
            </a:pPr>
            <a:r>
              <a:rPr lang="en-US" sz="1200" dirty="0">
                <a:solidFill>
                  <a:srgbClr val="8DB8EA"/>
                </a:solidFill>
                <a:latin typeface="JetBrains Mono" pitchFamily="34" charset="0"/>
                <a:ea typeface="JetBrains Mono" pitchFamily="34" charset="-122"/>
                <a:cs typeface="JetBrains Mono" pitchFamily="34" charset="-120"/>
              </a:rPr>
              <a:t>    loss_g.backward(); optimizer_g.step()</a:t>
            </a:r>
            <a:endParaRPr lang="en-US" sz="1200" dirty="0"/>
          </a:p>
          <a:p>
            <a:pPr algn="l" indent="0" marL="0">
              <a:lnSpc>
                <a:spcPts val="1800"/>
              </a:lnSpc>
              <a:buNone/>
            </a:pPr>
            <a:r>
              <a:rPr lang="en-US" sz="1200" dirty="0">
                <a:solidFill>
                  <a:srgbClr val="E6EAF0"/>
                </a:solidFill>
                <a:latin typeface="JetBrains Mono" pitchFamily="34" charset="0"/>
                <a:ea typeface="JetBrains Mono" pitchFamily="34" charset="-122"/>
                <a:cs typeface="JetBrains Mono" pitchFamily="34" charset="-120"/>
              </a:rPr>
              <a:t>  print(f"Epoch …, Loss D: …, Loss G: …")</a:t>
            </a:r>
            <a:endParaRPr lang="en-US" sz="1200" dirty="0"/>
          </a:p>
          <a:p>
            <a:pPr algn="l" indent="0" marL="0">
              <a:lnSpc>
                <a:spcPts val="1800"/>
              </a:lnSpc>
              <a:buNone/>
            </a:pPr>
            <a:endParaRPr lang="en-US" sz="1200" dirty="0"/>
          </a:p>
          <a:p>
            <a:pPr algn="l" indent="0" marL="0">
              <a:lnSpc>
                <a:spcPts val="1800"/>
              </a:lnSpc>
              <a:buNone/>
            </a:pPr>
            <a:r>
              <a:rPr lang="en-US" sz="1200" dirty="0">
                <a:solidFill>
                  <a:srgbClr val="8E9AAF"/>
                </a:solidFill>
                <a:latin typeface="JetBrains Mono" pitchFamily="34" charset="0"/>
                <a:ea typeface="JetBrains Mono" pitchFamily="34" charset="-122"/>
                <a:cs typeface="JetBrains Mono" pitchFamily="34" charset="-120"/>
              </a:rPr>
              <a:t># Visualise 16 new digits</a:t>
            </a:r>
            <a:endParaRPr lang="en-US" sz="1200" dirty="0"/>
          </a:p>
          <a:p>
            <a:pPr algn="l" indent="0" marL="0">
              <a:lnSpc>
                <a:spcPts val="1800"/>
              </a:lnSpc>
              <a:buNone/>
            </a:pPr>
            <a:r>
              <a:rPr lang="en-US" sz="1200" dirty="0">
                <a:solidFill>
                  <a:srgbClr val="E6EAF0"/>
                </a:solidFill>
                <a:latin typeface="JetBrains Mono" pitchFamily="34" charset="0"/>
                <a:ea typeface="JetBrains Mono" pitchFamily="34" charset="-122"/>
                <a:cs typeface="JetBrains Mono" pitchFamily="34" charset="-120"/>
              </a:rPr>
              <a:t>noise = torch.randn(16, 100)</a:t>
            </a:r>
            <a:endParaRPr lang="en-US" sz="1200" dirty="0"/>
          </a:p>
          <a:p>
            <a:pPr algn="l" indent="0" marL="0">
              <a:lnSpc>
                <a:spcPts val="1800"/>
              </a:lnSpc>
              <a:buNone/>
            </a:pPr>
            <a:r>
              <a:rPr lang="en-US" sz="1200" dirty="0">
                <a:solidFill>
                  <a:srgbClr val="E6EAF0"/>
                </a:solidFill>
                <a:latin typeface="JetBrains Mono" pitchFamily="34" charset="0"/>
                <a:ea typeface="JetBrains Mono" pitchFamily="34" charset="-122"/>
                <a:cs typeface="JetBrains Mono" pitchFamily="34" charset="-120"/>
              </a:rPr>
              <a:t>fake_images = generator(noise).detach()</a:t>
            </a:r>
            <a:endParaRPr lang="en-US" sz="1200" dirty="0"/>
          </a:p>
          <a:p>
            <a:pPr algn="l" indent="0" marL="0">
              <a:lnSpc>
                <a:spcPts val="1800"/>
              </a:lnSpc>
              <a:buNone/>
            </a:pPr>
            <a:r>
              <a:rPr lang="en-US" sz="1200" dirty="0">
                <a:solidFill>
                  <a:srgbClr val="E6EAF0"/>
                </a:solidFill>
                <a:latin typeface="JetBrains Mono" pitchFamily="34" charset="0"/>
                <a:ea typeface="JetBrains Mono" pitchFamily="34" charset="-122"/>
                <a:cs typeface="JetBrains Mono" pitchFamily="34" charset="-120"/>
              </a:rPr>
              <a:t>… plt.subplots(1, 16) … imshow(…, cmap='gray')</a:t>
            </a:r>
            <a:endParaRPr lang="en-US" sz="1200" dirty="0"/>
          </a:p>
        </p:txBody>
      </p:sp>
      <p:sp>
        <p:nvSpPr>
          <p:cNvPr id="6" name="Shape 4"/>
          <p:cNvSpPr/>
          <p:nvPr/>
        </p:nvSpPr>
        <p:spPr>
          <a:xfrm>
            <a:off x="8007350" y="1784350"/>
            <a:ext cx="3365500" cy="1257300"/>
          </a:xfrm>
          <a:prstGeom prst="roundRect">
            <a:avLst>
              <a:gd name="adj" fmla="val 6566"/>
            </a:avLst>
          </a:prstGeom>
          <a:solidFill>
            <a:srgbClr val="FFFDF8"/>
          </a:solidFill>
          <a:ln w="12700">
            <a:solidFill>
              <a:srgbClr val="E4DED0"/>
            </a:solidFill>
            <a:prstDash val="solid"/>
          </a:ln>
        </p:spPr>
      </p:sp>
      <p:sp>
        <p:nvSpPr>
          <p:cNvPr id="7" name="Text 5"/>
          <p:cNvSpPr/>
          <p:nvPr/>
        </p:nvSpPr>
        <p:spPr>
          <a:xfrm>
            <a:off x="8204200" y="1892300"/>
            <a:ext cx="313944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The printed losses are from the </a:t>
            </a:r>
            <a:r>
              <a:rPr lang="en-US" sz="1300" b="1" dirty="0">
                <a:solidFill>
                  <a:srgbClr val="14213D"/>
                </a:solidFill>
                <a:latin typeface="IBM Plex Sans" pitchFamily="34" charset="0"/>
                <a:ea typeface="IBM Plex Sans" pitchFamily="34" charset="-122"/>
                <a:cs typeface="IBM Plex Sans" pitchFamily="34" charset="-120"/>
              </a:rPr>
              <a:t>last batch</a:t>
            </a:r>
            <a:r>
              <a:rPr lang="en-US" sz="1300" dirty="0">
                <a:solidFill>
                  <a:srgbClr val="14213D"/>
                </a:solidFill>
                <a:latin typeface="IBM Plex Sans" pitchFamily="34" charset="0"/>
                <a:ea typeface="IBM Plex Sans" pitchFamily="34" charset="-122"/>
                <a:cs typeface="IBM Plex Sans" pitchFamily="34" charset="-120"/>
              </a:rPr>
              <a:t> of each epoch, not an average.</a:t>
            </a:r>
            <a:endParaRPr lang="en-US" sz="1300" dirty="0"/>
          </a:p>
        </p:txBody>
      </p:sp>
      <p:sp>
        <p:nvSpPr>
          <p:cNvPr id="8" name="Shape 6"/>
          <p:cNvSpPr/>
          <p:nvPr/>
        </p:nvSpPr>
        <p:spPr>
          <a:xfrm>
            <a:off x="8007350" y="3181350"/>
            <a:ext cx="3365500" cy="1257300"/>
          </a:xfrm>
          <a:prstGeom prst="roundRect">
            <a:avLst>
              <a:gd name="adj" fmla="val 6566"/>
            </a:avLst>
          </a:prstGeom>
          <a:solidFill>
            <a:srgbClr val="FFFDF8"/>
          </a:solidFill>
          <a:ln w="12700">
            <a:solidFill>
              <a:srgbClr val="E4DED0"/>
            </a:solidFill>
            <a:prstDash val="solid"/>
          </a:ln>
        </p:spPr>
      </p:sp>
      <p:sp>
        <p:nvSpPr>
          <p:cNvPr id="9" name="Text 7"/>
          <p:cNvSpPr/>
          <p:nvPr/>
        </p:nvSpPr>
        <p:spPr>
          <a:xfrm>
            <a:off x="8204200" y="3289300"/>
            <a:ext cx="313944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After training we only need </a:t>
            </a:r>
            <a:r>
              <a:rPr lang="en-US" sz="1300" b="1" dirty="0">
                <a:solidFill>
                  <a:srgbClr val="14213D"/>
                </a:solidFill>
                <a:latin typeface="IBM Plex Sans" pitchFamily="34" charset="0"/>
                <a:ea typeface="IBM Plex Sans" pitchFamily="34" charset="-122"/>
                <a:cs typeface="IBM Plex Sans" pitchFamily="34" charset="-120"/>
              </a:rPr>
              <a:t>G</a:t>
            </a:r>
            <a:r>
              <a:rPr lang="en-US" sz="1300" dirty="0">
                <a:solidFill>
                  <a:srgbClr val="14213D"/>
                </a:solidFill>
                <a:latin typeface="IBM Plex Sans" pitchFamily="34" charset="0"/>
                <a:ea typeface="IBM Plex Sans" pitchFamily="34" charset="-122"/>
                <a:cs typeface="IBM Plex Sans" pitchFamily="34" charset="-120"/>
              </a:rPr>
              <a:t>: new noise → 16 brand-new digits.</a:t>
            </a:r>
            <a:endParaRPr lang="en-US" sz="1300" dirty="0"/>
          </a:p>
        </p:txBody>
      </p:sp>
      <p:sp>
        <p:nvSpPr>
          <p:cNvPr id="10" name="Shape 8"/>
          <p:cNvSpPr/>
          <p:nvPr/>
        </p:nvSpPr>
        <p:spPr>
          <a:xfrm>
            <a:off x="8007350" y="4578350"/>
            <a:ext cx="3365500" cy="1257300"/>
          </a:xfrm>
          <a:prstGeom prst="roundRect">
            <a:avLst>
              <a:gd name="adj" fmla="val 6566"/>
            </a:avLst>
          </a:prstGeom>
          <a:solidFill>
            <a:srgbClr val="FFFDF8"/>
          </a:solidFill>
          <a:ln w="12700">
            <a:solidFill>
              <a:srgbClr val="E4DED0"/>
            </a:solidFill>
            <a:prstDash val="solid"/>
          </a:ln>
        </p:spPr>
      </p:sp>
      <p:sp>
        <p:nvSpPr>
          <p:cNvPr id="11" name="Text 9"/>
          <p:cNvSpPr/>
          <p:nvPr/>
        </p:nvSpPr>
        <p:spPr>
          <a:xfrm>
            <a:off x="8204200" y="4686300"/>
            <a:ext cx="3139440"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Heads-up: the last MNIST batch has 32 images, so </a:t>
            </a:r>
            <a:r>
              <a:rPr lang="en-US" sz="1300" b="1" dirty="0">
                <a:solidFill>
                  <a:srgbClr val="14213D"/>
                </a:solidFill>
                <a:latin typeface="IBM Plex Sans" pitchFamily="34" charset="0"/>
                <a:ea typeface="IBM Plex Sans" pitchFamily="34" charset="-122"/>
                <a:cs typeface="IBM Plex Sans" pitchFamily="34" charset="-120"/>
              </a:rPr>
              <a:t>real.size(0)</a:t>
            </a:r>
            <a:r>
              <a:rPr lang="en-US" sz="1300" dirty="0">
                <a:solidFill>
                  <a:srgbClr val="14213D"/>
                </a:solidFill>
                <a:latin typeface="IBM Plex Sans" pitchFamily="34" charset="0"/>
                <a:ea typeface="IBM Plex Sans" pitchFamily="34" charset="-122"/>
                <a:cs typeface="IBM Plex Sans" pitchFamily="34" charset="-120"/>
              </a:rPr>
              <a:t> is used for batch_size.</a:t>
            </a:r>
            <a:endParaRPr lang="en-US" sz="1300" dirty="0"/>
          </a:p>
        </p:txBody>
      </p:sp>
      <p:sp>
        <p:nvSpPr>
          <p:cNvPr id="12" name="Text 10"/>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1 · 07 Notebook · min 91–94 · condensed; full lines on the step 1 and step 2 slides</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DCE8F5"/>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63A8"/>
                </a:solidFill>
                <a:latin typeface="IBM Plex Sans" pitchFamily="34" charset="0"/>
                <a:ea typeface="IBM Plex Sans" pitchFamily="34" charset="-122"/>
                <a:cs typeface="IBM Plex Sans" pitchFamily="34" charset="-120"/>
              </a:rPr>
              <a:t>TASK 1 OF 4 · 10 MINUTES · INDIVIDUALLY</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Run the GAN and observe</a:t>
            </a:r>
            <a:endParaRPr lang="en-US" sz="3200" dirty="0"/>
          </a:p>
        </p:txBody>
      </p:sp>
      <p:sp>
        <p:nvSpPr>
          <p:cNvPr id="4" name="Shape 2"/>
          <p:cNvSpPr/>
          <p:nvPr/>
        </p:nvSpPr>
        <p:spPr>
          <a:xfrm>
            <a:off x="812800" y="1841500"/>
            <a:ext cx="10566400" cy="3810000"/>
          </a:xfrm>
          <a:prstGeom prst="roundRect">
            <a:avLst>
              <a:gd name="adj" fmla="val 3000"/>
            </a:avLst>
          </a:prstGeom>
          <a:solidFill>
            <a:srgbClr val="FFFDF8"/>
          </a:solidFill>
          <a:ln/>
        </p:spPr>
      </p:sp>
      <p:sp>
        <p:nvSpPr>
          <p:cNvPr id="5" name="Text 3"/>
          <p:cNvSpPr/>
          <p:nvPr/>
        </p:nvSpPr>
        <p:spPr>
          <a:xfrm>
            <a:off x="1143000" y="2032000"/>
            <a:ext cx="558800"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2563A8"/>
                </a:solidFill>
                <a:latin typeface="Space Grotesk" pitchFamily="34" charset="0"/>
                <a:ea typeface="Space Grotesk" pitchFamily="34" charset="-122"/>
                <a:cs typeface="Space Grotesk" pitchFamily="34" charset="-120"/>
              </a:rPr>
              <a:t>1</a:t>
            </a:r>
            <a:endParaRPr lang="en-US" sz="2400" dirty="0"/>
          </a:p>
        </p:txBody>
      </p:sp>
      <p:sp>
        <p:nvSpPr>
          <p:cNvPr id="6" name="Text 4"/>
          <p:cNvSpPr/>
          <p:nvPr/>
        </p:nvSpPr>
        <p:spPr>
          <a:xfrm>
            <a:off x="1714500" y="2095500"/>
            <a:ext cx="967994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Run the exercise cell as it is (epochs = 2). While it trains, predict: </a:t>
            </a:r>
            <a:r>
              <a:rPr lang="en-US" sz="1600" b="1" dirty="0">
                <a:solidFill>
                  <a:srgbClr val="14213D"/>
                </a:solidFill>
                <a:latin typeface="IBM Plex Sans" pitchFamily="34" charset="0"/>
                <a:ea typeface="IBM Plex Sans" pitchFamily="34" charset="-122"/>
                <a:cs typeface="IBM Plex Sans" pitchFamily="34" charset="-120"/>
              </a:rPr>
              <a:t>what will the 16 digits look like?</a:t>
            </a:r>
            <a:endParaRPr lang="en-US" sz="1600" dirty="0"/>
          </a:p>
        </p:txBody>
      </p:sp>
      <p:sp>
        <p:nvSpPr>
          <p:cNvPr id="7" name="Text 5"/>
          <p:cNvSpPr/>
          <p:nvPr/>
        </p:nvSpPr>
        <p:spPr>
          <a:xfrm>
            <a:off x="1143000" y="2921000"/>
            <a:ext cx="558800"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2563A8"/>
                </a:solidFill>
                <a:latin typeface="Space Grotesk" pitchFamily="34" charset="0"/>
                <a:ea typeface="Space Grotesk" pitchFamily="34" charset="-122"/>
                <a:cs typeface="Space Grotesk" pitchFamily="34" charset="-120"/>
              </a:rPr>
              <a:t>2</a:t>
            </a:r>
            <a:endParaRPr lang="en-US" sz="2400" dirty="0"/>
          </a:p>
        </p:txBody>
      </p:sp>
      <p:sp>
        <p:nvSpPr>
          <p:cNvPr id="8" name="Text 6"/>
          <p:cNvSpPr/>
          <p:nvPr/>
        </p:nvSpPr>
        <p:spPr>
          <a:xfrm>
            <a:off x="1714500" y="2984500"/>
            <a:ext cx="967994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Write down </a:t>
            </a:r>
            <a:r>
              <a:rPr lang="en-US" sz="1600" b="1" dirty="0">
                <a:solidFill>
                  <a:srgbClr val="14213D"/>
                </a:solidFill>
                <a:latin typeface="IBM Plex Sans" pitchFamily="34" charset="0"/>
                <a:ea typeface="IBM Plex Sans" pitchFamily="34" charset="-122"/>
                <a:cs typeface="IBM Plex Sans" pitchFamily="34" charset="-120"/>
              </a:rPr>
              <a:t>Loss D</a:t>
            </a:r>
            <a:r>
              <a:rPr lang="en-US" sz="1600" dirty="0">
                <a:solidFill>
                  <a:srgbClr val="14213D"/>
                </a:solidFill>
                <a:latin typeface="IBM Plex Sans" pitchFamily="34" charset="0"/>
                <a:ea typeface="IBM Plex Sans" pitchFamily="34" charset="-122"/>
                <a:cs typeface="IBM Plex Sans" pitchFamily="34" charset="-120"/>
              </a:rPr>
              <a:t> and </a:t>
            </a:r>
            <a:r>
              <a:rPr lang="en-US" sz="1600" b="1" dirty="0">
                <a:solidFill>
                  <a:srgbClr val="14213D"/>
                </a:solidFill>
                <a:latin typeface="IBM Plex Sans" pitchFamily="34" charset="0"/>
                <a:ea typeface="IBM Plex Sans" pitchFamily="34" charset="-122"/>
                <a:cs typeface="IBM Plex Sans" pitchFamily="34" charset="-120"/>
              </a:rPr>
              <a:t>Loss G</a:t>
            </a:r>
            <a:r>
              <a:rPr lang="en-US" sz="1600" dirty="0">
                <a:solidFill>
                  <a:srgbClr val="14213D"/>
                </a:solidFill>
                <a:latin typeface="IBM Plex Sans" pitchFamily="34" charset="0"/>
                <a:ea typeface="IBM Plex Sans" pitchFamily="34" charset="-122"/>
                <a:cs typeface="IBM Plex Sans" pitchFamily="34" charset="-120"/>
              </a:rPr>
              <a:t> for each epoch. Compare with the reference 1.386 and 0.693.</a:t>
            </a:r>
            <a:endParaRPr lang="en-US" sz="1600" dirty="0"/>
          </a:p>
        </p:txBody>
      </p:sp>
      <p:sp>
        <p:nvSpPr>
          <p:cNvPr id="9" name="Text 7"/>
          <p:cNvSpPr/>
          <p:nvPr/>
        </p:nvSpPr>
        <p:spPr>
          <a:xfrm>
            <a:off x="1143000" y="3810000"/>
            <a:ext cx="558800"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2563A8"/>
                </a:solidFill>
                <a:latin typeface="Space Grotesk" pitchFamily="34" charset="0"/>
                <a:ea typeface="Space Grotesk" pitchFamily="34" charset="-122"/>
                <a:cs typeface="Space Grotesk" pitchFamily="34" charset="-120"/>
              </a:rPr>
              <a:t>3</a:t>
            </a:r>
            <a:endParaRPr lang="en-US" sz="2400" dirty="0"/>
          </a:p>
        </p:txBody>
      </p:sp>
      <p:sp>
        <p:nvSpPr>
          <p:cNvPr id="10" name="Text 8"/>
          <p:cNvSpPr/>
          <p:nvPr/>
        </p:nvSpPr>
        <p:spPr>
          <a:xfrm>
            <a:off x="1714500" y="3873500"/>
            <a:ext cx="967994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Look at the 16 samples. How many </a:t>
            </a:r>
            <a:r>
              <a:rPr lang="en-US" sz="1600" b="1" dirty="0">
                <a:solidFill>
                  <a:srgbClr val="14213D"/>
                </a:solidFill>
                <a:latin typeface="IBM Plex Sans" pitchFamily="34" charset="0"/>
                <a:ea typeface="IBM Plex Sans" pitchFamily="34" charset="-122"/>
                <a:cs typeface="IBM Plex Sans" pitchFamily="34" charset="-120"/>
              </a:rPr>
              <a:t>look like digits</a:t>
            </a:r>
            <a:r>
              <a:rPr lang="en-US" sz="1600" dirty="0">
                <a:solidFill>
                  <a:srgbClr val="14213D"/>
                </a:solidFill>
                <a:latin typeface="IBM Plex Sans" pitchFamily="34" charset="0"/>
                <a:ea typeface="IBM Plex Sans" pitchFamily="34" charset="-122"/>
                <a:cs typeface="IBM Plex Sans" pitchFamily="34" charset="-120"/>
              </a:rPr>
              <a:t>? How many </a:t>
            </a:r>
            <a:r>
              <a:rPr lang="en-US" sz="1600" b="1" dirty="0">
                <a:solidFill>
                  <a:srgbClr val="14213D"/>
                </a:solidFill>
                <a:latin typeface="IBM Plex Sans" pitchFamily="34" charset="0"/>
                <a:ea typeface="IBM Plex Sans" pitchFamily="34" charset="-122"/>
                <a:cs typeface="IBM Plex Sans" pitchFamily="34" charset="-120"/>
              </a:rPr>
              <a:t>different digits</a:t>
            </a:r>
            <a:r>
              <a:rPr lang="en-US" sz="1600" dirty="0">
                <a:solidFill>
                  <a:srgbClr val="14213D"/>
                </a:solidFill>
                <a:latin typeface="IBM Plex Sans" pitchFamily="34" charset="0"/>
                <a:ea typeface="IBM Plex Sans" pitchFamily="34" charset="-122"/>
                <a:cs typeface="IBM Plex Sans" pitchFamily="34" charset="-120"/>
              </a:rPr>
              <a:t> do you see?</a:t>
            </a:r>
            <a:endParaRPr lang="en-US" sz="1600" dirty="0"/>
          </a:p>
        </p:txBody>
      </p:sp>
      <p:sp>
        <p:nvSpPr>
          <p:cNvPr id="11" name="Text 9"/>
          <p:cNvSpPr/>
          <p:nvPr/>
        </p:nvSpPr>
        <p:spPr>
          <a:xfrm>
            <a:off x="1143000" y="4699000"/>
            <a:ext cx="558800"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2563A8"/>
                </a:solidFill>
                <a:latin typeface="Space Grotesk" pitchFamily="34" charset="0"/>
                <a:ea typeface="Space Grotesk" pitchFamily="34" charset="-122"/>
                <a:cs typeface="Space Grotesk" pitchFamily="34" charset="-120"/>
              </a:rPr>
              <a:t>4</a:t>
            </a:r>
            <a:endParaRPr lang="en-US" sz="2400" dirty="0"/>
          </a:p>
        </p:txBody>
      </p:sp>
      <p:sp>
        <p:nvSpPr>
          <p:cNvPr id="12" name="Text 10"/>
          <p:cNvSpPr/>
          <p:nvPr/>
        </p:nvSpPr>
        <p:spPr>
          <a:xfrm>
            <a:off x="1714500" y="4762500"/>
            <a:ext cx="967994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Run just the plotting lines again. Why do you get </a:t>
            </a:r>
            <a:r>
              <a:rPr lang="en-US" sz="1600" b="1" dirty="0">
                <a:solidFill>
                  <a:srgbClr val="14213D"/>
                </a:solidFill>
                <a:latin typeface="IBM Plex Sans" pitchFamily="34" charset="0"/>
                <a:ea typeface="IBM Plex Sans" pitchFamily="34" charset="-122"/>
                <a:cs typeface="IBM Plex Sans" pitchFamily="34" charset="-120"/>
              </a:rPr>
              <a:t>different digits without retraining</a:t>
            </a:r>
            <a:r>
              <a:rPr lang="en-US" sz="1600" dirty="0">
                <a:solidFill>
                  <a:srgbClr val="14213D"/>
                </a:solidFill>
                <a:latin typeface="IBM Plex Sans" pitchFamily="34" charset="0"/>
                <a:ea typeface="IBM Plex Sans" pitchFamily="34" charset="-122"/>
                <a:cs typeface="IBM Plex Sans" pitchFamily="34" charset="-120"/>
              </a:rPr>
              <a:t>?</a:t>
            </a:r>
            <a:endParaRPr lang="en-US" sz="1600" dirty="0"/>
          </a:p>
        </p:txBody>
      </p:sp>
      <p:sp>
        <p:nvSpPr>
          <p:cNvPr id="13" name="Text 11"/>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1 · 07 Notebook · min 94–104</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6E1D3"/>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TASK 2 OF 4 · 8 MINUTES · IN PAIRS</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Read the code like a GAN detective</a:t>
            </a:r>
            <a:endParaRPr lang="en-US" sz="3200" dirty="0"/>
          </a:p>
        </p:txBody>
      </p:sp>
      <p:sp>
        <p:nvSpPr>
          <p:cNvPr id="4" name="Shape 2"/>
          <p:cNvSpPr/>
          <p:nvPr/>
        </p:nvSpPr>
        <p:spPr>
          <a:xfrm>
            <a:off x="812800" y="1841500"/>
            <a:ext cx="10566400" cy="3810000"/>
          </a:xfrm>
          <a:prstGeom prst="roundRect">
            <a:avLst>
              <a:gd name="adj" fmla="val 3000"/>
            </a:avLst>
          </a:prstGeom>
          <a:solidFill>
            <a:srgbClr val="FFFDF8"/>
          </a:solidFill>
          <a:ln/>
        </p:spPr>
      </p:sp>
      <p:sp>
        <p:nvSpPr>
          <p:cNvPr id="5" name="Text 3"/>
          <p:cNvSpPr/>
          <p:nvPr/>
        </p:nvSpPr>
        <p:spPr>
          <a:xfrm>
            <a:off x="1143000" y="2032000"/>
            <a:ext cx="497078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a.</a:t>
            </a:r>
            <a:r>
              <a:rPr lang="en-US" sz="1500" dirty="0">
                <a:solidFill>
                  <a:srgbClr val="14213D"/>
                </a:solidFill>
                <a:latin typeface="IBM Plex Sans" pitchFamily="34" charset="0"/>
                <a:ea typeface="IBM Plex Sans" pitchFamily="34" charset="-122"/>
                <a:cs typeface="IBM Plex Sans" pitchFamily="34" charset="-120"/>
              </a:rPr>
              <a:t> Which line gives D its "fake" targets? What value?</a:t>
            </a:r>
            <a:endParaRPr lang="en-US" sz="1500" dirty="0"/>
          </a:p>
        </p:txBody>
      </p:sp>
      <p:sp>
        <p:nvSpPr>
          <p:cNvPr id="6" name="Text 4"/>
          <p:cNvSpPr/>
          <p:nvPr/>
        </p:nvSpPr>
        <p:spPr>
          <a:xfrm>
            <a:off x="6350000" y="2032000"/>
            <a:ext cx="490537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24E17"/>
                </a:solidFill>
                <a:latin typeface="IBM Plex Sans" pitchFamily="34" charset="0"/>
                <a:ea typeface="IBM Plex Sans" pitchFamily="34" charset="-122"/>
                <a:cs typeface="IBM Plex Sans" pitchFamily="34" charset="-120"/>
              </a:rPr>
              <a:t>labels_fake = torch.zeros(…): all 0</a:t>
            </a:r>
            <a:endParaRPr lang="en-US" sz="1400" dirty="0"/>
          </a:p>
        </p:txBody>
      </p:sp>
      <p:sp>
        <p:nvSpPr>
          <p:cNvPr id="7" name="Text 5"/>
          <p:cNvSpPr/>
          <p:nvPr/>
        </p:nvSpPr>
        <p:spPr>
          <a:xfrm>
            <a:off x="1143000" y="2857500"/>
            <a:ext cx="497078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b.</a:t>
            </a:r>
            <a:r>
              <a:rPr lang="en-US" sz="1500" dirty="0">
                <a:solidFill>
                  <a:srgbClr val="14213D"/>
                </a:solidFill>
                <a:latin typeface="IBM Plex Sans" pitchFamily="34" charset="0"/>
                <a:ea typeface="IBM Plex Sans" pitchFamily="34" charset="-122"/>
                <a:cs typeface="IBM Plex Sans" pitchFamily="34" charset="-120"/>
              </a:rPr>
              <a:t> Why .detach() in the D step but not in the G step?</a:t>
            </a:r>
            <a:endParaRPr lang="en-US" sz="1500" dirty="0"/>
          </a:p>
        </p:txBody>
      </p:sp>
      <p:sp>
        <p:nvSpPr>
          <p:cNvPr id="8" name="Text 6"/>
          <p:cNvSpPr/>
          <p:nvPr/>
        </p:nvSpPr>
        <p:spPr>
          <a:xfrm>
            <a:off x="6350000" y="2857500"/>
            <a:ext cx="4905375"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24E17"/>
                </a:solidFill>
                <a:latin typeface="IBM Plex Sans" pitchFamily="34" charset="0"/>
                <a:ea typeface="IBM Plex Sans" pitchFamily="34" charset="-122"/>
                <a:cs typeface="IBM Plex Sans" pitchFamily="34" charset="-120"/>
              </a:rPr>
              <a:t>D step: stop gradients into G. G step: we need them to reach G.</a:t>
            </a:r>
            <a:endParaRPr lang="en-US" sz="1400" dirty="0"/>
          </a:p>
        </p:txBody>
      </p:sp>
      <p:sp>
        <p:nvSpPr>
          <p:cNvPr id="9" name="Text 7"/>
          <p:cNvSpPr/>
          <p:nvPr/>
        </p:nvSpPr>
        <p:spPr>
          <a:xfrm>
            <a:off x="1143000" y="3810000"/>
            <a:ext cx="497078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c.</a:t>
            </a:r>
            <a:r>
              <a:rPr lang="en-US" sz="1500" dirty="0">
                <a:solidFill>
                  <a:srgbClr val="14213D"/>
                </a:solidFill>
                <a:latin typeface="IBM Plex Sans" pitchFamily="34" charset="0"/>
                <a:ea typeface="IBM Plex Sans" pitchFamily="34" charset="-122"/>
                <a:cs typeface="IBM Plex Sans" pitchFamily="34" charset="-120"/>
              </a:rPr>
              <a:t> Why does the G loss use labels_real?</a:t>
            </a:r>
            <a:endParaRPr lang="en-US" sz="1500" dirty="0"/>
          </a:p>
        </p:txBody>
      </p:sp>
      <p:sp>
        <p:nvSpPr>
          <p:cNvPr id="10" name="Text 8"/>
          <p:cNvSpPr/>
          <p:nvPr/>
        </p:nvSpPr>
        <p:spPr>
          <a:xfrm>
            <a:off x="6350000" y="3810000"/>
            <a:ext cx="490537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24E17"/>
                </a:solidFill>
                <a:latin typeface="IBM Plex Sans" pitchFamily="34" charset="0"/>
                <a:ea typeface="IBM Plex Sans" pitchFamily="34" charset="-122"/>
                <a:cs typeface="IBM Plex Sans" pitchFamily="34" charset="-120"/>
              </a:rPr>
              <a:t>G wants D(G(z)) → 1 (non-saturating loss).</a:t>
            </a:r>
            <a:endParaRPr lang="en-US" sz="1400" dirty="0"/>
          </a:p>
        </p:txBody>
      </p:sp>
      <p:sp>
        <p:nvSpPr>
          <p:cNvPr id="11" name="Text 9"/>
          <p:cNvSpPr/>
          <p:nvPr/>
        </p:nvSpPr>
        <p:spPr>
          <a:xfrm>
            <a:off x="1143000" y="4635500"/>
            <a:ext cx="497078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d.</a:t>
            </a:r>
            <a:r>
              <a:rPr lang="en-US" sz="1500" dirty="0">
                <a:solidFill>
                  <a:srgbClr val="14213D"/>
                </a:solidFill>
                <a:latin typeface="IBM Plex Sans" pitchFamily="34" charset="0"/>
                <a:ea typeface="IBM Plex Sans" pitchFamily="34" charset="-122"/>
                <a:cs typeface="IBM Plex Sans" pitchFamily="34" charset="-120"/>
              </a:rPr>
              <a:t> What is the shape of </a:t>
            </a:r>
            <a:r>
              <a:rPr lang="en-US" sz="1500" dirty="0">
                <a:solidFill>
                  <a:srgbClr val="2563A8"/>
                </a:solidFill>
                <a:latin typeface="IBM Plex Sans" pitchFamily="34" charset="0"/>
                <a:ea typeface="IBM Plex Sans" pitchFamily="34" charset="-122"/>
                <a:cs typeface="IBM Plex Sans" pitchFamily="34" charset="-120"/>
              </a:rPr>
              <a:t>fake</a:t>
            </a:r>
            <a:r>
              <a:rPr lang="en-US" sz="1500" dirty="0">
                <a:solidFill>
                  <a:srgbClr val="14213D"/>
                </a:solidFill>
                <a:latin typeface="IBM Plex Sans" pitchFamily="34" charset="0"/>
                <a:ea typeface="IBM Plex Sans" pitchFamily="34" charset="-122"/>
                <a:cs typeface="IBM Plex Sans" pitchFamily="34" charset="-120"/>
              </a:rPr>
              <a:t> in a full batch?</a:t>
            </a:r>
            <a:endParaRPr lang="en-US" sz="1500" dirty="0"/>
          </a:p>
        </p:txBody>
      </p:sp>
      <p:sp>
        <p:nvSpPr>
          <p:cNvPr id="12" name="Text 10"/>
          <p:cNvSpPr/>
          <p:nvPr/>
        </p:nvSpPr>
        <p:spPr>
          <a:xfrm>
            <a:off x="6350000" y="4635500"/>
            <a:ext cx="490537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24E17"/>
                </a:solidFill>
                <a:latin typeface="IBM Plex Sans" pitchFamily="34" charset="0"/>
                <a:ea typeface="IBM Plex Sans" pitchFamily="34" charset="-122"/>
                <a:cs typeface="IBM Plex Sans" pitchFamily="34" charset="-120"/>
              </a:rPr>
              <a:t>(64, 1, 28, 28)</a:t>
            </a:r>
            <a:endParaRPr lang="en-US" sz="1400" dirty="0"/>
          </a:p>
        </p:txBody>
      </p:sp>
      <p:sp>
        <p:nvSpPr>
          <p:cNvPr id="13" name="Text 11"/>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1 · 07 Notebook · min 104–112</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BF0CF"/>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0"/>
                </a:solidFill>
                <a:latin typeface="IBM Plex Sans" pitchFamily="34" charset="0"/>
                <a:ea typeface="IBM Plex Sans" pitchFamily="34" charset="-122"/>
                <a:cs typeface="IBM Plex Sans" pitchFamily="34" charset="-120"/>
              </a:rPr>
              <a:t>TASK 3 OF 4 · 15 MINUTES · PICK ONE, PREDICT FIRST</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One experiment: change one thing, predict, run</a:t>
            </a:r>
            <a:endParaRPr lang="en-US" sz="3200" dirty="0"/>
          </a:p>
        </p:txBody>
      </p:sp>
      <p:sp>
        <p:nvSpPr>
          <p:cNvPr id="4" name="Shape 2"/>
          <p:cNvSpPr/>
          <p:nvPr/>
        </p:nvSpPr>
        <p:spPr>
          <a:xfrm>
            <a:off x="812800" y="1778000"/>
            <a:ext cx="5175250" cy="1905000"/>
          </a:xfrm>
          <a:prstGeom prst="roundRect">
            <a:avLst>
              <a:gd name="adj" fmla="val 5333"/>
            </a:avLst>
          </a:prstGeom>
          <a:solidFill>
            <a:srgbClr val="FFFDF8"/>
          </a:solidFill>
          <a:ln/>
        </p:spPr>
      </p:sp>
      <p:sp>
        <p:nvSpPr>
          <p:cNvPr id="5" name="Text 3"/>
          <p:cNvSpPr/>
          <p:nvPr/>
        </p:nvSpPr>
        <p:spPr>
          <a:xfrm>
            <a:off x="1047750" y="1905000"/>
            <a:ext cx="490537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Space Grotesk" pitchFamily="34" charset="0"/>
                <a:ea typeface="Space Grotesk" pitchFamily="34" charset="-122"/>
                <a:cs typeface="Space Grotesk" pitchFamily="34" charset="-120"/>
              </a:rPr>
              <a:t>A · Watch G learn</a:t>
            </a:r>
            <a:endParaRPr lang="en-US" sz="1700" dirty="0"/>
          </a:p>
        </p:txBody>
      </p:sp>
      <p:sp>
        <p:nvSpPr>
          <p:cNvPr id="6" name="Text 4"/>
          <p:cNvSpPr/>
          <p:nvPr/>
        </p:nvSpPr>
        <p:spPr>
          <a:xfrm>
            <a:off x="1047750" y="2254250"/>
            <a:ext cx="490537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657"/>
                </a:solidFill>
                <a:latin typeface="IBM Plex Sans" pitchFamily="34" charset="0"/>
                <a:ea typeface="IBM Plex Sans" pitchFamily="34" charset="-122"/>
                <a:cs typeface="IBM Plex Sans" pitchFamily="34" charset="-120"/>
              </a:rPr>
              <a:t>Before the loop: </a:t>
            </a:r>
            <a:r>
              <a:rPr lang="en-US" sz="1300" dirty="0">
                <a:solidFill>
                  <a:srgbClr val="2563A8"/>
                </a:solidFill>
                <a:latin typeface="IBM Plex Sans" pitchFamily="34" charset="0"/>
                <a:ea typeface="IBM Plex Sans" pitchFamily="34" charset="-122"/>
                <a:cs typeface="IBM Plex Sans" pitchFamily="34" charset="-120"/>
              </a:rPr>
              <a:t>fixed_noise = torch.randn(16, 100)</a:t>
            </a:r>
            <a:r>
              <a:rPr lang="en-US" sz="1300" dirty="0">
                <a:solidFill>
                  <a:srgbClr val="3D4657"/>
                </a:solidFill>
                <a:latin typeface="IBM Plex Sans" pitchFamily="34" charset="0"/>
                <a:ea typeface="IBM Plex Sans" pitchFamily="34" charset="-122"/>
                <a:cs typeface="IBM Plex Sans" pitchFamily="34" charset="-120"/>
              </a:rPr>
              <a:t>. After each epoch, plot </a:t>
            </a:r>
            <a:r>
              <a:rPr lang="en-US" sz="1300" dirty="0">
                <a:solidFill>
                  <a:srgbClr val="2563A8"/>
                </a:solidFill>
                <a:latin typeface="IBM Plex Sans" pitchFamily="34" charset="0"/>
                <a:ea typeface="IBM Plex Sans" pitchFamily="34" charset="-122"/>
                <a:cs typeface="IBM Plex Sans" pitchFamily="34" charset="-120"/>
              </a:rPr>
              <a:t>generator(fixed_noise).detach()</a:t>
            </a:r>
            <a:r>
              <a:rPr lang="en-US" sz="1300" dirty="0">
                <a:solidFill>
                  <a:srgbClr val="3D4657"/>
                </a:solidFill>
                <a:latin typeface="IBM Plex Sans" pitchFamily="34" charset="0"/>
                <a:ea typeface="IBM Plex Sans" pitchFamily="34" charset="-122"/>
                <a:cs typeface="IBM Plex Sans" pitchFamily="34" charset="-120"/>
              </a:rPr>
              <a:t>. Set epochs = 5.</a:t>
            </a:r>
            <a:endParaRPr lang="en-US" sz="1300" dirty="0"/>
          </a:p>
        </p:txBody>
      </p:sp>
      <p:sp>
        <p:nvSpPr>
          <p:cNvPr id="7" name="Shape 5"/>
          <p:cNvSpPr/>
          <p:nvPr/>
        </p:nvSpPr>
        <p:spPr>
          <a:xfrm>
            <a:off x="6203950" y="1778000"/>
            <a:ext cx="5175250" cy="1905000"/>
          </a:xfrm>
          <a:prstGeom prst="roundRect">
            <a:avLst>
              <a:gd name="adj" fmla="val 5333"/>
            </a:avLst>
          </a:prstGeom>
          <a:solidFill>
            <a:srgbClr val="FFFDF8"/>
          </a:solidFill>
          <a:ln/>
        </p:spPr>
      </p:sp>
      <p:sp>
        <p:nvSpPr>
          <p:cNvPr id="8" name="Text 6"/>
          <p:cNvSpPr/>
          <p:nvPr/>
        </p:nvSpPr>
        <p:spPr>
          <a:xfrm>
            <a:off x="6438900" y="1905000"/>
            <a:ext cx="490537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Space Grotesk" pitchFamily="34" charset="0"/>
                <a:ea typeface="Space Grotesk" pitchFamily="34" charset="-122"/>
                <a:cs typeface="Space Grotesk" pitchFamily="34" charset="-120"/>
              </a:rPr>
              <a:t>B · Smaller latent space</a:t>
            </a:r>
            <a:endParaRPr lang="en-US" sz="1700" dirty="0"/>
          </a:p>
        </p:txBody>
      </p:sp>
      <p:sp>
        <p:nvSpPr>
          <p:cNvPr id="9" name="Text 7"/>
          <p:cNvSpPr/>
          <p:nvPr/>
        </p:nvSpPr>
        <p:spPr>
          <a:xfrm>
            <a:off x="6438900" y="2254250"/>
            <a:ext cx="490537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657"/>
                </a:solidFill>
                <a:latin typeface="IBM Plex Sans" pitchFamily="34" charset="0"/>
                <a:ea typeface="IBM Plex Sans" pitchFamily="34" charset="-122"/>
                <a:cs typeface="IBM Plex Sans" pitchFamily="34" charset="-120"/>
              </a:rPr>
              <a:t>Change 100 → 10 in </a:t>
            </a:r>
            <a:r>
              <a:rPr lang="en-US" sz="1300" b="1" dirty="0">
                <a:solidFill>
                  <a:srgbClr val="3D4657"/>
                </a:solidFill>
                <a:latin typeface="IBM Plex Sans" pitchFamily="34" charset="0"/>
                <a:ea typeface="IBM Plex Sans" pitchFamily="34" charset="-122"/>
                <a:cs typeface="IBM Plex Sans" pitchFamily="34" charset="-120"/>
              </a:rPr>
              <a:t>all three</a:t>
            </a:r>
            <a:r>
              <a:rPr lang="en-US" sz="1300" dirty="0">
                <a:solidFill>
                  <a:srgbClr val="3D4657"/>
                </a:solidFill>
                <a:latin typeface="IBM Plex Sans" pitchFamily="34" charset="0"/>
                <a:ea typeface="IBM Plex Sans" pitchFamily="34" charset="-122"/>
                <a:cs typeface="IBM Plex Sans" pitchFamily="34" charset="-120"/>
              </a:rPr>
              <a:t> places: nn.Linear(100, 256) and both torch.randn(…, 100). Does variety drop?</a:t>
            </a:r>
            <a:endParaRPr lang="en-US" sz="1300" dirty="0"/>
          </a:p>
        </p:txBody>
      </p:sp>
      <p:sp>
        <p:nvSpPr>
          <p:cNvPr id="10" name="Shape 8"/>
          <p:cNvSpPr/>
          <p:nvPr/>
        </p:nvSpPr>
        <p:spPr>
          <a:xfrm>
            <a:off x="812800" y="3873500"/>
            <a:ext cx="5175250" cy="1905000"/>
          </a:xfrm>
          <a:prstGeom prst="roundRect">
            <a:avLst>
              <a:gd name="adj" fmla="val 5333"/>
            </a:avLst>
          </a:prstGeom>
          <a:solidFill>
            <a:srgbClr val="FFFDF8"/>
          </a:solidFill>
          <a:ln/>
        </p:spPr>
      </p:sp>
      <p:sp>
        <p:nvSpPr>
          <p:cNvPr id="11" name="Text 9"/>
          <p:cNvSpPr/>
          <p:nvPr/>
        </p:nvSpPr>
        <p:spPr>
          <a:xfrm>
            <a:off x="1047750" y="4000500"/>
            <a:ext cx="490537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Space Grotesk" pitchFamily="34" charset="0"/>
                <a:ea typeface="Space Grotesk" pitchFamily="34" charset="-122"/>
                <a:cs typeface="Space Grotesk" pitchFamily="34" charset="-120"/>
              </a:rPr>
              <a:t>C · Unbalanced players</a:t>
            </a:r>
            <a:endParaRPr lang="en-US" sz="1700" dirty="0"/>
          </a:p>
        </p:txBody>
      </p:sp>
      <p:sp>
        <p:nvSpPr>
          <p:cNvPr id="12" name="Text 10"/>
          <p:cNvSpPr/>
          <p:nvPr/>
        </p:nvSpPr>
        <p:spPr>
          <a:xfrm>
            <a:off x="1047750" y="4349750"/>
            <a:ext cx="490537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657"/>
                </a:solidFill>
                <a:latin typeface="IBM Plex Sans" pitchFamily="34" charset="0"/>
                <a:ea typeface="IBM Plex Sans" pitchFamily="34" charset="-122"/>
                <a:cs typeface="IBM Plex Sans" pitchFamily="34" charset="-120"/>
              </a:rPr>
              <a:t>Give D lr = 0.002 (10× larger), keep G at 0.0002. Who wins? What happens to Loss G and to the samples?</a:t>
            </a:r>
            <a:endParaRPr lang="en-US" sz="1300" dirty="0"/>
          </a:p>
        </p:txBody>
      </p:sp>
      <p:sp>
        <p:nvSpPr>
          <p:cNvPr id="13" name="Shape 11"/>
          <p:cNvSpPr/>
          <p:nvPr/>
        </p:nvSpPr>
        <p:spPr>
          <a:xfrm>
            <a:off x="6203950" y="3873500"/>
            <a:ext cx="5175250" cy="1905000"/>
          </a:xfrm>
          <a:prstGeom prst="roundRect">
            <a:avLst>
              <a:gd name="adj" fmla="val 5333"/>
            </a:avLst>
          </a:prstGeom>
          <a:solidFill>
            <a:srgbClr val="FFFDF8"/>
          </a:solidFill>
          <a:ln/>
        </p:spPr>
      </p:sp>
      <p:sp>
        <p:nvSpPr>
          <p:cNvPr id="14" name="Text 12"/>
          <p:cNvSpPr/>
          <p:nvPr/>
        </p:nvSpPr>
        <p:spPr>
          <a:xfrm>
            <a:off x="6438900" y="4000500"/>
            <a:ext cx="490537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Space Grotesk" pitchFamily="34" charset="0"/>
                <a:ea typeface="Space Grotesk" pitchFamily="34" charset="-122"/>
                <a:cs typeface="Space Grotesk" pitchFamily="34" charset="-120"/>
              </a:rPr>
              <a:t>D · A common GAN setting</a:t>
            </a:r>
            <a:endParaRPr lang="en-US" sz="1700" dirty="0"/>
          </a:p>
        </p:txBody>
      </p:sp>
      <p:sp>
        <p:nvSpPr>
          <p:cNvPr id="15" name="Text 13"/>
          <p:cNvSpPr/>
          <p:nvPr/>
        </p:nvSpPr>
        <p:spPr>
          <a:xfrm>
            <a:off x="6438900" y="4349750"/>
            <a:ext cx="490537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657"/>
                </a:solidFill>
                <a:latin typeface="IBM Plex Sans" pitchFamily="34" charset="0"/>
                <a:ea typeface="IBM Plex Sans" pitchFamily="34" charset="-122"/>
                <a:cs typeface="IBM Plex Sans" pitchFamily="34" charset="-120"/>
              </a:rPr>
              <a:t>Add </a:t>
            </a:r>
            <a:r>
              <a:rPr lang="en-US" sz="1300" dirty="0">
                <a:solidFill>
                  <a:srgbClr val="2563A8"/>
                </a:solidFill>
                <a:latin typeface="IBM Plex Sans" pitchFamily="34" charset="0"/>
                <a:ea typeface="IBM Plex Sans" pitchFamily="34" charset="-122"/>
                <a:cs typeface="IBM Plex Sans" pitchFamily="34" charset="-120"/>
              </a:rPr>
              <a:t>betas=(0.5, 0.999)</a:t>
            </a:r>
            <a:r>
              <a:rPr lang="en-US" sz="1300" dirty="0">
                <a:solidFill>
                  <a:srgbClr val="3D4657"/>
                </a:solidFill>
                <a:latin typeface="IBM Plex Sans" pitchFamily="34" charset="0"/>
                <a:ea typeface="IBM Plex Sans" pitchFamily="34" charset="-122"/>
                <a:cs typeface="IBM Plex Sans" pitchFamily="34" charset="-120"/>
              </a:rPr>
              <a:t> to both Adam optimizers (the DCGAN recommendation). Compare samples after 2 epochs.</a:t>
            </a:r>
            <a:endParaRPr lang="en-US" sz="1300" dirty="0"/>
          </a:p>
        </p:txBody>
      </p:sp>
      <p:sp>
        <p:nvSpPr>
          <p:cNvPr id="16" name="Text 14"/>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1 · 07 Notebook · min 112–127 · write your prediction before you press run</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DCE8F5"/>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63A8"/>
                </a:solidFill>
                <a:latin typeface="IBM Plex Sans" pitchFamily="34" charset="0"/>
                <a:ea typeface="IBM Plex Sans" pitchFamily="34" charset="-122"/>
                <a:cs typeface="IBM Plex Sans" pitchFamily="34" charset="-120"/>
              </a:rPr>
              <a:t>TASK 4 OF 4 · 11 MINUTES · IN PAIRS</a:t>
            </a:r>
            <a:endParaRPr lang="en-US" sz="1200" dirty="0"/>
          </a:p>
        </p:txBody>
      </p:sp>
      <p:sp>
        <p:nvSpPr>
          <p:cNvPr id="3" name="Text 1"/>
          <p:cNvSpPr/>
          <p:nvPr/>
        </p:nvSpPr>
        <p:spPr>
          <a:xfrm>
            <a:off x="812800" y="82550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Explore the latent space: walk from one digit to another</a:t>
            </a:r>
            <a:endParaRPr lang="en-US" sz="3200" dirty="0"/>
          </a:p>
        </p:txBody>
      </p:sp>
      <p:sp>
        <p:nvSpPr>
          <p:cNvPr id="4" name="Shape 2"/>
          <p:cNvSpPr/>
          <p:nvPr/>
        </p:nvSpPr>
        <p:spPr>
          <a:xfrm>
            <a:off x="812800" y="1905000"/>
            <a:ext cx="6350000" cy="3810000"/>
          </a:xfrm>
          <a:prstGeom prst="roundRect">
            <a:avLst>
              <a:gd name="adj" fmla="val 3000"/>
            </a:avLst>
          </a:prstGeom>
          <a:solidFill>
            <a:srgbClr val="14213D"/>
          </a:solidFill>
          <a:ln/>
        </p:spPr>
      </p:sp>
      <p:sp>
        <p:nvSpPr>
          <p:cNvPr id="5" name="Text 3"/>
          <p:cNvSpPr/>
          <p:nvPr/>
        </p:nvSpPr>
        <p:spPr>
          <a:xfrm>
            <a:off x="1047750" y="2063750"/>
            <a:ext cx="6148070" cy="3096022"/>
          </a:xfrm>
          <a:prstGeom prst="rect">
            <a:avLst/>
          </a:prstGeom>
          <a:noFill/>
          <a:ln/>
        </p:spPr>
        <p:txBody>
          <a:bodyPr wrap="square" lIns="0" tIns="0" rIns="0" bIns="0" rtlCol="0" anchor="t">
            <a:normAutofit/>
          </a:bodyPr>
          <a:lstStyle/>
          <a:p>
            <a:pPr algn="l" indent="0" marL="0">
              <a:lnSpc>
                <a:spcPts val="2015"/>
              </a:lnSpc>
              <a:buNone/>
            </a:pPr>
            <a:r>
              <a:rPr lang="en-US" sz="1300" dirty="0">
                <a:solidFill>
                  <a:srgbClr val="8E9AAF"/>
                </a:solidFill>
                <a:latin typeface="JetBrains Mono" pitchFamily="34" charset="0"/>
                <a:ea typeface="JetBrains Mono" pitchFamily="34" charset="-122"/>
                <a:cs typeface="JetBrains Mono" pitchFamily="34" charset="-120"/>
              </a:rPr>
              <a:t># new cell, after training</a:t>
            </a:r>
            <a:endParaRPr lang="en-US" sz="1300" dirty="0"/>
          </a:p>
          <a:p>
            <a:pPr algn="l" indent="0" marL="0">
              <a:lnSpc>
                <a:spcPts val="2015"/>
              </a:lnSpc>
              <a:buNone/>
            </a:pPr>
            <a:r>
              <a:rPr lang="en-US" sz="1300" dirty="0">
                <a:solidFill>
                  <a:srgbClr val="E6EAF0"/>
                </a:solidFill>
                <a:latin typeface="JetBrains Mono" pitchFamily="34" charset="0"/>
                <a:ea typeface="JetBrains Mono" pitchFamily="34" charset="-122"/>
                <a:cs typeface="JetBrains Mono" pitchFamily="34" charset="-120"/>
              </a:rPr>
              <a:t>z1 = torch.randn(1, 100)</a:t>
            </a:r>
            <a:endParaRPr lang="en-US" sz="1300" dirty="0"/>
          </a:p>
          <a:p>
            <a:pPr algn="l" indent="0" marL="0">
              <a:lnSpc>
                <a:spcPts val="2015"/>
              </a:lnSpc>
              <a:buNone/>
            </a:pPr>
            <a:r>
              <a:rPr lang="en-US" sz="1300" dirty="0">
                <a:solidFill>
                  <a:srgbClr val="E6EAF0"/>
                </a:solidFill>
                <a:latin typeface="JetBrains Mono" pitchFamily="34" charset="0"/>
                <a:ea typeface="JetBrains Mono" pitchFamily="34" charset="-122"/>
                <a:cs typeface="JetBrains Mono" pitchFamily="34" charset="-120"/>
              </a:rPr>
              <a:t>z2 = torch.randn(1, 100)</a:t>
            </a:r>
            <a:endParaRPr lang="en-US" sz="1300" dirty="0"/>
          </a:p>
          <a:p>
            <a:pPr algn="l" indent="0" marL="0">
              <a:lnSpc>
                <a:spcPts val="2015"/>
              </a:lnSpc>
              <a:buNone/>
            </a:pPr>
            <a:r>
              <a:rPr lang="en-US" sz="1300" dirty="0">
                <a:solidFill>
                  <a:srgbClr val="E6EAF0"/>
                </a:solidFill>
                <a:latin typeface="JetBrains Mono" pitchFamily="34" charset="0"/>
                <a:ea typeface="JetBrains Mono" pitchFamily="34" charset="-122"/>
                <a:cs typeface="JetBrains Mono" pitchFamily="34" charset="-120"/>
              </a:rPr>
              <a:t>steps = 8</a:t>
            </a:r>
            <a:endParaRPr lang="en-US" sz="1300" dirty="0"/>
          </a:p>
          <a:p>
            <a:pPr algn="l" indent="0" marL="0">
              <a:lnSpc>
                <a:spcPts val="2015"/>
              </a:lnSpc>
              <a:buNone/>
            </a:pPr>
            <a:r>
              <a:rPr lang="en-US" sz="1300" dirty="0">
                <a:solidFill>
                  <a:srgbClr val="E6EAF0"/>
                </a:solidFill>
                <a:latin typeface="JetBrains Mono" pitchFamily="34" charset="0"/>
                <a:ea typeface="JetBrains Mono" pitchFamily="34" charset="-122"/>
                <a:cs typeface="JetBrains Mono" pitchFamily="34" charset="-120"/>
              </a:rPr>
              <a:t>fig, axes = plt.subplots(1, steps, figsize=(16, 2))</a:t>
            </a:r>
            <a:endParaRPr lang="en-US" sz="1300" dirty="0"/>
          </a:p>
          <a:p>
            <a:pPr algn="l" indent="0" marL="0">
              <a:lnSpc>
                <a:spcPts val="2015"/>
              </a:lnSpc>
              <a:buNone/>
            </a:pPr>
            <a:r>
              <a:rPr lang="en-US" sz="1300" dirty="0">
                <a:solidFill>
                  <a:srgbClr val="E6EAF0"/>
                </a:solidFill>
                <a:latin typeface="JetBrains Mono" pitchFamily="34" charset="0"/>
                <a:ea typeface="JetBrains Mono" pitchFamily="34" charset="-122"/>
                <a:cs typeface="JetBrains Mono" pitchFamily="34" charset="-120"/>
              </a:rPr>
              <a:t>for i in range(steps):</a:t>
            </a:r>
            <a:endParaRPr lang="en-US" sz="1300" dirty="0"/>
          </a:p>
          <a:p>
            <a:pPr algn="l" indent="0" marL="0">
              <a:lnSpc>
                <a:spcPts val="2015"/>
              </a:lnSpc>
              <a:buNone/>
            </a:pPr>
            <a:r>
              <a:rPr lang="en-US" sz="1300" dirty="0">
                <a:solidFill>
                  <a:srgbClr val="E6EAF0"/>
                </a:solidFill>
                <a:latin typeface="JetBrains Mono" pitchFamily="34" charset="0"/>
                <a:ea typeface="JetBrains Mono" pitchFamily="34" charset="-122"/>
                <a:cs typeface="JetBrains Mono" pitchFamily="34" charset="-120"/>
              </a:rPr>
              <a:t>  t = i / (steps - 1)</a:t>
            </a:r>
            <a:endParaRPr lang="en-US" sz="1300" dirty="0"/>
          </a:p>
          <a:p>
            <a:pPr algn="l" indent="0" marL="0">
              <a:lnSpc>
                <a:spcPts val="2015"/>
              </a:lnSpc>
              <a:buNone/>
            </a:pPr>
            <a:r>
              <a:rPr lang="en-US" sz="1300" dirty="0">
                <a:solidFill>
                  <a:srgbClr val="E6EAF0"/>
                </a:solidFill>
                <a:latin typeface="JetBrains Mono" pitchFamily="34" charset="0"/>
                <a:ea typeface="JetBrains Mono" pitchFamily="34" charset="-122"/>
                <a:cs typeface="JetBrains Mono" pitchFamily="34" charset="-120"/>
              </a:rPr>
              <a:t>  </a:t>
            </a:r>
            <a:r>
              <a:rPr lang="en-US" sz="1300" dirty="0">
                <a:solidFill>
                  <a:srgbClr val="E9B949"/>
                </a:solidFill>
                <a:latin typeface="JetBrains Mono" pitchFamily="34" charset="0"/>
                <a:ea typeface="JetBrains Mono" pitchFamily="34" charset="-122"/>
                <a:cs typeface="JetBrains Mono" pitchFamily="34" charset="-120"/>
              </a:rPr>
              <a:t>z = (1 - t) * z1 + t * z2</a:t>
            </a:r>
            <a:endParaRPr lang="en-US" sz="1300" dirty="0"/>
          </a:p>
          <a:p>
            <a:pPr algn="l" indent="0" marL="0">
              <a:lnSpc>
                <a:spcPts val="2015"/>
              </a:lnSpc>
              <a:buNone/>
            </a:pPr>
            <a:r>
              <a:rPr lang="en-US" sz="1300" dirty="0">
                <a:solidFill>
                  <a:srgbClr val="E6EAF0"/>
                </a:solidFill>
                <a:latin typeface="JetBrains Mono" pitchFamily="34" charset="0"/>
                <a:ea typeface="JetBrains Mono" pitchFamily="34" charset="-122"/>
                <a:cs typeface="JetBrains Mono" pitchFamily="34" charset="-120"/>
              </a:rPr>
              <a:t>  img = generator(z).detach()</a:t>
            </a:r>
            <a:endParaRPr lang="en-US" sz="1300" dirty="0"/>
          </a:p>
          <a:p>
            <a:pPr algn="l" indent="0" marL="0">
              <a:lnSpc>
                <a:spcPts val="2015"/>
              </a:lnSpc>
              <a:buNone/>
            </a:pPr>
            <a:r>
              <a:rPr lang="en-US" sz="1300" dirty="0">
                <a:solidFill>
                  <a:srgbClr val="E6EAF0"/>
                </a:solidFill>
                <a:latin typeface="JetBrains Mono" pitchFamily="34" charset="0"/>
                <a:ea typeface="JetBrains Mono" pitchFamily="34" charset="-122"/>
                <a:cs typeface="JetBrains Mono" pitchFamily="34" charset="-120"/>
              </a:rPr>
              <a:t>  axes[i].imshow(img[0][0], cmap='gray')</a:t>
            </a:r>
            <a:endParaRPr lang="en-US" sz="1300" dirty="0"/>
          </a:p>
          <a:p>
            <a:pPr algn="l" indent="0" marL="0">
              <a:lnSpc>
                <a:spcPts val="2015"/>
              </a:lnSpc>
              <a:buNone/>
            </a:pPr>
            <a:r>
              <a:rPr lang="en-US" sz="1300" dirty="0">
                <a:solidFill>
                  <a:srgbClr val="E6EAF0"/>
                </a:solidFill>
                <a:latin typeface="JetBrains Mono" pitchFamily="34" charset="0"/>
                <a:ea typeface="JetBrains Mono" pitchFamily="34" charset="-122"/>
                <a:cs typeface="JetBrains Mono" pitchFamily="34" charset="-120"/>
              </a:rPr>
              <a:t>  axes[i].axis('off')</a:t>
            </a:r>
            <a:endParaRPr lang="en-US" sz="1300" dirty="0"/>
          </a:p>
          <a:p>
            <a:pPr algn="l" indent="0" marL="0">
              <a:lnSpc>
                <a:spcPts val="2015"/>
              </a:lnSpc>
              <a:buNone/>
            </a:pPr>
            <a:r>
              <a:rPr lang="en-US" sz="1300" dirty="0">
                <a:solidFill>
                  <a:srgbClr val="E6EAF0"/>
                </a:solidFill>
                <a:latin typeface="JetBrains Mono" pitchFamily="34" charset="0"/>
                <a:ea typeface="JetBrains Mono" pitchFamily="34" charset="-122"/>
                <a:cs typeface="JetBrains Mono" pitchFamily="34" charset="-120"/>
              </a:rPr>
              <a:t>plt.show()</a:t>
            </a:r>
            <a:endParaRPr lang="en-US" sz="1300" dirty="0"/>
          </a:p>
        </p:txBody>
      </p:sp>
      <p:sp>
        <p:nvSpPr>
          <p:cNvPr id="6" name="Text 4"/>
          <p:cNvSpPr/>
          <p:nvPr/>
        </p:nvSpPr>
        <p:spPr>
          <a:xfrm>
            <a:off x="7429500" y="1905000"/>
            <a:ext cx="4068191"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1.</a:t>
            </a:r>
            <a:r>
              <a:rPr lang="en-US" sz="1500" dirty="0">
                <a:solidFill>
                  <a:srgbClr val="14213D"/>
                </a:solidFill>
                <a:latin typeface="IBM Plex Sans" pitchFamily="34" charset="0"/>
                <a:ea typeface="IBM Plex Sans" pitchFamily="34" charset="-122"/>
                <a:cs typeface="IBM Plex Sans" pitchFamily="34" charset="-120"/>
              </a:rPr>
              <a:t> Run it. Does the digit change </a:t>
            </a:r>
            <a:r>
              <a:rPr lang="en-US" sz="1500" b="1" dirty="0">
                <a:solidFill>
                  <a:srgbClr val="14213D"/>
                </a:solidFill>
                <a:latin typeface="IBM Plex Sans" pitchFamily="34" charset="0"/>
                <a:ea typeface="IBM Plex Sans" pitchFamily="34" charset="-122"/>
                <a:cs typeface="IBM Plex Sans" pitchFamily="34" charset="-120"/>
              </a:rPr>
              <a:t>smoothly</a:t>
            </a:r>
            <a:r>
              <a:rPr lang="en-US" sz="1500" dirty="0">
                <a:solidFill>
                  <a:srgbClr val="14213D"/>
                </a:solidFill>
                <a:latin typeface="IBM Plex Sans" pitchFamily="34" charset="0"/>
                <a:ea typeface="IBM Plex Sans" pitchFamily="34" charset="-122"/>
                <a:cs typeface="IBM Plex Sans" pitchFamily="34" charset="-120"/>
              </a:rPr>
              <a:t> or jump?</a:t>
            </a:r>
            <a:endParaRPr lang="en-US" sz="1500" dirty="0"/>
          </a:p>
        </p:txBody>
      </p:sp>
      <p:sp>
        <p:nvSpPr>
          <p:cNvPr id="7" name="Text 5"/>
          <p:cNvSpPr/>
          <p:nvPr/>
        </p:nvSpPr>
        <p:spPr>
          <a:xfrm>
            <a:off x="7429500" y="2794000"/>
            <a:ext cx="4068191" cy="8255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2.</a:t>
            </a:r>
            <a:r>
              <a:rPr lang="en-US" sz="1500" dirty="0">
                <a:solidFill>
                  <a:srgbClr val="14213D"/>
                </a:solidFill>
                <a:latin typeface="IBM Plex Sans" pitchFamily="34" charset="0"/>
                <a:ea typeface="IBM Plex Sans" pitchFamily="34" charset="-122"/>
                <a:cs typeface="IBM Plex Sans" pitchFamily="34" charset="-120"/>
              </a:rPr>
              <a:t> Run it 3 times. Find a pair whose endpoints are </a:t>
            </a:r>
            <a:r>
              <a:rPr lang="en-US" sz="1500" b="1" dirty="0">
                <a:solidFill>
                  <a:srgbClr val="14213D"/>
                </a:solidFill>
                <a:latin typeface="IBM Plex Sans" pitchFamily="34" charset="0"/>
                <a:ea typeface="IBM Plex Sans" pitchFamily="34" charset="-122"/>
                <a:cs typeface="IBM Plex Sans" pitchFamily="34" charset="-120"/>
              </a:rPr>
              <a:t>different digits</a:t>
            </a:r>
            <a:r>
              <a:rPr lang="en-US" sz="1500" dirty="0">
                <a:solidFill>
                  <a:srgbClr val="14213D"/>
                </a:solidFill>
                <a:latin typeface="IBM Plex Sans" pitchFamily="34" charset="0"/>
                <a:ea typeface="IBM Plex Sans" pitchFamily="34" charset="-122"/>
                <a:cs typeface="IBM Plex Sans" pitchFamily="34" charset="-120"/>
              </a:rPr>
              <a:t>. What do the middle images look like?</a:t>
            </a:r>
            <a:endParaRPr lang="en-US" sz="1500" dirty="0"/>
          </a:p>
        </p:txBody>
      </p:sp>
      <p:sp>
        <p:nvSpPr>
          <p:cNvPr id="8" name="Text 6"/>
          <p:cNvSpPr/>
          <p:nvPr/>
        </p:nvSpPr>
        <p:spPr>
          <a:xfrm>
            <a:off x="7429500" y="4000500"/>
            <a:ext cx="4068191" cy="8255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3.</a:t>
            </a:r>
            <a:r>
              <a:rPr lang="en-US" sz="1500" dirty="0">
                <a:solidFill>
                  <a:srgbClr val="14213D"/>
                </a:solidFill>
                <a:latin typeface="IBM Plex Sans" pitchFamily="34" charset="0"/>
                <a:ea typeface="IBM Plex Sans" pitchFamily="34" charset="-122"/>
                <a:cs typeface="IBM Plex Sans" pitchFamily="34" charset="-120"/>
              </a:rPr>
              <a:t> Generate 64 samples. Count how many of each digit you see. Any sign of </a:t>
            </a:r>
            <a:r>
              <a:rPr lang="en-US" sz="1500" b="1" dirty="0">
                <a:solidFill>
                  <a:srgbClr val="14213D"/>
                </a:solidFill>
                <a:latin typeface="IBM Plex Sans" pitchFamily="34" charset="0"/>
                <a:ea typeface="IBM Plex Sans" pitchFamily="34" charset="-122"/>
                <a:cs typeface="IBM Plex Sans" pitchFamily="34" charset="-120"/>
              </a:rPr>
              <a:t>mode collapse</a:t>
            </a:r>
            <a:r>
              <a:rPr lang="en-US" sz="1500" dirty="0">
                <a:solidFill>
                  <a:srgbClr val="14213D"/>
                </a:solidFill>
                <a:latin typeface="IBM Plex Sans" pitchFamily="34" charset="0"/>
                <a:ea typeface="IBM Plex Sans" pitchFamily="34" charset="-122"/>
                <a:cs typeface="IBM Plex Sans" pitchFamily="34" charset="-120"/>
              </a:rPr>
              <a:t>?</a:t>
            </a:r>
            <a:endParaRPr lang="en-US" sz="1500" dirty="0"/>
          </a:p>
        </p:txBody>
      </p:sp>
      <p:sp>
        <p:nvSpPr>
          <p:cNvPr id="9" name="Text 7"/>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1 · 07 Notebook · min 127–138</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07 · READING YOUR RESULTS</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What your results mean</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90700"/>
          <a:ext cx="10553700" cy="2702074"/>
        </p:xfrm>
        <a:graphic>
          <a:graphicData uri="http://schemas.openxmlformats.org/drawingml/2006/table">
            <a:tbl>
              <a:tblPr/>
              <a:tblGrid>
                <a:gridCol w="4221480"/>
                <a:gridCol w="6332220"/>
              </a:tblGrid>
              <a:tr h="386011">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You see…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It probably means…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Blotchy, half-formed digits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Normal for 2 epochs of a small MLP GAN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Loss D well below 1.386, Loss G above 0.693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D is still ahead; G has more to learn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Losses jump around between runs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Last-batch snapshots, and a moving target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Many samples are the same digit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Possible mode collapse: look at more samples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Loss G keeps rising, samples look like noise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D may be too strong (try experiment 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Shape mismatch error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Noise size and nn.Linear input size disagree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Text 2"/>
          <p:cNvSpPr/>
          <p:nvPr/>
        </p:nvSpPr>
        <p:spPr>
          <a:xfrm>
            <a:off x="812800" y="53975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Rule of thumb:</a:t>
            </a:r>
            <a:r>
              <a:rPr lang="en-US" sz="1500" dirty="0">
                <a:solidFill>
                  <a:srgbClr val="14213D"/>
                </a:solidFill>
                <a:latin typeface="IBM Plex Sans" pitchFamily="34" charset="0"/>
                <a:ea typeface="IBM Plex Sans" pitchFamily="34" charset="-122"/>
                <a:cs typeface="IBM Plex Sans" pitchFamily="34" charset="-120"/>
              </a:rPr>
              <a:t> GAN losses alone do not tell you quality. Always look at the images.</a:t>
            </a:r>
            <a:endParaRPr lang="en-US" sz="1500" dirty="0"/>
          </a:p>
        </p:txBody>
      </p:sp>
      <p:sp>
        <p:nvSpPr>
          <p:cNvPr id="6" name="Text 3"/>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1 · 07 Notebook · min 138–145</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9B949"/>
                </a:solidFill>
                <a:latin typeface="IBM Plex Sans" pitchFamily="34" charset="0"/>
                <a:ea typeface="IBM Plex Sans" pitchFamily="34" charset="-122"/>
                <a:cs typeface="IBM Plex Sans" pitchFamily="34" charset="-120"/>
              </a:rPr>
              <a:t>EXIT TICKET · 3 MINUTES · ON PAPER, NO NOTES</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F6F3EC"/>
                </a:solidFill>
                <a:latin typeface="Space Grotesk" pitchFamily="34" charset="0"/>
                <a:ea typeface="Space Grotesk" pitchFamily="34" charset="-122"/>
                <a:cs typeface="Space Grotesk" pitchFamily="34" charset="-120"/>
              </a:rPr>
              <a:t>Before you leave, answer four questions</a:t>
            </a:r>
            <a:endParaRPr lang="en-US" sz="3200" dirty="0"/>
          </a:p>
        </p:txBody>
      </p:sp>
      <p:sp>
        <p:nvSpPr>
          <p:cNvPr id="4" name="Text 2"/>
          <p:cNvSpPr/>
          <p:nvPr/>
        </p:nvSpPr>
        <p:spPr>
          <a:xfrm>
            <a:off x="812800" y="1841500"/>
            <a:ext cx="558800"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E9B949"/>
                </a:solidFill>
                <a:latin typeface="Space Grotesk" pitchFamily="34" charset="0"/>
                <a:ea typeface="Space Grotesk" pitchFamily="34" charset="-122"/>
                <a:cs typeface="Space Grotesk" pitchFamily="34" charset="-120"/>
              </a:rPr>
              <a:t>1</a:t>
            </a:r>
            <a:endParaRPr lang="en-US" sz="2400" dirty="0"/>
          </a:p>
        </p:txBody>
      </p:sp>
      <p:sp>
        <p:nvSpPr>
          <p:cNvPr id="5" name="Text 3"/>
          <p:cNvSpPr/>
          <p:nvPr/>
        </p:nvSpPr>
        <p:spPr>
          <a:xfrm>
            <a:off x="1397000" y="1905000"/>
            <a:ext cx="10268585"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6F3EC"/>
                </a:solidFill>
                <a:latin typeface="IBM Plex Sans" pitchFamily="34" charset="0"/>
                <a:ea typeface="IBM Plex Sans" pitchFamily="34" charset="-122"/>
                <a:cs typeface="IBM Plex Sans" pitchFamily="34" charset="-120"/>
              </a:rPr>
              <a:t>Write the full form of GAN. Explain "adversarial" in one sentence.</a:t>
            </a:r>
            <a:endParaRPr lang="en-US" sz="1700" dirty="0"/>
          </a:p>
        </p:txBody>
      </p:sp>
      <p:sp>
        <p:nvSpPr>
          <p:cNvPr id="6" name="Text 4"/>
          <p:cNvSpPr/>
          <p:nvPr/>
        </p:nvSpPr>
        <p:spPr>
          <a:xfrm>
            <a:off x="812800" y="2667000"/>
            <a:ext cx="558800"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E9B949"/>
                </a:solidFill>
                <a:latin typeface="Space Grotesk" pitchFamily="34" charset="0"/>
                <a:ea typeface="Space Grotesk" pitchFamily="34" charset="-122"/>
                <a:cs typeface="Space Grotesk" pitchFamily="34" charset="-120"/>
              </a:rPr>
              <a:t>2</a:t>
            </a:r>
            <a:endParaRPr lang="en-US" sz="2400" dirty="0"/>
          </a:p>
        </p:txBody>
      </p:sp>
      <p:sp>
        <p:nvSpPr>
          <p:cNvPr id="7" name="Text 5"/>
          <p:cNvSpPr/>
          <p:nvPr/>
        </p:nvSpPr>
        <p:spPr>
          <a:xfrm>
            <a:off x="1397000" y="2730500"/>
            <a:ext cx="10268585"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6F3EC"/>
                </a:solidFill>
                <a:latin typeface="IBM Plex Sans" pitchFamily="34" charset="0"/>
                <a:ea typeface="IBM Plex Sans" pitchFamily="34" charset="-122"/>
                <a:cs typeface="IBM Plex Sans" pitchFamily="34" charset="-120"/>
              </a:rPr>
              <a:t>For a generated image, D(G(z)) = 0.3. Which way does </a:t>
            </a:r>
            <a:r>
              <a:rPr lang="en-US" sz="1700" dirty="0">
                <a:solidFill>
                  <a:srgbClr val="F2B48C"/>
                </a:solidFill>
                <a:latin typeface="IBM Plex Sans" pitchFamily="34" charset="0"/>
                <a:ea typeface="IBM Plex Sans" pitchFamily="34" charset="-122"/>
                <a:cs typeface="IBM Plex Sans" pitchFamily="34" charset="-120"/>
              </a:rPr>
              <a:t>D</a:t>
            </a:r>
            <a:r>
              <a:rPr lang="en-US" sz="1700" dirty="0">
                <a:solidFill>
                  <a:srgbClr val="F6F3EC"/>
                </a:solidFill>
                <a:latin typeface="IBM Plex Sans" pitchFamily="34" charset="0"/>
                <a:ea typeface="IBM Plex Sans" pitchFamily="34" charset="-122"/>
                <a:cs typeface="IBM Plex Sans" pitchFamily="34" charset="-120"/>
              </a:rPr>
              <a:t> want it to move? Which way does </a:t>
            </a:r>
            <a:r>
              <a:rPr lang="en-US" sz="1700" dirty="0">
                <a:solidFill>
                  <a:srgbClr val="8DB8EA"/>
                </a:solidFill>
                <a:latin typeface="IBM Plex Sans" pitchFamily="34" charset="0"/>
                <a:ea typeface="IBM Plex Sans" pitchFamily="34" charset="-122"/>
                <a:cs typeface="IBM Plex Sans" pitchFamily="34" charset="-120"/>
              </a:rPr>
              <a:t>G</a:t>
            </a:r>
            <a:r>
              <a:rPr lang="en-US" sz="1700" dirty="0">
                <a:solidFill>
                  <a:srgbClr val="F6F3EC"/>
                </a:solidFill>
                <a:latin typeface="IBM Plex Sans" pitchFamily="34" charset="0"/>
                <a:ea typeface="IBM Plex Sans" pitchFamily="34" charset="-122"/>
                <a:cs typeface="IBM Plex Sans" pitchFamily="34" charset="-120"/>
              </a:rPr>
              <a:t>?</a:t>
            </a:r>
            <a:endParaRPr lang="en-US" sz="1700" dirty="0"/>
          </a:p>
        </p:txBody>
      </p:sp>
      <p:sp>
        <p:nvSpPr>
          <p:cNvPr id="8" name="Text 6"/>
          <p:cNvSpPr/>
          <p:nvPr/>
        </p:nvSpPr>
        <p:spPr>
          <a:xfrm>
            <a:off x="812800" y="3810000"/>
            <a:ext cx="558800"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E9B949"/>
                </a:solidFill>
                <a:latin typeface="Space Grotesk" pitchFamily="34" charset="0"/>
                <a:ea typeface="Space Grotesk" pitchFamily="34" charset="-122"/>
                <a:cs typeface="Space Grotesk" pitchFamily="34" charset="-120"/>
              </a:rPr>
              <a:t>3</a:t>
            </a:r>
            <a:endParaRPr lang="en-US" sz="2400" dirty="0"/>
          </a:p>
        </p:txBody>
      </p:sp>
      <p:sp>
        <p:nvSpPr>
          <p:cNvPr id="9" name="Text 7"/>
          <p:cNvSpPr/>
          <p:nvPr/>
        </p:nvSpPr>
        <p:spPr>
          <a:xfrm>
            <a:off x="1397000" y="3873500"/>
            <a:ext cx="10268585"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6F3EC"/>
                </a:solidFill>
                <a:latin typeface="IBM Plex Sans" pitchFamily="34" charset="0"/>
                <a:ea typeface="IBM Plex Sans" pitchFamily="34" charset="-122"/>
                <a:cs typeface="IBM Plex Sans" pitchFamily="34" charset="-120"/>
              </a:rPr>
              <a:t>In the notebook, what does </a:t>
            </a:r>
            <a:r>
              <a:rPr lang="en-US" sz="1700" dirty="0">
                <a:solidFill>
                  <a:srgbClr val="E9B949"/>
                </a:solidFill>
                <a:latin typeface="IBM Plex Sans" pitchFamily="34" charset="0"/>
                <a:ea typeface="IBM Plex Sans" pitchFamily="34" charset="-122"/>
                <a:cs typeface="IBM Plex Sans" pitchFamily="34" charset="-120"/>
              </a:rPr>
              <a:t>fake.detach()</a:t>
            </a:r>
            <a:r>
              <a:rPr lang="en-US" sz="1700" dirty="0">
                <a:solidFill>
                  <a:srgbClr val="F6F3EC"/>
                </a:solidFill>
                <a:latin typeface="IBM Plex Sans" pitchFamily="34" charset="0"/>
                <a:ea typeface="IBM Plex Sans" pitchFamily="34" charset="-122"/>
                <a:cs typeface="IBM Plex Sans" pitchFamily="34" charset="-120"/>
              </a:rPr>
              <a:t> do in the discriminator step?</a:t>
            </a:r>
            <a:endParaRPr lang="en-US" sz="1700" dirty="0"/>
          </a:p>
        </p:txBody>
      </p:sp>
      <p:sp>
        <p:nvSpPr>
          <p:cNvPr id="10" name="Text 8"/>
          <p:cNvSpPr/>
          <p:nvPr/>
        </p:nvSpPr>
        <p:spPr>
          <a:xfrm>
            <a:off x="812800" y="4635500"/>
            <a:ext cx="558800"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E9B949"/>
                </a:solidFill>
                <a:latin typeface="Space Grotesk" pitchFamily="34" charset="0"/>
                <a:ea typeface="Space Grotesk" pitchFamily="34" charset="-122"/>
                <a:cs typeface="Space Grotesk" pitchFamily="34" charset="-120"/>
              </a:rPr>
              <a:t>4</a:t>
            </a:r>
            <a:endParaRPr lang="en-US" sz="2400" dirty="0"/>
          </a:p>
        </p:txBody>
      </p:sp>
      <p:sp>
        <p:nvSpPr>
          <p:cNvPr id="11" name="Text 9"/>
          <p:cNvSpPr/>
          <p:nvPr/>
        </p:nvSpPr>
        <p:spPr>
          <a:xfrm>
            <a:off x="1397000" y="4699000"/>
            <a:ext cx="10268585"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6F3EC"/>
                </a:solidFill>
                <a:latin typeface="IBM Plex Sans" pitchFamily="34" charset="0"/>
                <a:ea typeface="IBM Plex Sans" pitchFamily="34" charset="-122"/>
                <a:cs typeface="IBM Plex Sans" pitchFamily="34" charset="-120"/>
              </a:rPr>
              <a:t>One thing that is still confusing (your "muddiest point").</a:t>
            </a:r>
            <a:endParaRPr lang="en-US" sz="1700" dirty="0"/>
          </a:p>
        </p:txBody>
      </p:sp>
      <p:sp>
        <p:nvSpPr>
          <p:cNvPr id="12" name="Text 10"/>
          <p:cNvSpPr/>
          <p:nvPr/>
        </p:nvSpPr>
        <p:spPr>
          <a:xfrm>
            <a:off x="812800" y="5461000"/>
            <a:ext cx="1088339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8D6"/>
                </a:solidFill>
                <a:latin typeface="IBM Plex Sans" pitchFamily="34" charset="0"/>
                <a:ea typeface="IBM Plex Sans" pitchFamily="34" charset="-122"/>
                <a:cs typeface="IBM Plex Sans" pitchFamily="34" charset="-120"/>
              </a:rPr>
              <a:t>Answers: 1 Generative Adversarial Network; two networks with opposite goals on the same score · 2 D → 0, G → 1 · 3 stops gradients flowing into G, so only D learns</a:t>
            </a:r>
            <a:endParaRPr lang="en-US" sz="13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DISCUSSION, NEXT CLASS AND REFERENCES</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Next: why GAN training is hard</a:t>
            </a:r>
            <a:endParaRPr lang="en-US" sz="3200" dirty="0"/>
          </a:p>
        </p:txBody>
      </p:sp>
      <p:sp>
        <p:nvSpPr>
          <p:cNvPr id="4" name="Shape 2"/>
          <p:cNvSpPr/>
          <p:nvPr/>
        </p:nvSpPr>
        <p:spPr>
          <a:xfrm>
            <a:off x="812800" y="1778000"/>
            <a:ext cx="4064000" cy="4000500"/>
          </a:xfrm>
          <a:prstGeom prst="roundRect">
            <a:avLst>
              <a:gd name="adj" fmla="val 2857"/>
            </a:avLst>
          </a:prstGeom>
          <a:solidFill>
            <a:srgbClr val="14213D"/>
          </a:solidFill>
          <a:ln/>
        </p:spPr>
      </p:sp>
      <p:sp>
        <p:nvSpPr>
          <p:cNvPr id="5" name="Text 3"/>
          <p:cNvSpPr/>
          <p:nvPr/>
        </p:nvSpPr>
        <p:spPr>
          <a:xfrm>
            <a:off x="1047750" y="1936750"/>
            <a:ext cx="3728085"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E9B949"/>
                </a:solidFill>
                <a:latin typeface="IBM Plex Sans" pitchFamily="34" charset="0"/>
                <a:ea typeface="IBM Plex Sans" pitchFamily="34" charset="-122"/>
                <a:cs typeface="IBM Plex Sans" pitchFamily="34" charset="-120"/>
              </a:rPr>
              <a:t>DISCUSS (2 MIN)</a:t>
            </a:r>
            <a:endParaRPr lang="en-US" sz="1300" dirty="0"/>
          </a:p>
        </p:txBody>
      </p:sp>
      <p:sp>
        <p:nvSpPr>
          <p:cNvPr id="6" name="Text 4"/>
          <p:cNvSpPr/>
          <p:nvPr/>
        </p:nvSpPr>
        <p:spPr>
          <a:xfrm>
            <a:off x="1047750" y="2254250"/>
            <a:ext cx="3728085"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3EC"/>
                </a:solidFill>
                <a:latin typeface="IBM Plex Sans" pitchFamily="34" charset="0"/>
                <a:ea typeface="IBM Plex Sans" pitchFamily="34" charset="-122"/>
                <a:cs typeface="IBM Plex Sans" pitchFamily="34" charset="-120"/>
              </a:rPr>
              <a:t>If D is thrown away after training, why do we need it at all? Could we train G some other way?</a:t>
            </a:r>
            <a:endParaRPr lang="en-US" sz="1500" dirty="0"/>
          </a:p>
        </p:txBody>
      </p:sp>
      <p:sp>
        <p:nvSpPr>
          <p:cNvPr id="7" name="Text 5"/>
          <p:cNvSpPr/>
          <p:nvPr/>
        </p:nvSpPr>
        <p:spPr>
          <a:xfrm>
            <a:off x="1047750" y="3746500"/>
            <a:ext cx="3728085"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E9B949"/>
                </a:solidFill>
                <a:latin typeface="IBM Plex Sans" pitchFamily="34" charset="0"/>
                <a:ea typeface="IBM Plex Sans" pitchFamily="34" charset="-122"/>
                <a:cs typeface="IBM Plex Sans" pitchFamily="34" charset="-120"/>
              </a:rPr>
              <a:t>CLASS 2</a:t>
            </a:r>
            <a:endParaRPr lang="en-US" sz="1300" dirty="0"/>
          </a:p>
        </p:txBody>
      </p:sp>
      <p:sp>
        <p:nvSpPr>
          <p:cNvPr id="8" name="Text 6"/>
          <p:cNvSpPr/>
          <p:nvPr/>
        </p:nvSpPr>
        <p:spPr>
          <a:xfrm>
            <a:off x="1047750" y="4064000"/>
            <a:ext cx="3728085"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3EC"/>
                </a:solidFill>
                <a:latin typeface="IBM Plex Sans" pitchFamily="34" charset="0"/>
                <a:ea typeface="IBM Plex Sans" pitchFamily="34" charset="-122"/>
                <a:cs typeface="IBM Plex Sans" pitchFamily="34" charset="-120"/>
              </a:rPr>
              <a:t>Nash equilibrium, mode collapse and instability. Class 3: DCGAN and conditional GAN.</a:t>
            </a:r>
            <a:endParaRPr lang="en-US" sz="1500" dirty="0"/>
          </a:p>
        </p:txBody>
      </p:sp>
      <p:sp>
        <p:nvSpPr>
          <p:cNvPr id="9" name="Text 7"/>
          <p:cNvSpPr/>
          <p:nvPr/>
        </p:nvSpPr>
        <p:spPr>
          <a:xfrm>
            <a:off x="5207000" y="1841500"/>
            <a:ext cx="6357366"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6B7280"/>
                </a:solidFill>
                <a:latin typeface="IBM Plex Sans" pitchFamily="34" charset="0"/>
                <a:ea typeface="IBM Plex Sans" pitchFamily="34" charset="-122"/>
                <a:cs typeface="IBM Plex Sans" pitchFamily="34" charset="-120"/>
              </a:rPr>
              <a:t>FURTHER STUDY: WATCH AT HOME</a:t>
            </a:r>
            <a:endParaRPr lang="en-US" sz="1300" dirty="0"/>
          </a:p>
        </p:txBody>
      </p:sp>
      <p:sp>
        <p:nvSpPr>
          <p:cNvPr id="10" name="Text 8"/>
          <p:cNvSpPr/>
          <p:nvPr/>
        </p:nvSpPr>
        <p:spPr>
          <a:xfrm>
            <a:off x="5207000" y="2159000"/>
            <a:ext cx="6357366" cy="71879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DeepBean</a:t>
            </a:r>
            <a:r>
              <a:rPr lang="en-US" sz="1300" dirty="0">
                <a:solidFill>
                  <a:srgbClr val="14213D"/>
                </a:solidFill>
                <a:latin typeface="IBM Plex Sans" pitchFamily="34" charset="0"/>
                <a:ea typeface="IBM Plex Sans" pitchFamily="34" charset="-122"/>
                <a:cs typeface="IBM Plex Sans" pitchFamily="34" charset="-120"/>
              </a:rPr>
              <a:t>, </a:t>
            </a:r>
            <a:r>
              <a:rPr lang="en-US" sz="1300" u="sng" dirty="0">
                <a:solidFill>
                  <a:srgbClr val="14213D"/>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Understanding GANs</a:t>
            </a:r>
            <a:r>
              <a:rPr lang="en-US" sz="1300" dirty="0">
                <a:solidFill>
                  <a:srgbClr val="14213D"/>
                </a:solidFill>
                <a:latin typeface="IBM Plex Sans" pitchFamily="34" charset="0"/>
                <a:ea typeface="IBM Plex Sans" pitchFamily="34" charset="-122"/>
                <a:cs typeface="IBM Plex Sans" pitchFamily="34" charset="-120"/>
              </a:rPr>
              <a:t>: 01:28 generative modelling · 04:46 GAN approach · 07:37 loss · 12:14 game theory · 13:18 / 15:33 optimal D and G · 17:26 dynamics · 22:13 non-convergence · 23:39 mode collapse</a:t>
            </a:r>
            <a:endParaRPr lang="en-US" sz="1300" dirty="0"/>
          </a:p>
        </p:txBody>
      </p:sp>
      <p:sp>
        <p:nvSpPr>
          <p:cNvPr id="11" name="Text 9"/>
          <p:cNvSpPr/>
          <p:nvPr/>
        </p:nvSpPr>
        <p:spPr>
          <a:xfrm>
            <a:off x="5207000" y="3460750"/>
            <a:ext cx="6357366"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IBM Technology</a:t>
            </a:r>
            <a:r>
              <a:rPr lang="en-US" sz="1300" dirty="0">
                <a:solidFill>
                  <a:srgbClr val="14213D"/>
                </a:solidFill>
                <a:latin typeface="IBM Plex Sans" pitchFamily="34" charset="0"/>
                <a:ea typeface="IBM Plex Sans" pitchFamily="34" charset="-122"/>
                <a:cs typeface="IBM Plex Sans" pitchFamily="34" charset="-120"/>
              </a:rPr>
              <a:t> (Martin Keen), </a:t>
            </a:r>
            <a:r>
              <a:rPr lang="en-US" sz="1300" u="sng" dirty="0">
                <a:solidFill>
                  <a:srgbClr val="14213D"/>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What are GANs?</a:t>
            </a:r>
            <a:r>
              <a:rPr lang="en-US" sz="1300" dirty="0">
                <a:solidFill>
                  <a:srgbClr val="14213D"/>
                </a:solidFill>
                <a:latin typeface="IBM Plex Sans" pitchFamily="34" charset="0"/>
                <a:ea typeface="IBM Plex Sans" pitchFamily="34" charset="-122"/>
                <a:cs typeface="IBM Plex Sans" pitchFamily="34" charset="-120"/>
              </a:rPr>
              <a:t>: flower example, zero-sum game</a:t>
            </a:r>
            <a:endParaRPr lang="en-US" sz="1300" dirty="0"/>
          </a:p>
        </p:txBody>
      </p:sp>
      <p:sp>
        <p:nvSpPr>
          <p:cNvPr id="12" name="Text 10"/>
          <p:cNvSpPr/>
          <p:nvPr/>
        </p:nvSpPr>
        <p:spPr>
          <a:xfrm>
            <a:off x="5207000" y="4095750"/>
            <a:ext cx="6357366"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Vizuara</a:t>
            </a:r>
            <a:r>
              <a:rPr lang="en-US" sz="1300" dirty="0">
                <a:solidFill>
                  <a:srgbClr val="14213D"/>
                </a:solidFill>
                <a:latin typeface="IBM Plex Sans" pitchFamily="34" charset="0"/>
                <a:ea typeface="IBM Plex Sans" pitchFamily="34" charset="-122"/>
                <a:cs typeface="IBM Plex Sans" pitchFamily="34" charset="-120"/>
              </a:rPr>
              <a:t>, </a:t>
            </a:r>
            <a:r>
              <a:rPr lang="en-US" sz="1300" u="sng" dirty="0">
                <a:solidFill>
                  <a:srgbClr val="14213D"/>
                </a:solidFill>
                <a:latin typeface="IBM Plex Sans" pitchFamily="34" charset="0"/>
                <a:ea typeface="IBM Plex Sans" pitchFamily="34" charset="-122"/>
                <a:cs typeface="IBM Plex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Build a simple GAN from scratch</a:t>
            </a:r>
            <a:r>
              <a:rPr lang="en-US" sz="1300" dirty="0">
                <a:solidFill>
                  <a:srgbClr val="14213D"/>
                </a:solidFill>
                <a:latin typeface="IBM Plex Sans" pitchFamily="34" charset="0"/>
                <a:ea typeface="IBM Plex Sans" pitchFamily="34" charset="-122"/>
                <a:cs typeface="IBM Plex Sans" pitchFamily="34" charset="-120"/>
              </a:rPr>
              <a:t>: NN1/NN2 and the probability p</a:t>
            </a:r>
            <a:endParaRPr lang="en-US" sz="1300" dirty="0"/>
          </a:p>
        </p:txBody>
      </p:sp>
      <p:sp>
        <p:nvSpPr>
          <p:cNvPr id="13" name="Text 11"/>
          <p:cNvSpPr/>
          <p:nvPr/>
        </p:nvSpPr>
        <p:spPr>
          <a:xfrm>
            <a:off x="5207000" y="4730750"/>
            <a:ext cx="6357366"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Read:</a:t>
            </a:r>
            <a:r>
              <a:rPr lang="en-US" sz="1300" dirty="0">
                <a:solidFill>
                  <a:srgbClr val="14213D"/>
                </a:solidFill>
                <a:latin typeface="IBM Plex Sans" pitchFamily="34" charset="0"/>
                <a:ea typeface="IBM Plex Sans" pitchFamily="34" charset="-122"/>
                <a:cs typeface="IBM Plex Sans" pitchFamily="34" charset="-120"/>
              </a:rPr>
              <a:t> Goodfellow et al., </a:t>
            </a:r>
            <a:r>
              <a:rPr lang="en-US" sz="1300" u="sng" dirty="0">
                <a:solidFill>
                  <a:srgbClr val="14213D"/>
                </a:solidFill>
                <a:latin typeface="IBM Plex Sans" pitchFamily="34" charset="0"/>
                <a:ea typeface="IBM Plex Sans" pitchFamily="34" charset="-122"/>
                <a:cs typeface="IBM Plex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Generative Adversarial Nets</a:t>
            </a:r>
            <a:r>
              <a:rPr lang="en-US" sz="1300" dirty="0">
                <a:solidFill>
                  <a:srgbClr val="14213D"/>
                </a:solidFill>
                <a:latin typeface="IBM Plex Sans" pitchFamily="34" charset="0"/>
                <a:ea typeface="IBM Plex Sans" pitchFamily="34" charset="-122"/>
                <a:cs typeface="IBM Plex Sans" pitchFamily="34" charset="-120"/>
              </a:rPr>
              <a:t>, 2014 · Notebook: CV-Week4-Lecture1.ipynb</a:t>
            </a:r>
            <a:endParaRPr lang="en-US" sz="1300" dirty="0"/>
          </a:p>
        </p:txBody>
      </p:sp>
      <p:sp>
        <p:nvSpPr>
          <p:cNvPr id="14" name="Text 12"/>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1 · min 148–150 · all flower images in this deck are teaching illustrations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GAN Class 1 — Basics</dc:title>
  <dc:subject>PptxGenJS Presentation</dc:subject>
  <dc:creator>PptxGenJS</dc:creator>
  <cp:lastModifiedBy>PptxGenJS</cp:lastModifiedBy>
  <cp:revision>1</cp:revision>
  <dcterms:created xsi:type="dcterms:W3CDTF">2026-09-28T01:08:07Z</dcterms:created>
  <dcterms:modified xsi:type="dcterms:W3CDTF">2026-09-28T01:08:07Z</dcterms:modified>
</cp:coreProperties>
</file>