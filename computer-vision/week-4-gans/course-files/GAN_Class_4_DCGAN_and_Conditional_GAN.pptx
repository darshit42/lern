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share GAN-Class-4-DCGAN-cGAN.ipynb with students (Colab or local). If you use Colab, ask students to switch the runtime to GPU (Runtime › Change runtime type): the whole notebook then runs in about a minute. On a CPU it takes about 7–10 minutes of training in total (2-core test machine: classifier 30 s, MLP 20 s, DCGAN 2.5 min, conditional DCGAN 3.3 min). Run Part 0 once on the classroom machines so MNIST is already downloaded. Every animated slide advances on click; notes mark each [CLICK]. TIME: 0:00–1:00. SAY: "In Class 1 we built a GAN. In the last two classes we found out why training one is so hard. Today we start with a solid revision of that, because everything else depends on it. Then two upgrades: a convolutional GAN, which is how real image GANs are built, and a conditional GAN, which lets us choose what it draws." Point at the picture: "Each row here was a request. Row zero: 'draw me a zero'. Row seven: 'draw me a seven'. This model was trained in a few minutes on a laptop, and you'll train it yourselves in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1:00–3:00. SAY: "Today has a long revision block first. Classes 2 &amp; 3 were the hardest GAN classes: equilibrium, instability, mode collapse. Everything we build today depends on it, so we spend the first 25 minutes making sure it is solid. Then two upgrades." [CLICK 1] 01: Revision of Class 2 &amp; 3. Retrieval quiz, then a fast visual tour of each idea, then a diagnosis activity. [CLICK 2] 02: why the fully connected generator from Class 1 makes speckled, blurry digits, and what a convolution does differently. [CLICK 3] 03: DCGAN, the deep convolutional GAN. Strided convolutions, transposed convolutions, and the recipe that made convolutional GANs train reliably. [CLICK 4] 04: conditional GAN. So far we cannot ask for a particular digit. Today we can. [CLICK 5] 05: the notebook. Students build and train both models and measure them with the Class 2 &amp; 3 tools. [CLICK 6] The one-line summary: same game, same tools, two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3:00–5:00. Read each outcome as a question students should be able to answer at the end. The exit ticket tests outcomes 1, 2, 4 and 5. [CLICK 1] Outcome 1 is the revision goal. "If you can look at a grid, a D plot and a histogram and say what is wrong, you have understood Class 2 &amp; 3." [CLICK 2] Outcome 2: a small piece of arithmetic everybody will need for any convolutional generator, including diffusion U-Nets later in the course. [CLICK 3] Outcome 3: the DCGAN recipe, and the reason it works. [CLICK 4] Outcome 4: conditional GAN. The Class 1 notebook's assignment, done properly. [CLICK 5] Outcome 5: content versus style, a theme that comes back in VAEs and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5:00. Section 01 runs from minute 5 to minute 30: the longest single block of the theory half, on purpose. SAY: "Classes 2 &amp; 3 had a lot of new ideas. Before we add anything, let's check they stuck. First you answer from memory, then we walk through each idea once more with the real results from the Class 2 &amp; 3 notebook, then you diagnose some runs yourselves." If you collected Class 2 &amp; 3 exit tickets, mention the top one or two "muddiest points" now and say which slide below answers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5:00–11:00. Retrieval practice: students write answers on paper FIRST (2 minutes for all five, no notes), then you take answers aloud, one question at a time, and click to reveal. [CLICK 1] Q1. Equilibrium: p_g = p_data, and the best discriminator D*(x) = p_data / (p_data + p_g) = ½ everywhere. Ask: "Does the theory say gradient training will reach it?" (No. It says it exists.) [CLICK 2] Q2. The x·y game: x's gradient is y, y's gradient is x. At every point the two steps combine into a sideways push, a rotation. Simultaneous updates spiral outwards; alternating updates orbit. [CLICK 3] Q3. D too strong. A near-perfect D is flat (≈ 0) around the fakes, so its gradient with respect to the image is ≈ 0, and G only learns through that gradient. The non-saturating loss softens this but does not remove it. [CLICK 4] Q4. Mode collapse. Targeted fixes: minibatch standard deviation or minibatch discrimination. If a student says "label smoothing", ask what problem label smoothing targets (an over-confident D, not missing variety). [CLICK 5] Q5. Grid (quality and variety by eye), who-is-winning plot (balance), digit histogram (variety). The histogram alone fooled us in Class 2 &amp; 3: Run A was labelled "1,000 eights", but the grid showed pure noise blobs. Count how many students got 4 or 5 right. If fewer than half, slow down on the next slides; if most did, move faster and spend the saved minutes on the diagnosis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11:00–13:00. Quick revision of Class 2 &amp; 3 section 01. [CLICK 1] Classifier: the correct answers never change, so gradient descent walks down a landscape that stays still. [CLICK 2] GAN: the generator learns from the discriminator, which is updated every batch, so the landscape moves under G's feet. D faces the same problem: its fakes keep changing. And because the game is zero-sum, both losses cannot be low at the same time. [CLICK 3] The practical rule. Remind them of the Class 2 &amp; 3 baseline ring GAN: losses wobbled in a normal-looking range while the generator covered only 1 of 8 clusters. ASK: "If G's loss goes up between two epochs, has G got worse?" Expected: not necessarily; D may have improved while G stayed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13:00–16:00. This is the picture from the Class 2 &amp; 3 cover: the gradient field of V(x, y) = x·y. [CLICK 1] Definition. Ask a student to say it in their own words before you click. [CLICK 2] The GAN's equilibrium (Goodfellow et al. 2014): when G's distribution equals the data distribution, the best D can only output ½. The reference lines on our loss plots, 1.386 for D and 0.693 for G, are the loss values at that point. They are reference lines, not stopping rules. [CLICK 3] The x·y game. ∂V/∂x = y, ∂V/∂y = x, so each step is x ← x − lr·y and y ← y + lr·x. In the Class 2 &amp; 3 notebook: simultaneous updates spiral outwards (distance 1.41 → 3.83 after 200 steps at lr 0.1), alternating updates (our GAN loop: D step then G step) orbit for ever. [CLICK 4] Exercise 1 of Class 2 &amp; 3: lr 0.01 still spirals out, just slowly (1.428); lr 0.5 explodes. Fixes have to change the game or the optimiser, not just the step size. Bridge: "This is why GAN training oscillates. The next two ideas are what that oscillation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16:00–18:00. [CLICK 1] Cause 1, D too strong (Arjovsky and Bottou 2017). Early in training the real and fake sets barely overlap, so D can separate them almost perfectly. A saturated D says "fake" with full confidence everywhere near the fakes; nudging a fake changes nothing, so the gradient is ~0. G never sees real data; its only teacher is D's gradient. The non-saturating loss −log D(G(z)) from Class 1 keeps the gradient steep where D(G(z)) is near 0, but a D far ahead can still stall G. [CLICK 2] Cause 2, momentum. With β1 = 0.9, each Adam step is mostly the average of past steps. In a game where the opponent keeps moving, that means reacting to an old position. β1 = 0.5 reacts faster. In Class 2 &amp; 3's Part 5, Run A (β1 = 0.9) collapsed completely; Run B (β1 = 0.5 + label smoothing) produced all ten digits. We will see those images again in two slides. Point out: "The β1 = 0.5 recommendation comes from the DCGAN paper, which is today's main topic. Every model in today's notebook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18:00–19:00. The same table as Class 2 &amp; 3 section 03, with the middle row widened slightly because today's DCGAN sits in it (D(x) near 0.9, D(G(z)) near 0.1–0.2) while still learning well. Walk the rows quickly. Ask: "Which row is the ideal equilibrium, and why is it also a warning?" (Both near 0.5: either G is perfect or D has stopped learning. Only the samples can tell.) [CLICK 1] Rules of thumb, not thresholds. Today we will see a case where D is clearly ahead but the samples keep improving; the gradient is not vanishing because D(G(z)) is not stuck at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19:00–22:00. Images from the Class 2 &amp; 3 notebook, Part 3 (8 Gaussians on a ring, baseline settings, seed 0). Top-left: the final snapshot. Grey = real data in 8 clusters, blue = 1,000 generated points. Nearly all in one place. This is the "Helvetica scenario" from the original GAN paper: G collapses many values of z to the same x. [CLICK 1] Why it happens: D scores each image on its own. A batch of 128 identical, realistic-looking sevens gets 128 good scores. Nothing penalises the missing variety. [CLICK 2] Mode hopping: the same run, snapshots every 500 steps. G sits on a cluster, D learns "points here are fake", G jumps to another cluster, D follows. It is the circling from the x·y game, happening inside a real GAN. ASK: "Could a conditional GAN, where we tell G which digit to make, still collapse?" Leave it open; it comes back in section 04 and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22:00–24:00. Results of Class 2 &amp; 3's Part 4: five fixes tested on the collapsed ring GAN, seed 0, 4,000 steps. Panels left to right: baseline (one blob), A label smoothing (scattered everywhere, 0/8), B instance noise (one blob), C TTUR (one sharp dot, 1/8; 1–3 modes on other machines), D minibatch std (all 8), E z_dim 2 (thin ring through all 8). [CLICK 1] The table is the lesson. A fix aimed at an over-confident D does not fix a variety problem. Minibatch standard deviation gives D one extra number, the spread of the batch, so a collapsed batch is easy to spot and G is punished for collapsing. Forward link: "DCGAN, today, is a different kind of fix. It doesn't target one symptom; it changes the architecture so the whole game is easier for both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24:00–25:00. The payoff slide from Class 2 &amp; 3, shown again because it carries the two most important habits. Left, Run A (Class 1 settings, β1 = 0.9): 16 different noise vectors, the same grey blob every time. Complete collapse. [CLICK 1] Its histogram says "1,000 eights". Taken alone that is wrong: the grid shows it makes no digits at all. The counter always answers with some digit. [CLICK 2] Run B (β1 = 0.5 + one-sided label smoothing 0.9): varied, recognisable digits and all ten digits in the histogram. Habits to carry into today: (1) always use the three tools together; (2) β1 = 0.5 is now our default. Today's baseline in the notebook is the Class 1 network trained with β1 =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25:00–29:00. Pairs discuss all four for 2 minutes, then cold-call one pair per case before revealing. [CLICK 1] a. Collapse. The D scores look balanced and the losses look calm; only the grid shows the problem. This is the Class 2 &amp; 3 lesson that losses and D plots do not measure variety. [CLICK 2] b. D far ahead for a long time AND samples frozen: G is starving. Both conditions matter. Fixes that soften D: one-sided label smoothing, instance noise, a gradient penalty (WGAN-GP) or spectral normalisation. [CLICK 3] c. Oscillation: both players overshoot. β1 = 0.5 (if not already), smaller learning rates. [CLICK 4] d. Healthy. Some students will call this "D too strong" because 0.85 vs 0.2 is a big gap. The difference from case b: D(G(z)) is not stuck at 0, and the samples keep improving. Case d is almost exactly what our DCGAN does in today's notebook, so this answer matters later. If time is short, do a, b and 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29:00–30:00. Close the revision block. Ask students to copy these four sentences; they are the Class 2 &amp; 3 summary for exam revision. [CLICK 1–4] Reveal one at a time; ask a student to give one example for each from the slides they just saw. [CLICK 5] Bridge: "Everything you just revised still applies. Today's notebook re-uses all three diagnostics on the new models. Now, the first upgrade: why does the Class 1 generator make such speckled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30:00. Section 02 runs from minute 30 to minute 40. SAY: "You have used convolutions in the CV part of the course for classifiers. Today we put them inside both GAN players. First, let's see exactly what goes wrong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30:00–33:00. Real output from today's notebook, Part 1.3: the Class 1 networks (100 → 256 → 784 generator, 784 → 256 → 1 discriminator) trained for 2 epochs with batch 128 and Adam β1 = 0.5. 100 samples from fixed noise. [CLICK 1] Background. A real MNIST digit has a pure black background. The generator has to learn, separately for each of 784 output units, to output −1 where there is no ink. It never quite manages it, so we get grey speckle. [CLICK 2] Strokes. Shift a digit one pixel to the right and, to a Linear layer, it is a completely different input. It has to learn "a vertical stroke at column 10" and "a vertical stroke at column 11" as unrelated facts. [CLICK 3] Variety: the digit counter from the notebook found zero 6s and 362 eights out of 1,000. Evenness is the notebook's measure: normalised entropy of the histogram, 1.0 when all ten digits appear equally often. ASK: "What property of images is this network ignoring?" Expected: that nearby pixels are related, and that the same pattern can appear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33:00–37:00. Connect to the CNN lectures from the CV half of the course (sliding-window convolution, kernel, stride, padding). [CLICK 1] Locality. A 4×4 kernel means each output value depends on 16 input values per channel, not on everything. For a generator this matters a lot: the output pixel at a background position is computed from features that already "know" they are in a background region. [CLICK 2] Weight sharing. One kernel, applied at every position. Far fewer parameters per layer, and the same pattern is recognised (in D) or drawn (in G) wherever it appears. Translation is free. [CLICK 3] DCGAN = these ideas in both players. D is basically a CNN classifier with one output. G is the same structure run backwards: start small, grow the image. ASK: "A classifier shrinks the image. How do we make a network that grows one?" That's the next section: the transposed convolution.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37:00–40:00. Numbers printed by the notebook (n_params). MLP: G 227,344 / D 201,217. DCGAN: G 759,680 / D 138,624. Common misconception to defuse: "the DCGAN is better because it is bigger". The generator is bigger, yes, mostly because of the first layer (100 noise channels × 128 filters × 7 × 7). But the discriminator is smaller, and the improvement comes from the structure, not the count. [CLICK 1] Weight sharing in numbers. [CLICK 2] Link to Class 2 &amp; 3: G never sees real data, it learns only from D's gradient. A discriminator that recognises strokes and shapes gives G gradients that say "make this stroke smoother", not just "change these pixels". Caveat from Class 2 &amp; 3: a critic that is too strong can stall G. In our run the DCGAN's D is clearly ahead, and we'll check whether that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40:00. Section 03 runs from minute 40 to minute 61. SAY: "DCGAN stands for Deep Convolutional Generative Adversarial Network. Before 2015, people had tried putting CNNs into GANs and mostly failed: training was unstable. This paper found a set of architecture rules that worked, and almost every image GAN since then starts from it. It is also the paper where β1 = 0.5 comes from." Plan for this section: how convolutions shrink and grow images, what a transposed convolution does, the full DCGAN for MNIST, the rules, and our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40:00–44:00. These are the two formulas students compute in Part 2 of the notebook (conv_out and convT_out). [CLICK 1] Conv2d: the formula from the CNN lectures. Work one example on the board: n = 28, k = 4, s = 2, p = 1 → (28 + 2 − 4) // 2 + 1 = 13 + 1 = 14. Again: (14 + 2 − 4) // 2 + 1 = 7. [CLICK 2] ConvTranspose2d: the formula runs the other way. (7 − 1)·2 − 2 + 4 = 14. (14 − 1)·2 − 2 + 4 = 28. Point out why k = 4, s = 2, p = 1 is so popular: it exactly doubles (or halves) for any even input size, so the generator and discriminator can be exact mirror images. [CLICK 3] Let a student compute it before you reveal. The noise vector is reshaped to [B, 100, 1, 1]: a 1×1 "image" with 100 channels. A 7×7 kernel with stride 1 and no padding stamps a 7×7 map from it. Note: "transposed convolution" is sometimes called "deconvolution" in older papers and blog posts. It is not the inverse of a convolution; it is a learnable upsampling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44:00–47:00. This picture is produced by a real nn.ConvTranspose2d in Part 2 of the notebook, with its weights set to ones so the arithmetic is visible. [CLICK 1] Mental model: for every input pixel, take the kernel, multiply it by the pixel value, and paste it onto the output. With stride 2 the paste positions are 2 output pixels apart for every 1 input pixel. That's why the output is twice as big. Padding 1 trims one row and column from each edge. [CLICK 2] Overlaps: with kernel 4 and stride 2, neighbouring stamps overlap by 2 pixels, and their values add up. The printed output is [[1,1,1,0],[1,3,3,2],[1,3,3,2],[0,2,2,2]]. [CLICK 3] In a trained generator the kernels are learned patterns. A 7×7 map of "there is a loop here" features can stamp out the strokes of a loop at 14×14. [CLICK 4] Checkerboard artifacts (Odena, Dumoulin and Olah, Distill 2016): if the kernel size is not divisible by the stride, some output pixels receive more stamps than others, leaving a grid pattern. Kernel 4 / stride 2 is divisible, so the overlaps are even in the middle of the image. A common alternative is "upsample, then ordinary convolution". Exercise 2, question 3 asks students to think about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47:00–52:00. This is exactly the DCGenerator and DCDiscriminator classes in Part 3 of the notebook. [CLICK 1] Generator, left to right. z: 100 random numbers, reshaped to [B, 100, 1, 1]. ConvTranspose2d(100, 128, 7, 1, 0) + BatchNorm + ReLU → [B, 128, 7, 7]. ConvTranspose2d(128, 64, 4, 2, 1) + BN + ReLU → [B, 64, 14, 14]. ConvTranspose2d(64, 1, 4, 2, 1) + Tanh → [B, 1, 28, 28], values in [−1, 1] like our normalised MNIST images. Notice the pattern: the image gets bigger while the number of channels gets smaller. Coarse "what goes where" first, fine strokes last. [CLICK 2] Discriminator, the mirror. Conv2d(1, 64, 4, 2, 1) + LeakyReLU(0.2) → [B, 64, 14, 14]. Conv2d(64, 128, 4, 2, 1) + BatchNorm + LeakyReLU → [B, 128, 7, 7]. Conv2d(128, 1, 7, 1, 0) → [B, 1, 1, 1]: one raw score (a logit). No Sigmoid, because we use BCEWithLogitsLoss, which applies it inside the loss (same as Class 2 &amp; 3). Compare with the Class 1 skeleton for CelebA faces (ConvT 100→512 with k4 s1 p0, then three k4 s2 p1): 1 → 4 → 8 → 16 → 32. Exercise 2 asks students to trace it and to add the extra layer for 64×64 faces. ASK: "Where does the generator's first layer get a 7 from?" (k = 7, s = 1, p = 0 on a 1×1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52:00–55:00. The architecture guidelines from Section 3 of the DCGAN paper (Radford, Metz, Chintala 2015, arXiv 1511.06434), plus their training details from Section 4. In the notebook they are in the table at the top of Part 3, and the init_weights function. Go row by row; for each, ask "which Class 2 &amp; 3 problem does this connect to?" - Strided convolutions: learned downsampling in D, learned upsampling in G. - BatchNorm: the paper says it helped deal with poor initialisation, helped gradients flow, and was critical to stop the generator collapsing all samples to a single point. That is mode collapse, from Class 2 &amp; 3. - Not on G's output or D's input: the paper reports that applying BN to all layers caused sample oscillation and instability. - ReLU + Tanh in G: a bounded output that matches the data range. - LeakyReLU in D: from Class 1. A plain ReLU would pass no gradient for negative inputs. - Adam with lr 0.0002 and β1 = 0.5: the paper found the default 0.9 caused oscillation and instability. That is Class 2 &amp; 3's Run A vs Run B. Weights from a normal distribution with standard deviation 0.02. Footer: the paper also removes fully connected hidden layers. Our D ends in a 7×7 convolution, which plays the role of the final linear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55:00–57:00. Real output from the side-by-side cell in Part 3 of the notebook. Both models: 2 epochs, batch 128, Adam lr 0.0002 β1 0.5, seed 0, same fixed noise. On the 2-core test machine the MLP took about 20 seconds and the DCGAN about 2.5 minutes. Let students look for 20 seconds before clicking. ASK: "Describe the difference in one word." Usual answers: "sharper", "cleaner", "darker". [CLICK 1] What improved: the background problem from section 02 is gone. Strokes are thick and connected. [CLICK 2] Be honest: several DCGAN samples are not recognisable digits yet. Two epochs is very short. The DCGAN paper trained much longer on far bigger datasets. In the notebook, Exercise 3 asks students to compare the epoch-1 and epoch-2 grids to see how fast it is improving. [CLICK 3] The kind of error changed: the MLP's errors are noise (pixel-level), the DCGAN's are shape errors (structure-level). Shape errors shrink with more training; pixel noise from a fully connected generator tends to persist.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57:00–59:00. The diagnostics from today's notebook (Parts 1.3 and 3). The digit counter is a small CNN classifier trained for one epoch: 98.1% on the MNIST test set in our run. Left: fully connected GAN. 362 eights, 225 threes, zero sixes. Partial mode collapse. [CLICK 1] DCGAN: every digit appears. Still uneven (215 threes, only 12 ones), but much better. Evenness is normalised entropy: 0.79 → 0.93. [CLICK 2] Who is winning? D(x) stays near 0.9 and D(G(z)) between about 0.05 and 0.3. By the Class 2 &amp; 3 table, D is clearly ahead. Remember case d from the revision checkpoint: D ahead, but D(G(z)) is not pinned at 0 and the samples improve. So G is still getting gradient. Not a problem to fix yet; a reason to watch. [CLICK 3] Summary table. Why are 1s rare? A "1" is a single stroke; the generator may be producing thicker shapes that the classifier reads as other digits. Exercise 4 in the notebook asks students to think about this kind of question for the cGAN. Honesty note: one run, one seed. Students' numbers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59:00–61:00. Individual, on paper. Then reveal. [CLICK 1] a. 32. Same pattern as 7 → 14 → 28: k4 s2 p1 doubles. [CLICK 2] b. 8. k4 s2 p1 halves each time. [CLICK 3] c. The DCGAN paper: batch normalisation on every layer caused sample oscillation and instability; leaving it off G's output and D's input avoided that. Intuition: the output layer has to produce actual pixel values in [−1, 1]; normalising them by batch statistics would fight that. [CLICK 4] d. Adam β1 = 0.5 (Class 2 &amp; 3, Run B). The paper reports that 0.9 led to oscillation and instability. Bridge: "Now we can generate cleaner digits. But which digit? We still have no say. That's the second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61:00. Section 04 runs from minute 61 to minute 82. SAY: "Everything so far is unconditional: we put in noise and get some digit, and we have no say in which. The Class 1 notebook ended with an assignment: extend the GAN so it generates digits conditioned on labels. Today we do that, on top of the DCGAN."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61:00–63:00. Point at the code line: this is the exact training loop line from the Class 1 and Class 2 &amp; 3 notebooks. The underscore is a Python convention for "a value I'm ignoring". It's the label. [CLICK 1] Without the label, the only control we have over the output is z, and we don't know which z gives which digit. [CLICK 2] The workaround (generate lots, keep the ones the classifier says are 7) wastes 90% of samples, and fails completely if G has collapsed away from a digit. Our fully connected baseline made zero 6s in 1,000 samples. [CLICK 3] The goal. The label says WHAT to draw (content); the noise says HOW to draw it (style). We will test that split directly at the end of this section. ASK: "If we give the label only to G, will that work?" Let them guess; the next slide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63:00–67:00. Source: Mirza and Osindero (2014), arXiv 1411.1784. The objective is the Class 1 minimax objective with y added to every network call. [CLICK 1] The generator receives the noise z AND the label y. [CLICK 2] The discriminator receives the image AND the label. Its question is sharper: not "is this a real digit?" but "is this a real 7?" A beautiful 3 presented with the label 7 should be rejected. [CLICK 3] The key point, and the answer to the question from the last slide. If D never sees y, D has no way to punish G for drawing the wrong digit. Any realistic digit passes. G gets no gradient that says "you were asked for a 7", so it learns to ignore y. The condition only matters because the critic checks it. ASK: "In the training loop, which labels should the fake images get?" Expected: the same labels we asked G for. The notebook simply reuses the real batch's labels, so real and fake batches have the same mix of digits. That keeps the comparison fair: D can't tell fakes from reals just by the label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67:00–70:00. Code from CondDCGenerator and CondDCDiscriminator in Part 4 of the notebook. Everything else is the DCGAN unchanged; only the first layer's input channel count changes (100 → 110 in G, 1 → 11 in D). [CLICK 1] Generator side. One-hot encoding: a vector of ten zeros with a single 1 at the label's position. Concatenated to the 100 noise numbers, then reshaped to [B, 110, 1, 1] exactly like before. The first ConvTranspose2d now has 110 input channels. [CLICK 2] Discriminator side. D works on images, so the label has to look like an image. We make 10 maps of size 28×28; the map for the true label is all ones, the rest all zeros. Stack them on the image channel. Now every filter in D's first layer sees, at every pixel, both the ink and "this is supposed to be a 5". [CLICK 3] The real picture from the notebook: a real "5" and its 10 label channels. Channel 5 is white (all ones). Mention alternatives without going deep: a learned embedding (nn.Embedding(10, 50)) instead of one-hot in G (that is assignment option C), or the "projection discriminator" (Miyato and Koyama 2018) used in larger models. Same idea: both players must see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70:00–72:00. The fixed-noise grid after epoch 2 of the conditional DCGAN in Part 4 (seed 0, batch 128, lr 0.0002, β1 0.5). Row r uses label r; there are 100 different noise vectors. Let students study it for 20 seconds. ASK: "Which row would you send back?" [CLICK 1] The label works: rows are the right digits. [CLICK 2] Variety within a row: that is z doing its job. This is also the answer to "can a cGAN collapse?" Yes: if all ten 7s in row 7 looked identical, that would be collapse within a class. Here they don't. [CLICK 3] Weak rows. In our run, requested 4s were sometimes read as 9s, and requested 9s as 7s or 3s (next slide has the numbers). These are digit pairs that share strokes. [CLICK 4] A useful observation: with the same architecture and training time, the conditional model's digits look more clearly formed than the unconditional DCGAN's. The label removes one decision G has to make. This is one reason conditioning is used almost everywhere in modern generative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72:00–75:00. From the conditional_accuracy function in Part 4.1. For each digit d we generate 100 samples with label d, classify them, and count how many the classifier also reads as d. This is why the notebook trains a CNN classifier (98.1% test accuracy) instead of Class 2 &amp; 3's quick MLP: if the measuring instrument is often wrong, conditional accuracy would be meaningless. Even so, part of the 15.6% "errors" are the classifier's mistakes on unusual handwriting, not G's. [CLICK 1] Per-digit bars and the "requested vs seen" matrix. A perfect conditional generator has everything on the diagonal. [CLICK 2] Best and worst digits in our run. [CLICK 3] The confusions make sense: a 9 with a short tail looks like a 7; a 4 with a closed top looks like a 9; a 2 with a curly bottom looks like a 3. Connect to Class 2 &amp; 3: the unconditional histogram measured VARIETY ("which digits does G make?"). Conditional accuracy measures CONTROL ("does G make the digit I asked for?"). A cGAN needs both: high conditional accuracy and variety within each digit. ASK: "Could conditional accuracy be 100% while the generator is collapsed?" Yes: ten perfect but identical 7s per row would score 100%. You still need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75:00–78:00. Two experiments from the notebook. Left (Part 4.2, style_vs_content): six noise vectors, each used with all ten labels. Read across a row: the thickness, size and slant stay roughly the same while the digit changes. Row 2 is thin and neat, the last row upright and clean, rows 3 and 4 thick and messy (some of those styles produce poor digits after only 2 epochs: be honest about it). The label has taken over "which digit", so z only has to encode "how it is written". [CLICK 1] Right (Part 4.3, interpolate): fix the label (2, 4 and 7) and walk in a straight line between two noise vectors. The digit changes gradually: in our run the 4 slowly closes its top, and the 7's crossbar and stem change shape step by step. No sudden jumps means G maps nearby z to similar images: a smooth latent space. [CLICK 2] Name the idea: content (label) vs style (noise). It comes back in the next module: a VAE learns a latent space by design, and interpolating in it is one of the curriculum topics. Diffusion models with text prompts use the same split: the prompt is the condition, the random noise decides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78:00–80:00. A wide view, no details needed. The point: today's mechanism scales up. Rows: - Class label: our cGAN. AC-GAN (Odena, Olah, Shlens 2017) makes D also predict the class, an alternative to feeding the label in. - Image as condition: pix2pix (Isola et al. 2017). G gets an input image (an edge map, a segmentation map) and produces a matching photo; D sees the input/output pair and judges whether it is a real pair. Needs paired training data. - Another domain, unpaired: CycleGAN (Zhu et al. 2017) learns horse → zebra with no matching pairs, using two generators and a "cycle-consistency" loss. Mention only. - Text: Reed et al. 2016, "Generative Adversarial Text to Image Synthesis", encodes a sentence and conditions both networks on it. Today this job is mostly done by diffusion models. [CLICK 1] The general recipe. [CLICK 2] Forward link to the diffusion module: in Stable Diffusion the text prompt is encoded and fed into the denoising network; it is a conditional generative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80:00–82:00. Pairs vote thumbs up/down for each, then reveal. [CLICK 1] a. False. This is the single most important point of section 04. [CLICK 2] b. False. Conditioning removes "between-class" collapse (G can't skip a digit, because we ask for each one), but within a class G can still map every z to the same 7. Detect it by looking along a row of the grid, or with style_vs_content. [CLICK 3] c. True. This is Exercise 4, question 3 in the notebook: 200 generated 7s, scored by D with the correct label and with a wrong label. In our run 0.315 vs 0.141. D has learned the image–label match, which is exactly the signal that teaches G to obey y. [CLICK 4] d. False. Same lesson as the digit histogram in Class 2 &amp; 3: one number never tells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82:00–85:00. Ask a different student to say each sentence in their own words before you click it in. Then a 2–3 minute break before the notebook if your class usually takes one. These five sentences plus Class 2 &amp; 3's four (the r-bridge slide) are the GAN module summary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85:00. The notebook half. Setup reminders: students open the notebook; on Colab, switch to a GPU runtime first (the whole notebook then trains in about a minute). On a laptop CPU the training cells total roughly 7–10 minutes (2-core test machine: classifier 30 s, MLP 20 s, DCGAN 2.5 min, cGAN 3.3 min). Students should START the DCGAN and cGAN training cells and read the explanation cells while they run. Pairing: individual for Parts 0–2, pairs for Parts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85:00–87:00. Same structure as Class 2 &amp; 3's notebook: predict, run, explain. Timings measured on a 2-core cloud CPU: classifier 29 s, MLP baseline 18 s, DCGAN 2 epochs 153 s, cGAN 2 epochs 199 s. Laptops with more cores are usually faster; Colab GPU is much faster. If a student's machine is very slow: let them run Part 3 with epochs=1 and still do Part 4 with 2 epochs; or pair them with someone whose run is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87:00–105:00. Parts 0 and 1. [CLICK 1] The revision quiz cell repeats the five r-quiz questions. Students who struggled in section 01 should write full answers here; others can be brief. [CLICK 2] The CNN classifier trains for one epoch (≈ 30–60 s on CPU) and is checked on the 10,000 test images (98.1% in our run). train_gan() is the Class 1 / Class 2 &amp; 3 loop with BCEWithLogitsLoss, logging of mean D(x) and D(G(z)) every 50 steps, and a 100-image fixed-noise grid after every epoch. [CLICK 3] Baseline. Expected (our run): grey speckled digits, digit counts {0: 77, 1: 39, 2: 87, 3: 225, 4: 17, 5: 67, 6: 0, 7: 104, 8: 362, 9: 22}, D(x) about 0.7 and D(G(z)) about 0.4. Exercise 1 answers: speckle and blur; 6 missing, 8 and 3 dominant (partial collapse); balanced contest; noisy edges and background where real digits have pure black. [CLICK 4] Point out the cGAN lines now so Part 4 feels like a small change, which it is. Circulate. The most common problem: forgetting to run the setup cell, or a slow MNIST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105:00–117:00. Fast part, no training. 1. Expected printout: 7, 14, 28 for the transposed layers; 14, 7, 1 for the convolutions; PyTorch agrees: (1, 128, 7, 7) and (1, 64, 14, 14). [CLICK 1] 2. Encourage experimenting: set the input to [[1, 1], [1, 1]] and predict the output (the centre becomes 4, edges 2, corners 1). [CLICK 2] 3. Exercise 2. [CLICK 3] Answers. Q1: 1 → 4 (k4 s1 p0) → 8 → 16 → 32, final [B, 3, 32, 32]. Q2: one more k4 s2 p1 layer gives 64 (this is the standard 64×64 DCGAN). Q3: each centre output pixel is covered by stamps from both input pixels, so the values add. If some pixels receive more overlaps than others (kernel size not divisible by stride), the result is a regular grid pattern: checkerboard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117:00–137:00. Part 3. [CLICK 1] Shape check output: G (4,128,7,7) → (4,64,14,14) → (4,1,28,28); D (4,64,14,14) → (4,128,7,7) → (4,1,1,1). G 759,680 parameters, D 138,624. [CLICK 2] Training: 153 s on the 2-core test machine. Epoch-end losses in our run: D 0.213 / G 2.739, then D 0.258 / G 2.147. G's loss is high because D is confident; remind them losses don't measure quality. [CLICK 3] Exercise 3. Expected table (our run): MLP: 227k / 201k parameters, speckled, evenness 0.786, rarest 6 (0). DCGAN: 760k / 139k, clean strokes with some malformed shapes, evenness 0.929, rarest 1 (12). Epoch 1 vs 2: visible improvement in shape; still clearly undertrained. Optional β1 = 0.9: results vary by machine and seed; the point is to connect with Class 2 &amp; 3's Run A. Do not promise that it collapses. Optional no-BatchNorm in G: often slower or blotchier learning. Again, let them report what they see. [CLICK 4] Tie back to the revision checkpoint's case d. If time is short: skip the optional runs; they make good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137:00–162:00. Part 4, the main event of the notebook. Before they start the training cell, ask them to write the ✏️ Predict answer: what if D scored each fake with a different random label from the one G was asked to draw? (D would mostly see fakes paired with the wrong label and could learn "label mismatch = fake", a shortcut. Worse, G's gradient would then push its drawing towards the random label D used, not the one G was given, so G could never learn to obey y. The label G draws and the label D checks must be the same. Reusing the real batch's labels also gives real and fake piles the same digit mix.) Training: 199 s on the 2-core test machine. Epoch-end losses in our run: D 1.413 / G 2.623, then D 0.856 / G 0.844. Expected results (our run): conditional accuracy 84.4%; per digit 0 97%, 1 92%, 7 93% best; 9 69%, 4 73% worst. Main confusions: 9 → 7 (13), 2 → 3 (12), 3 → 5 (11), 4 → 9 (10). Exercise 4 answers: 1. Students report their own number; ~80–90% after 2 epochs is typical. Discuss why the confused pairs share strokes. 2. One z holds thickness, slant, size and stroke style across all ten digits. 3. Mismatch test: D gives a higher score with the correct label (0.315 vs 0.141 in our run). D has learned the image–label match. 4. Yes, within a class. A row of the 10×10 grid (or the style_vs_content grid) would show near-identical digits. Conditional accuracy would not catch it. [CLICK 1] Use question 4 as the bridge into the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162:00–170:00. Part 5 of the notebook: summary, four reflection questions (homework), and the assignment. Debrief (3–4 minutes): collect three or four numbers from different pairs. Point out the spread; GANs vary by run, which is why we always compare patterns. Reflection questions (in the notebook, finish at home): 1. Why speckle in FC generators and not in convolutional ones? (Locality and weight sharing.) 2. ConvTranspose2d(k4, s2, p1) on 16×16 → 32×32; it doubles exactly for any size and mirrors Conv2d(k4, s2, p1). 3. Why must D get the label? (Otherwise it can't penalise a wrong digit and G learns to ignore y.) 4. cGAN collapse: within a class; seen along a row of the grid. [CLICK 1–3] The assignment options. A is the easiest (change one line: datasets.FashionMNIST). B is the original Class 1 mini-project and needs a GPU and the CelebA download. C is a small architecture change with a measurable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170:00–173:00. Collect slips before revealing. Expected answers: 1. D is winning completely; its output is flat around the fakes, so G's gradient vanishes. Fixes: label smoothing, instance noise, gradient penalty, spectral normalisation. (This is a revision question on purpose.) 2. 7 → 14 → 28: 28×28. 3. The image stacked with 10 label channels (one-hot maps). Without the label D can't reject a realistic digit of the wrong class, so G gets no signal to obey y and learns to ignore it. 4. The handwriting style: thickness, slant, size, stroke shape. The digit identity comes from the label. Muddiest point: read before the VAE class and open with the top one or two. [CLICK 1] Reveal short answers after collecting.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173:00–175:00. Next class: the VAE module starts (curriculum: autoencoder with encoder, bottleneck, decoder and reconstruction loss; then the VAE and the reparameterisation trick; then latent interpolation). Today's interpolation experiment is a good hook: "Next time we build a model whose latent space is designed to be smooth." Homework: reflection questions in Part 5 of the notebook, and one assignment option. Further study (all optional): - PyTorch's official DCGAN tutorial trains a 64×64 face generator on CelebA. It is the natural next step for assignment B. - Odena, Dumoulin and Olah (Distill 2016), on why transposed convolutions can create checkerboard patterns. - Dumoulin and Visin (2016), "A guide to convolution arithmetic for deep learning": pictures of every padding and stride case. Papers: Radford, Metz, Chintala 2015 (DCGAN); Mirza and Osindero 2014 (cGAN); Odena, Olah, Shlens 2017 (AC-GAN); Isola et al. 2017 (pix2pix); Zhu et al. 2017 (CycleGAN); Reed et al. 2016 (text-to-image GAN); Miyato and Koyama 2018 (cGANs with projection discriminator). Revision: Goodfellow et al. 2014; Arjovsky and Bottou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255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77330"/>
            <a:ext cx="10566400" cy="446787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255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77330"/>
            <a:ext cx="10566400" cy="446787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pytorch.org/tutorials/beginner/dcgan_faces_tutorial.html" TargetMode="External"/><Relationship Id="rId2" Type="http://schemas.openxmlformats.org/officeDocument/2006/relationships/hyperlink" Target="https://distill.pub/2016/deconv-checkerboard/" TargetMode="External"/><Relationship Id="rId3" Type="http://schemas.openxmlformats.org/officeDocument/2006/relationships/hyperlink" Target="https://arxiv.org/abs/1603.07285" TargetMode="External"/><Relationship Id="rId4" Type="http://schemas.openxmlformats.org/officeDocument/2006/relationships/hyperlink" Target="https://arxiv.org/abs/1511.06434" TargetMode="External"/><Relationship Id="rId5" Type="http://schemas.openxmlformats.org/officeDocument/2006/relationships/hyperlink" Target="https://arxiv.org/abs/1411.1784" TargetMode="External"/><Relationship Id="rId6" Type="http://schemas.openxmlformats.org/officeDocument/2006/relationships/hyperlink" Target="https://arxiv.org/abs/1610.09585" TargetMode="External"/><Relationship Id="rId7" Type="http://schemas.openxmlformats.org/officeDocument/2006/relationships/hyperlink" Target="https://arxiv.org/abs/1611.07004" TargetMode="External"/><Relationship Id="rId8" Type="http://schemas.openxmlformats.org/officeDocument/2006/relationships/hyperlink" Target="https://arxiv.org/abs/1703.10593" TargetMode="External"/><Relationship Id="rId9" Type="http://schemas.openxmlformats.org/officeDocument/2006/relationships/hyperlink" Target="https://arxiv.org/abs/1605.05396" TargetMode="External"/><Relationship Id="rId10" Type="http://schemas.openxmlformats.org/officeDocument/2006/relationships/hyperlink" Target="https://arxiv.org/abs/1802.05637" TargetMode="External"/><Relationship Id="rId11" Type="http://schemas.openxmlformats.org/officeDocument/2006/relationships/hyperlink" Target="https://arxiv.org/abs/1406.2661" TargetMode="External"/><Relationship Id="rId12" Type="http://schemas.openxmlformats.org/officeDocument/2006/relationships/hyperlink" Target="https://arxiv.org/abs/1701.04862" TargetMode="External"/><Relationship Id="rId13" Type="http://schemas.openxmlformats.org/officeDocument/2006/relationships/slideLayout" Target="../slideLayouts/slideLayout2.xml"/><Relationship Id="rId14"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762000"/>
            <a:ext cx="7194550"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9B949"/>
                </a:solidFill>
                <a:latin typeface="IBM Plex Sans" pitchFamily="34" charset="0"/>
                <a:ea typeface="IBM Plex Sans" pitchFamily="34" charset="-122"/>
                <a:cs typeface="IBM Plex Sans" pitchFamily="34" charset="-120"/>
              </a:rPr>
              <a:t>LINE 3 · APPLIED GENERATIVE VISION + MULTIMODAL</a:t>
            </a:r>
            <a:endParaRPr lang="en-US" sz="1300" dirty="0"/>
          </a:p>
        </p:txBody>
      </p:sp>
      <p:sp>
        <p:nvSpPr>
          <p:cNvPr id="3" name="Text 1"/>
          <p:cNvSpPr/>
          <p:nvPr>
            <p:ph type="title"/>
          </p:nvPr>
        </p:nvSpPr>
        <p:spPr>
          <a:xfrm>
            <a:off x="812800" y="1587500"/>
            <a:ext cx="6540500" cy="2046188"/>
          </a:xfrm>
          <a:prstGeom prst="rect">
            <a:avLst/>
          </a:prstGeom>
          <a:noFill/>
          <a:ln/>
        </p:spPr>
        <p:txBody>
          <a:bodyPr wrap="square" lIns="0" tIns="0" rIns="0" bIns="0" rtlCol="0" anchor="t">
            <a:normAutofit/>
          </a:bodyPr>
          <a:lstStyle/>
          <a:p>
            <a:pPr algn="l" indent="0" marL="0">
              <a:lnSpc>
                <a:spcPts val="5304"/>
              </a:lnSpc>
              <a:buNone/>
            </a:pPr>
            <a:r>
              <a:rPr lang="en-US" sz="5200" b="1" i="0" dirty="0">
                <a:solidFill>
                  <a:srgbClr val="F6F3EC"/>
                </a:solidFill>
                <a:latin typeface="Space Grotesk" pitchFamily="34" charset="0"/>
                <a:ea typeface="Space Grotesk" pitchFamily="34" charset="-122"/>
                <a:cs typeface="Space Grotesk" pitchFamily="34" charset="-120"/>
              </a:rPr>
              <a:t>GAN Class 4: DCGAN and Conditional GAN</a:t>
            </a:r>
            <a:endParaRPr lang="en-US" sz="5200" dirty="0"/>
          </a:p>
        </p:txBody>
      </p:sp>
      <p:sp>
        <p:nvSpPr>
          <p:cNvPr id="4" name="Text 2"/>
          <p:cNvSpPr/>
          <p:nvPr/>
        </p:nvSpPr>
        <p:spPr>
          <a:xfrm>
            <a:off x="812800" y="3810000"/>
            <a:ext cx="627888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Revise Class 2 &amp; 3, then teach the generator to see in convolutions and to draw the digit you ask for.</a:t>
            </a:r>
            <a:endParaRPr lang="en-US" sz="1800" dirty="0"/>
          </a:p>
        </p:txBody>
      </p:sp>
      <p:sp>
        <p:nvSpPr>
          <p:cNvPr id="5" name="Shape 3"/>
          <p:cNvSpPr/>
          <p:nvPr/>
        </p:nvSpPr>
        <p:spPr>
          <a:xfrm>
            <a:off x="7874000" y="1587500"/>
            <a:ext cx="3556000" cy="3683000"/>
          </a:xfrm>
          <a:prstGeom prst="roundRect">
            <a:avLst>
              <a:gd name="adj" fmla="val 4286"/>
            </a:avLst>
          </a:prstGeom>
          <a:solidFill>
            <a:srgbClr val="F6F3EC"/>
          </a:solidFill>
          <a:ln/>
        </p:spPr>
      </p:sp>
      <p:pic>
        <p:nvPicPr>
          <p:cNvPr id="6" name="Image 0" descr="A 10 by 10 grid of generated handwritten digits: each row shows the digit that was requested, 0 at the top to 9 at the bottom">    </p:cNvPr>
          <p:cNvPicPr>
            <a:picLocks noChangeAspect="1"/>
          </p:cNvPicPr>
          <p:nvPr/>
        </p:nvPicPr>
        <p:blipFill>
          <a:blip r:embed="rId1"/>
          <a:srcRect l="0" r="0" t="-4927" b="-4927"/>
          <a:stretch/>
        </p:blipFill>
        <p:spPr>
          <a:xfrm>
            <a:off x="8001000" y="1714500"/>
            <a:ext cx="3302000" cy="3429000"/>
          </a:xfrm>
          <a:prstGeom prst="rect">
            <a:avLst/>
          </a:prstGeom>
        </p:spPr>
      </p:pic>
      <p:sp>
        <p:nvSpPr>
          <p:cNvPr id="7" name="Text 4"/>
          <p:cNvSpPr/>
          <p:nvPr/>
        </p:nvSpPr>
        <p:spPr>
          <a:xfrm>
            <a:off x="7820660" y="5397500"/>
            <a:ext cx="366268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Row r: "draw a digit r". Our conditional DCGAN, 2 epochs</a:t>
            </a:r>
            <a:endParaRPr lang="en-US" sz="1200" dirty="0"/>
          </a:p>
        </p:txBody>
      </p:sp>
      <p:sp>
        <p:nvSpPr>
          <p:cNvPr id="8" name="Text 5"/>
          <p:cNvSpPr/>
          <p:nvPr/>
        </p:nvSpPr>
        <p:spPr>
          <a:xfrm>
            <a:off x="812800" y="5588000"/>
            <a:ext cx="69329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AAF"/>
                </a:solidFill>
                <a:latin typeface="IBM Plex Sans" pitchFamily="34" charset="0"/>
                <a:ea typeface="IBM Plex Sans" pitchFamily="34" charset="-122"/>
                <a:cs typeface="IBM Plex Sans" pitchFamily="34" charset="-120"/>
              </a:rPr>
              <a:t>85 min concepts + 85 min notebook + 5 min exit ticket · Notebook: GAN-Class-4-DCGAN-cGAN.ipynb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TODAY'S ROUTE · ABOUT 175 MINUTES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Revise Class 2 &amp; 3, then two upgrades to our GAN</a:t>
            </a:r>
            <a:endParaRPr lang="en-US" sz="3200" dirty="0"/>
          </a:p>
        </p:txBody>
      </p:sp>
      <p:sp>
        <p:nvSpPr>
          <p:cNvPr id="4" name="Shape 2"/>
          <p:cNvSpPr/>
          <p:nvPr/>
        </p:nvSpPr>
        <p:spPr>
          <a:xfrm>
            <a:off x="812800" y="1841500"/>
            <a:ext cx="1905000" cy="19685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1841500"/>
            <a:ext cx="1905000" cy="1968500"/>
          </a:xfrm>
          <a:custGeom>
            <a:avLst/>
            <a:gdLst/>
            <a:ahLst/>
            <a:cxnLst/>
            <a:rect l="l" t="t" r="r" b="b"/>
            <a:pathLst>
              <a:path w="1905000" h="1968500">
                <a:moveTo>
                  <a:pt x="0" y="76200"/>
                </a:moveTo>
                <a:lnTo>
                  <a:pt x="0" y="76200"/>
                </a:lnTo>
                <a:arcTo hR="76200" wR="76200" stAng="10800000" swAng="5400000"/>
                <a:lnTo>
                  <a:pt x="1828800" y="0"/>
                </a:lnTo>
                <a:arcTo hR="76200" wR="76200" stAng="16200000" swAng="5400000"/>
                <a:lnTo>
                  <a:pt x="1905000" y="76200"/>
                </a:lnTo>
                <a:arcTo hR="25400" wR="76200" stAng="0" swAng="-5400000"/>
                <a:lnTo>
                  <a:pt x="76200" y="50800"/>
                </a:lnTo>
                <a:arcTo hR="25400" wR="76200" stAng="16200000" swAng="-5400000"/>
                <a:close/>
              </a:path>
            </a:pathLst>
          </a:custGeom>
          <a:solidFill>
            <a:srgbClr val="E9B949"/>
          </a:solidFill>
          <a:ln/>
        </p:spPr>
      </p:sp>
      <p:sp>
        <p:nvSpPr>
          <p:cNvPr id="6" name="Text 4"/>
          <p:cNvSpPr/>
          <p:nvPr/>
        </p:nvSpPr>
        <p:spPr>
          <a:xfrm>
            <a:off x="965200" y="2019300"/>
            <a:ext cx="1638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A6A10"/>
                </a:solidFill>
                <a:latin typeface="Space Grotesk" pitchFamily="34" charset="0"/>
                <a:ea typeface="Space Grotesk" pitchFamily="34" charset="-122"/>
                <a:cs typeface="Space Grotesk" pitchFamily="34" charset="-120"/>
              </a:rPr>
              <a:t>01</a:t>
            </a:r>
            <a:endParaRPr lang="en-US" sz="2200" dirty="0"/>
          </a:p>
        </p:txBody>
      </p:sp>
      <p:sp>
        <p:nvSpPr>
          <p:cNvPr id="7" name="Text 5"/>
          <p:cNvSpPr/>
          <p:nvPr/>
        </p:nvSpPr>
        <p:spPr>
          <a:xfrm>
            <a:off x="965200" y="2444750"/>
            <a:ext cx="167005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Revision of Class 2 &amp; 3: why training is hard</a:t>
            </a:r>
            <a:endParaRPr lang="en-US" sz="1400" dirty="0"/>
          </a:p>
        </p:txBody>
      </p:sp>
      <p:sp>
        <p:nvSpPr>
          <p:cNvPr id="8" name="Text 6"/>
          <p:cNvSpPr/>
          <p:nvPr/>
        </p:nvSpPr>
        <p:spPr>
          <a:xfrm>
            <a:off x="965200" y="342900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5–30</a:t>
            </a:r>
            <a:endParaRPr lang="en-US" sz="1200" dirty="0"/>
          </a:p>
        </p:txBody>
      </p:sp>
      <p:sp>
        <p:nvSpPr>
          <p:cNvPr id="9" name="Shape 7"/>
          <p:cNvSpPr/>
          <p:nvPr/>
        </p:nvSpPr>
        <p:spPr>
          <a:xfrm>
            <a:off x="2844800" y="1841500"/>
            <a:ext cx="1905000" cy="19685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10" name="Shape 8"/>
          <p:cNvSpPr/>
          <p:nvPr/>
        </p:nvSpPr>
        <p:spPr>
          <a:xfrm>
            <a:off x="2844800" y="1841500"/>
            <a:ext cx="1905000" cy="1968500"/>
          </a:xfrm>
          <a:custGeom>
            <a:avLst/>
            <a:gdLst/>
            <a:ahLst/>
            <a:cxnLst/>
            <a:rect l="l" t="t" r="r" b="b"/>
            <a:pathLst>
              <a:path w="1905000" h="1968500">
                <a:moveTo>
                  <a:pt x="0" y="76200"/>
                </a:moveTo>
                <a:lnTo>
                  <a:pt x="0" y="76200"/>
                </a:lnTo>
                <a:arcTo hR="76200" wR="76200" stAng="10800000" swAng="5400000"/>
                <a:lnTo>
                  <a:pt x="1828800" y="0"/>
                </a:lnTo>
                <a:arcTo hR="76200" wR="76200" stAng="16200000" swAng="5400000"/>
                <a:lnTo>
                  <a:pt x="1905000" y="76200"/>
                </a:lnTo>
                <a:arcTo hR="25400" wR="76200" stAng="0" swAng="-5400000"/>
                <a:lnTo>
                  <a:pt x="76200" y="50800"/>
                </a:lnTo>
                <a:arcTo hR="25400" wR="76200" stAng="16200000" swAng="-5400000"/>
                <a:close/>
              </a:path>
            </a:pathLst>
          </a:custGeom>
          <a:solidFill>
            <a:srgbClr val="14213D"/>
          </a:solidFill>
          <a:ln/>
        </p:spPr>
      </p:sp>
      <p:sp>
        <p:nvSpPr>
          <p:cNvPr id="11" name="Text 9"/>
          <p:cNvSpPr/>
          <p:nvPr/>
        </p:nvSpPr>
        <p:spPr>
          <a:xfrm>
            <a:off x="2997200" y="2019300"/>
            <a:ext cx="1638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02</a:t>
            </a:r>
            <a:endParaRPr lang="en-US" sz="2200" dirty="0"/>
          </a:p>
        </p:txBody>
      </p:sp>
      <p:sp>
        <p:nvSpPr>
          <p:cNvPr id="12" name="Text 10"/>
          <p:cNvSpPr/>
          <p:nvPr/>
        </p:nvSpPr>
        <p:spPr>
          <a:xfrm>
            <a:off x="2997200" y="2444750"/>
            <a:ext cx="16700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Why convolutions?</a:t>
            </a:r>
            <a:endParaRPr lang="en-US" sz="1400" dirty="0"/>
          </a:p>
        </p:txBody>
      </p:sp>
      <p:sp>
        <p:nvSpPr>
          <p:cNvPr id="13" name="Text 11"/>
          <p:cNvSpPr/>
          <p:nvPr/>
        </p:nvSpPr>
        <p:spPr>
          <a:xfrm>
            <a:off x="2997200" y="342900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30–40</a:t>
            </a:r>
            <a:endParaRPr lang="en-US" sz="1200" dirty="0"/>
          </a:p>
        </p:txBody>
      </p:sp>
      <p:sp>
        <p:nvSpPr>
          <p:cNvPr id="14" name="Shape 12"/>
          <p:cNvSpPr/>
          <p:nvPr/>
        </p:nvSpPr>
        <p:spPr>
          <a:xfrm>
            <a:off x="4876800" y="1841500"/>
            <a:ext cx="1905000" cy="19685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15" name="Shape 13"/>
          <p:cNvSpPr/>
          <p:nvPr/>
        </p:nvSpPr>
        <p:spPr>
          <a:xfrm>
            <a:off x="4876800" y="1841500"/>
            <a:ext cx="1905000" cy="1968500"/>
          </a:xfrm>
          <a:custGeom>
            <a:avLst/>
            <a:gdLst/>
            <a:ahLst/>
            <a:cxnLst/>
            <a:rect l="l" t="t" r="r" b="b"/>
            <a:pathLst>
              <a:path w="1905000" h="1968500">
                <a:moveTo>
                  <a:pt x="0" y="76200"/>
                </a:moveTo>
                <a:lnTo>
                  <a:pt x="0" y="76200"/>
                </a:lnTo>
                <a:arcTo hR="76200" wR="76200" stAng="10800000" swAng="5400000"/>
                <a:lnTo>
                  <a:pt x="1828800" y="0"/>
                </a:lnTo>
                <a:arcTo hR="76200" wR="76200" stAng="16200000" swAng="5400000"/>
                <a:lnTo>
                  <a:pt x="1905000" y="76200"/>
                </a:lnTo>
                <a:arcTo hR="25400" wR="76200" stAng="0" swAng="-5400000"/>
                <a:lnTo>
                  <a:pt x="76200" y="50800"/>
                </a:lnTo>
                <a:arcTo hR="25400" wR="76200" stAng="16200000" swAng="-5400000"/>
                <a:close/>
              </a:path>
            </a:pathLst>
          </a:custGeom>
          <a:solidFill>
            <a:srgbClr val="B24E17"/>
          </a:solidFill>
          <a:ln/>
        </p:spPr>
      </p:sp>
      <p:sp>
        <p:nvSpPr>
          <p:cNvPr id="16" name="Text 14"/>
          <p:cNvSpPr/>
          <p:nvPr/>
        </p:nvSpPr>
        <p:spPr>
          <a:xfrm>
            <a:off x="5029200" y="2019300"/>
            <a:ext cx="1638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24E17"/>
                </a:solidFill>
                <a:latin typeface="Space Grotesk" pitchFamily="34" charset="0"/>
                <a:ea typeface="Space Grotesk" pitchFamily="34" charset="-122"/>
                <a:cs typeface="Space Grotesk" pitchFamily="34" charset="-120"/>
              </a:rPr>
              <a:t>03</a:t>
            </a:r>
            <a:endParaRPr lang="en-US" sz="2200" dirty="0"/>
          </a:p>
        </p:txBody>
      </p:sp>
      <p:sp>
        <p:nvSpPr>
          <p:cNvPr id="17" name="Text 15"/>
          <p:cNvSpPr/>
          <p:nvPr/>
        </p:nvSpPr>
        <p:spPr>
          <a:xfrm>
            <a:off x="5029200" y="2444750"/>
            <a:ext cx="167005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DCGAN: a convolutional GAN</a:t>
            </a:r>
            <a:endParaRPr lang="en-US" sz="1400" dirty="0"/>
          </a:p>
        </p:txBody>
      </p:sp>
      <p:sp>
        <p:nvSpPr>
          <p:cNvPr id="18" name="Text 16"/>
          <p:cNvSpPr/>
          <p:nvPr/>
        </p:nvSpPr>
        <p:spPr>
          <a:xfrm>
            <a:off x="5029200" y="342900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40–61</a:t>
            </a:r>
            <a:endParaRPr lang="en-US" sz="1200" dirty="0"/>
          </a:p>
        </p:txBody>
      </p:sp>
      <p:sp>
        <p:nvSpPr>
          <p:cNvPr id="19" name="Shape 17"/>
          <p:cNvSpPr/>
          <p:nvPr/>
        </p:nvSpPr>
        <p:spPr>
          <a:xfrm>
            <a:off x="6908800" y="1841500"/>
            <a:ext cx="1905000" cy="19685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20" name="Shape 18"/>
          <p:cNvSpPr/>
          <p:nvPr/>
        </p:nvSpPr>
        <p:spPr>
          <a:xfrm>
            <a:off x="6908800" y="1841500"/>
            <a:ext cx="1905000" cy="1968500"/>
          </a:xfrm>
          <a:custGeom>
            <a:avLst/>
            <a:gdLst/>
            <a:ahLst/>
            <a:cxnLst/>
            <a:rect l="l" t="t" r="r" b="b"/>
            <a:pathLst>
              <a:path w="1905000" h="1968500">
                <a:moveTo>
                  <a:pt x="0" y="76200"/>
                </a:moveTo>
                <a:lnTo>
                  <a:pt x="0" y="76200"/>
                </a:lnTo>
                <a:arcTo hR="76200" wR="76200" stAng="10800000" swAng="5400000"/>
                <a:lnTo>
                  <a:pt x="1828800" y="0"/>
                </a:lnTo>
                <a:arcTo hR="76200" wR="76200" stAng="16200000" swAng="5400000"/>
                <a:lnTo>
                  <a:pt x="1905000" y="76200"/>
                </a:lnTo>
                <a:arcTo hR="25400" wR="76200" stAng="0" swAng="-5400000"/>
                <a:lnTo>
                  <a:pt x="76200" y="50800"/>
                </a:lnTo>
                <a:arcTo hR="25400" wR="76200" stAng="16200000" swAng="-5400000"/>
                <a:close/>
              </a:path>
            </a:pathLst>
          </a:custGeom>
          <a:solidFill>
            <a:srgbClr val="2563A8"/>
          </a:solidFill>
          <a:ln/>
        </p:spPr>
      </p:sp>
      <p:sp>
        <p:nvSpPr>
          <p:cNvPr id="21" name="Text 19"/>
          <p:cNvSpPr/>
          <p:nvPr/>
        </p:nvSpPr>
        <p:spPr>
          <a:xfrm>
            <a:off x="7061200" y="2019300"/>
            <a:ext cx="1638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A8"/>
                </a:solidFill>
                <a:latin typeface="Space Grotesk" pitchFamily="34" charset="0"/>
                <a:ea typeface="Space Grotesk" pitchFamily="34" charset="-122"/>
                <a:cs typeface="Space Grotesk" pitchFamily="34" charset="-120"/>
              </a:rPr>
              <a:t>04</a:t>
            </a:r>
            <a:endParaRPr lang="en-US" sz="2200" dirty="0"/>
          </a:p>
        </p:txBody>
      </p:sp>
      <p:sp>
        <p:nvSpPr>
          <p:cNvPr id="22" name="Text 20"/>
          <p:cNvSpPr/>
          <p:nvPr/>
        </p:nvSpPr>
        <p:spPr>
          <a:xfrm>
            <a:off x="7061200" y="2444750"/>
            <a:ext cx="167005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Conditional GAN: choose the digit</a:t>
            </a:r>
            <a:endParaRPr lang="en-US" sz="1400" dirty="0"/>
          </a:p>
        </p:txBody>
      </p:sp>
      <p:sp>
        <p:nvSpPr>
          <p:cNvPr id="23" name="Text 21"/>
          <p:cNvSpPr/>
          <p:nvPr/>
        </p:nvSpPr>
        <p:spPr>
          <a:xfrm>
            <a:off x="7061200" y="342900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61–85</a:t>
            </a:r>
            <a:endParaRPr lang="en-US" sz="1200" dirty="0"/>
          </a:p>
        </p:txBody>
      </p:sp>
      <p:sp>
        <p:nvSpPr>
          <p:cNvPr id="24" name="Shape 22"/>
          <p:cNvSpPr/>
          <p:nvPr/>
        </p:nvSpPr>
        <p:spPr>
          <a:xfrm>
            <a:off x="8940800" y="1841500"/>
            <a:ext cx="2438400" cy="1968500"/>
          </a:xfrm>
          <a:prstGeom prst="roundRect">
            <a:avLst>
              <a:gd name="adj" fmla="val 3871"/>
            </a:avLst>
          </a:prstGeom>
          <a:solidFill>
            <a:srgbClr val="14213D"/>
          </a:solidFill>
          <a:ln/>
        </p:spPr>
      </p:sp>
      <p:sp>
        <p:nvSpPr>
          <p:cNvPr id="25" name="Text 23"/>
          <p:cNvSpPr/>
          <p:nvPr/>
        </p:nvSpPr>
        <p:spPr>
          <a:xfrm>
            <a:off x="9093200" y="2019300"/>
            <a:ext cx="222377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9B949"/>
                </a:solidFill>
                <a:latin typeface="Space Grotesk" pitchFamily="34" charset="0"/>
                <a:ea typeface="Space Grotesk" pitchFamily="34" charset="-122"/>
                <a:cs typeface="Space Grotesk" pitchFamily="34" charset="-120"/>
              </a:rPr>
              <a:t>05</a:t>
            </a:r>
            <a:endParaRPr lang="en-US" sz="2200" dirty="0"/>
          </a:p>
        </p:txBody>
      </p:sp>
      <p:sp>
        <p:nvSpPr>
          <p:cNvPr id="26" name="Text 24"/>
          <p:cNvSpPr/>
          <p:nvPr/>
        </p:nvSpPr>
        <p:spPr>
          <a:xfrm>
            <a:off x="9093200" y="2444750"/>
            <a:ext cx="222377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6F3EC"/>
                </a:solidFill>
                <a:latin typeface="IBM Plex Sans" pitchFamily="34" charset="0"/>
                <a:ea typeface="IBM Plex Sans" pitchFamily="34" charset="-122"/>
                <a:cs typeface="IBM Plex Sans" pitchFamily="34" charset="-120"/>
              </a:rPr>
              <a:t>Notebook: build and train both</a:t>
            </a:r>
            <a:endParaRPr lang="en-US" sz="1400" dirty="0"/>
          </a:p>
        </p:txBody>
      </p:sp>
      <p:sp>
        <p:nvSpPr>
          <p:cNvPr id="27" name="Text 25"/>
          <p:cNvSpPr/>
          <p:nvPr/>
        </p:nvSpPr>
        <p:spPr>
          <a:xfrm>
            <a:off x="9093200" y="3429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min 85–170</a:t>
            </a:r>
            <a:endParaRPr lang="en-US" sz="1200" dirty="0"/>
          </a:p>
        </p:txBody>
      </p:sp>
      <p:pic>
        <p:nvPicPr>
          <p:cNvPr id="28" name="Image 0" descr="line">    </p:cNvPr>
          <p:cNvPicPr>
            <a:picLocks noChangeAspect="1"/>
          </p:cNvPicPr>
          <p:nvPr/>
        </p:nvPicPr>
        <p:blipFill>
          <a:blip r:embed="rId1"/>
          <a:srcRect l="0" r="0" t="0" b="0"/>
          <a:stretch/>
        </p:blipFill>
        <p:spPr>
          <a:xfrm>
            <a:off x="812800" y="4191000"/>
            <a:ext cx="10566400" cy="25400"/>
          </a:xfrm>
          <a:prstGeom prst="rect">
            <a:avLst/>
          </a:prstGeom>
        </p:spPr>
      </p:pic>
      <p:sp>
        <p:nvSpPr>
          <p:cNvPr id="29" name="Text 26"/>
          <p:cNvSpPr/>
          <p:nvPr/>
        </p:nvSpPr>
        <p:spPr>
          <a:xfrm>
            <a:off x="812800" y="4445000"/>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13D"/>
                </a:solidFill>
                <a:latin typeface="IBM Plex Sans" pitchFamily="34" charset="0"/>
                <a:ea typeface="IBM Plex Sans" pitchFamily="34" charset="-122"/>
                <a:cs typeface="IBM Plex Sans" pitchFamily="34" charset="-120"/>
              </a:rPr>
              <a:t>Same game, same diagnostics. We change </a:t>
            </a:r>
            <a:r>
              <a:rPr lang="en-US" sz="1800" b="1" dirty="0">
                <a:solidFill>
                  <a:srgbClr val="14213D"/>
                </a:solidFill>
                <a:latin typeface="IBM Plex Sans" pitchFamily="34" charset="0"/>
                <a:ea typeface="IBM Plex Sans" pitchFamily="34" charset="-122"/>
                <a:cs typeface="IBM Plex Sans" pitchFamily="34" charset="-120"/>
              </a:rPr>
              <a:t>how G and D see images</a:t>
            </a:r>
            <a:r>
              <a:rPr lang="en-US" sz="1800" dirty="0">
                <a:solidFill>
                  <a:srgbClr val="14213D"/>
                </a:solidFill>
                <a:latin typeface="IBM Plex Sans" pitchFamily="34" charset="0"/>
                <a:ea typeface="IBM Plex Sans" pitchFamily="34" charset="-122"/>
                <a:cs typeface="IBM Plex Sans" pitchFamily="34" charset="-120"/>
              </a:rPr>
              <a:t> (convolutions) and </a:t>
            </a:r>
            <a:r>
              <a:rPr lang="en-US" sz="1800" b="1" dirty="0">
                <a:solidFill>
                  <a:srgbClr val="14213D"/>
                </a:solidFill>
                <a:latin typeface="IBM Plex Sans" pitchFamily="34" charset="0"/>
                <a:ea typeface="IBM Plex Sans" pitchFamily="34" charset="-122"/>
                <a:cs typeface="IBM Plex Sans" pitchFamily="34" charset="-120"/>
              </a:rPr>
              <a:t>what G is told</a:t>
            </a:r>
            <a:r>
              <a:rPr lang="en-US" sz="1800" dirty="0">
                <a:solidFill>
                  <a:srgbClr val="14213D"/>
                </a:solidFill>
                <a:latin typeface="IBM Plex Sans" pitchFamily="34" charset="0"/>
                <a:ea typeface="IBM Plex Sans" pitchFamily="34" charset="-122"/>
                <a:cs typeface="IBM Plex Sans" pitchFamily="34" charset="-120"/>
              </a:rPr>
              <a:t> (the label). </a:t>
            </a:r>
            <a:r>
              <a:rPr lang="en-US" sz="1800" dirty="0">
                <a:solidFill>
                  <a:srgbClr val="B24E17"/>
                </a:solidFill>
                <a:latin typeface="IBM Plex Sans" pitchFamily="34" charset="0"/>
                <a:ea typeface="IBM Plex Sans" pitchFamily="34" charset="-122"/>
                <a:cs typeface="IBM Plex Sans" pitchFamily="34" charset="-120"/>
              </a:rPr>
              <a:t>Exit ticket at min 170–175.</a:t>
            </a:r>
            <a:endParaRPr lang="en-US" sz="1800" dirty="0"/>
          </a:p>
        </p:txBody>
      </p:sp>
      <p:sp>
        <p:nvSpPr>
          <p:cNvPr id="30" name="Text 2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min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LEARNING OUTCOMES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By the end of today you can…</a:t>
            </a:r>
            <a:endParaRPr lang="en-US" sz="3200" dirty="0"/>
          </a:p>
        </p:txBody>
      </p:sp>
      <p:sp>
        <p:nvSpPr>
          <p:cNvPr id="4" name="Text 2"/>
          <p:cNvSpPr/>
          <p:nvPr/>
        </p:nvSpPr>
        <p:spPr>
          <a:xfrm>
            <a:off x="812800" y="180975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8A6A10"/>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397000" y="187325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Diagnose</a:t>
            </a:r>
            <a:r>
              <a:rPr lang="en-US" sz="1700" dirty="0">
                <a:solidFill>
                  <a:srgbClr val="14213D"/>
                </a:solidFill>
                <a:latin typeface="IBM Plex Sans" pitchFamily="34" charset="0"/>
                <a:ea typeface="IBM Plex Sans" pitchFamily="34" charset="-122"/>
                <a:cs typeface="IBM Plex Sans" pitchFamily="34" charset="-120"/>
              </a:rPr>
              <a:t> a GAN run as healthy, unstable or collapsed, using the three Class 2 &amp; 3 tools together.</a:t>
            </a:r>
            <a:endParaRPr lang="en-US" sz="1700" dirty="0"/>
          </a:p>
        </p:txBody>
      </p:sp>
      <p:sp>
        <p:nvSpPr>
          <p:cNvPr id="6" name="Text 4"/>
          <p:cNvSpPr/>
          <p:nvPr/>
        </p:nvSpPr>
        <p:spPr>
          <a:xfrm>
            <a:off x="812800" y="263525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24E17"/>
                </a:solidFill>
                <a:latin typeface="Space Grotesk" pitchFamily="34" charset="0"/>
                <a:ea typeface="Space Grotesk" pitchFamily="34" charset="-122"/>
                <a:cs typeface="Space Grotesk" pitchFamily="34" charset="-120"/>
              </a:rPr>
              <a:t>2</a:t>
            </a:r>
            <a:endParaRPr lang="en-US" sz="2400" dirty="0"/>
          </a:p>
        </p:txBody>
      </p:sp>
      <p:sp>
        <p:nvSpPr>
          <p:cNvPr id="7" name="Text 5"/>
          <p:cNvSpPr/>
          <p:nvPr/>
        </p:nvSpPr>
        <p:spPr>
          <a:xfrm>
            <a:off x="1397000" y="2698750"/>
            <a:ext cx="107950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Compute</a:t>
            </a:r>
            <a:r>
              <a:rPr lang="en-US" sz="1700" dirty="0">
                <a:solidFill>
                  <a:srgbClr val="14213D"/>
                </a:solidFill>
                <a:latin typeface="IBM Plex Sans" pitchFamily="34" charset="0"/>
                <a:ea typeface="IBM Plex Sans" pitchFamily="34" charset="-122"/>
                <a:cs typeface="IBM Plex Sans" pitchFamily="34" charset="-120"/>
              </a:rPr>
              <a:t> output sizes of Conv2d and ConvTranspose2d layers, and trace a DCGAN from noise to image.</a:t>
            </a:r>
            <a:endParaRPr lang="en-US" sz="1700" dirty="0"/>
          </a:p>
        </p:txBody>
      </p:sp>
      <p:sp>
        <p:nvSpPr>
          <p:cNvPr id="8" name="Text 6"/>
          <p:cNvSpPr/>
          <p:nvPr/>
        </p:nvSpPr>
        <p:spPr>
          <a:xfrm>
            <a:off x="812800" y="346075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24E17"/>
                </a:solidFill>
                <a:latin typeface="Space Grotesk" pitchFamily="34" charset="0"/>
                <a:ea typeface="Space Grotesk" pitchFamily="34" charset="-122"/>
                <a:cs typeface="Space Grotesk" pitchFamily="34" charset="-120"/>
              </a:rPr>
              <a:t>3</a:t>
            </a:r>
            <a:endParaRPr lang="en-US" sz="2400" dirty="0"/>
          </a:p>
        </p:txBody>
      </p:sp>
      <p:sp>
        <p:nvSpPr>
          <p:cNvPr id="9" name="Text 7"/>
          <p:cNvSpPr/>
          <p:nvPr/>
        </p:nvSpPr>
        <p:spPr>
          <a:xfrm>
            <a:off x="1397000" y="3524250"/>
            <a:ext cx="10268585"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Explain</a:t>
            </a:r>
            <a:r>
              <a:rPr lang="en-US" sz="1700" dirty="0">
                <a:solidFill>
                  <a:srgbClr val="14213D"/>
                </a:solidFill>
                <a:latin typeface="IBM Plex Sans" pitchFamily="34" charset="0"/>
                <a:ea typeface="IBM Plex Sans" pitchFamily="34" charset="-122"/>
                <a:cs typeface="IBM Plex Sans" pitchFamily="34" charset="-120"/>
              </a:rPr>
              <a:t> the DCGAN design rules and why convolutions give cleaner images than a fully connected generator.</a:t>
            </a:r>
            <a:endParaRPr lang="en-US" sz="1700" dirty="0"/>
          </a:p>
        </p:txBody>
      </p:sp>
      <p:sp>
        <p:nvSpPr>
          <p:cNvPr id="10" name="Text 8"/>
          <p:cNvSpPr/>
          <p:nvPr/>
        </p:nvSpPr>
        <p:spPr>
          <a:xfrm>
            <a:off x="812800" y="428625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4</a:t>
            </a:r>
            <a:endParaRPr lang="en-US" sz="2400" dirty="0"/>
          </a:p>
        </p:txBody>
      </p:sp>
      <p:sp>
        <p:nvSpPr>
          <p:cNvPr id="11" name="Text 9"/>
          <p:cNvSpPr/>
          <p:nvPr/>
        </p:nvSpPr>
        <p:spPr>
          <a:xfrm>
            <a:off x="1397000" y="4349750"/>
            <a:ext cx="10268585"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Build</a:t>
            </a:r>
            <a:r>
              <a:rPr lang="en-US" sz="1700" dirty="0">
                <a:solidFill>
                  <a:srgbClr val="14213D"/>
                </a:solidFill>
                <a:latin typeface="IBM Plex Sans" pitchFamily="34" charset="0"/>
                <a:ea typeface="IBM Plex Sans" pitchFamily="34" charset="-122"/>
                <a:cs typeface="IBM Plex Sans" pitchFamily="34" charset="-120"/>
              </a:rPr>
              <a:t> a conditional GAN: feed the label to both players, and measure whether G draws the digit you asked for.</a:t>
            </a:r>
            <a:endParaRPr lang="en-US" sz="1700" dirty="0"/>
          </a:p>
        </p:txBody>
      </p:sp>
      <p:sp>
        <p:nvSpPr>
          <p:cNvPr id="12" name="Text 10"/>
          <p:cNvSpPr/>
          <p:nvPr/>
        </p:nvSpPr>
        <p:spPr>
          <a:xfrm>
            <a:off x="812800" y="511175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5</a:t>
            </a:r>
            <a:endParaRPr lang="en-US" sz="2400" dirty="0"/>
          </a:p>
        </p:txBody>
      </p:sp>
      <p:sp>
        <p:nvSpPr>
          <p:cNvPr id="13" name="Text 11"/>
          <p:cNvSpPr/>
          <p:nvPr/>
        </p:nvSpPr>
        <p:spPr>
          <a:xfrm>
            <a:off x="1397000" y="517525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Separate</a:t>
            </a:r>
            <a:r>
              <a:rPr lang="en-US" sz="1700" dirty="0">
                <a:solidFill>
                  <a:srgbClr val="14213D"/>
                </a:solidFill>
                <a:latin typeface="IBM Plex Sans" pitchFamily="34" charset="0"/>
                <a:ea typeface="IBM Plex Sans" pitchFamily="34" charset="-122"/>
                <a:cs typeface="IBM Plex Sans" pitchFamily="34" charset="-120"/>
              </a:rPr>
              <a:t> content from style: what the label controls and what the noise controls.</a:t>
            </a:r>
            <a:endParaRPr lang="en-US" sz="1700" dirty="0"/>
          </a:p>
        </p:txBody>
      </p:sp>
      <p:sp>
        <p:nvSpPr>
          <p:cNvPr id="14"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min 3–5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01</a:t>
            </a:r>
            <a:endParaRPr lang="en-US" sz="8000" dirty="0"/>
          </a:p>
        </p:txBody>
      </p:sp>
      <p:sp>
        <p:nvSpPr>
          <p:cNvPr id="3" name="Text 1"/>
          <p:cNvSpPr/>
          <p:nvPr>
            <p:ph type="title"/>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6F3EC"/>
                </a:solidFill>
                <a:latin typeface="Space Grotesk" pitchFamily="34" charset="0"/>
                <a:ea typeface="Space Grotesk" pitchFamily="34" charset="-122"/>
                <a:cs typeface="Space Grotesk" pitchFamily="34" charset="-120"/>
              </a:rPr>
              <a:t>Revision of Class 2 &amp; 3</a:t>
            </a:r>
            <a:endParaRPr lang="en-US" sz="4400" dirty="0"/>
          </a:p>
        </p:txBody>
      </p:sp>
      <p:sp>
        <p:nvSpPr>
          <p:cNvPr id="4" name="Text 2"/>
          <p:cNvSpPr/>
          <p:nvPr/>
        </p:nvSpPr>
        <p:spPr>
          <a:xfrm>
            <a:off x="812800" y="4064000"/>
            <a:ext cx="981075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Equilibrium, instability, mode collapse, the fixes, and how to tell which problem you have.</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4 · min 5–30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RETRIEVAL QUIZ · WRITE FIRST, THEN ANSWER ALOUD</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Five questions from Class 2 &amp; 3</a:t>
            </a:r>
            <a:endParaRPr lang="en-US" sz="3200" dirty="0"/>
          </a:p>
        </p:txBody>
      </p:sp>
      <p:sp>
        <p:nvSpPr>
          <p:cNvPr id="4" name="Text 2"/>
          <p:cNvSpPr/>
          <p:nvPr/>
        </p:nvSpPr>
        <p:spPr>
          <a:xfrm>
            <a:off x="812800" y="1714500"/>
            <a:ext cx="562483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1.</a:t>
            </a:r>
            <a:r>
              <a:rPr lang="en-US" sz="1500" dirty="0">
                <a:solidFill>
                  <a:srgbClr val="14213D"/>
                </a:solidFill>
                <a:latin typeface="IBM Plex Sans" pitchFamily="34" charset="0"/>
                <a:ea typeface="IBM Plex Sans" pitchFamily="34" charset="-122"/>
                <a:cs typeface="IBM Plex Sans" pitchFamily="34" charset="-120"/>
              </a:rPr>
              <a:t> What is a GAN's Nash equilibrium? What does the best D output there?</a:t>
            </a:r>
            <a:endParaRPr lang="en-US" sz="1500" dirty="0"/>
          </a:p>
        </p:txBody>
      </p:sp>
      <p:sp>
        <p:nvSpPr>
          <p:cNvPr id="5" name="Text 3"/>
          <p:cNvSpPr/>
          <p:nvPr/>
        </p:nvSpPr>
        <p:spPr>
          <a:xfrm>
            <a:off x="6540500" y="1714500"/>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563A8"/>
                </a:solidFill>
                <a:latin typeface="IBM Plex Sans" pitchFamily="34" charset="0"/>
                <a:ea typeface="IBM Plex Sans" pitchFamily="34" charset="-122"/>
                <a:cs typeface="IBM Plex Sans" pitchFamily="34" charset="-120"/>
              </a:rPr>
              <a:t>p_g = p_data: G's samples are indistinguishable. D outputs ½ for everything.</a:t>
            </a:r>
            <a:endParaRPr lang="en-US" sz="1300" dirty="0"/>
          </a:p>
        </p:txBody>
      </p:sp>
      <p:sp>
        <p:nvSpPr>
          <p:cNvPr id="6" name="Text 4"/>
          <p:cNvSpPr/>
          <p:nvPr/>
        </p:nvSpPr>
        <p:spPr>
          <a:xfrm>
            <a:off x="812800" y="2540000"/>
            <a:ext cx="562483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2.</a:t>
            </a:r>
            <a:r>
              <a:rPr lang="en-US" sz="1500" dirty="0">
                <a:solidFill>
                  <a:srgbClr val="14213D"/>
                </a:solidFill>
                <a:latin typeface="IBM Plex Sans" pitchFamily="34" charset="0"/>
                <a:ea typeface="IBM Plex Sans" pitchFamily="34" charset="-122"/>
                <a:cs typeface="IBM Plex Sans" pitchFamily="34" charset="-120"/>
              </a:rPr>
              <a:t> Why did gradient steps circle the x·y equilibrium?</a:t>
            </a:r>
            <a:endParaRPr lang="en-US" sz="1500" dirty="0"/>
          </a:p>
        </p:txBody>
      </p:sp>
      <p:sp>
        <p:nvSpPr>
          <p:cNvPr id="7" name="Text 5"/>
          <p:cNvSpPr/>
          <p:nvPr/>
        </p:nvSpPr>
        <p:spPr>
          <a:xfrm>
            <a:off x="6540500" y="2540000"/>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563A8"/>
                </a:solidFill>
                <a:latin typeface="IBM Plex Sans" pitchFamily="34" charset="0"/>
                <a:ea typeface="IBM Plex Sans" pitchFamily="34" charset="-122"/>
                <a:cs typeface="IBM Plex Sans" pitchFamily="34" charset="-120"/>
              </a:rPr>
              <a:t>Each player's step depends on the other's position, so the combined motion rotates around (0, 0).</a:t>
            </a:r>
            <a:endParaRPr lang="en-US" sz="1300" dirty="0"/>
          </a:p>
        </p:txBody>
      </p:sp>
      <p:sp>
        <p:nvSpPr>
          <p:cNvPr id="8" name="Text 6"/>
          <p:cNvSpPr/>
          <p:nvPr/>
        </p:nvSpPr>
        <p:spPr>
          <a:xfrm>
            <a:off x="812800" y="3365500"/>
            <a:ext cx="562483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3.</a:t>
            </a:r>
            <a:r>
              <a:rPr lang="en-US" sz="1500" dirty="0">
                <a:solidFill>
                  <a:srgbClr val="14213D"/>
                </a:solidFill>
                <a:latin typeface="IBM Plex Sans" pitchFamily="34" charset="0"/>
                <a:ea typeface="IBM Plex Sans" pitchFamily="34" charset="-122"/>
                <a:cs typeface="IBM Plex Sans" pitchFamily="34" charset="-120"/>
              </a:rPr>
              <a:t> Mean D(x) ≈ 1.0, D(G(z)) ≈ 0.0 for a long time. What happens to G?</a:t>
            </a:r>
            <a:endParaRPr lang="en-US" sz="1500" dirty="0"/>
          </a:p>
        </p:txBody>
      </p:sp>
      <p:sp>
        <p:nvSpPr>
          <p:cNvPr id="9" name="Text 7"/>
          <p:cNvSpPr/>
          <p:nvPr/>
        </p:nvSpPr>
        <p:spPr>
          <a:xfrm>
            <a:off x="6540500" y="3365500"/>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563A8"/>
                </a:solidFill>
                <a:latin typeface="IBM Plex Sans" pitchFamily="34" charset="0"/>
                <a:ea typeface="IBM Plex Sans" pitchFamily="34" charset="-122"/>
                <a:cs typeface="IBM Plex Sans" pitchFamily="34" charset="-120"/>
              </a:rPr>
              <a:t>D wins easily, its output is flat around the fakes, G's gradient vanishes: G stops learning.</a:t>
            </a:r>
            <a:endParaRPr lang="en-US" sz="1300" dirty="0"/>
          </a:p>
        </p:txBody>
      </p:sp>
      <p:sp>
        <p:nvSpPr>
          <p:cNvPr id="10" name="Text 8"/>
          <p:cNvSpPr/>
          <p:nvPr/>
        </p:nvSpPr>
        <p:spPr>
          <a:xfrm>
            <a:off x="812800" y="4191000"/>
            <a:ext cx="562483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4.</a:t>
            </a:r>
            <a:r>
              <a:rPr lang="en-US" sz="1500" dirty="0">
                <a:solidFill>
                  <a:srgbClr val="14213D"/>
                </a:solidFill>
                <a:latin typeface="IBM Plex Sans" pitchFamily="34" charset="0"/>
                <a:ea typeface="IBM Plex Sans" pitchFamily="34" charset="-122"/>
                <a:cs typeface="IBM Plex Sans" pitchFamily="34" charset="-120"/>
              </a:rPr>
              <a:t> Every sample looks real, but they are all the same digit. Name it and one targeted fix.</a:t>
            </a:r>
            <a:endParaRPr lang="en-US" sz="1500" dirty="0"/>
          </a:p>
        </p:txBody>
      </p:sp>
      <p:sp>
        <p:nvSpPr>
          <p:cNvPr id="11" name="Text 9"/>
          <p:cNvSpPr/>
          <p:nvPr/>
        </p:nvSpPr>
        <p:spPr>
          <a:xfrm>
            <a:off x="6540500" y="4191000"/>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563A8"/>
                </a:solidFill>
                <a:latin typeface="IBM Plex Sans" pitchFamily="34" charset="0"/>
                <a:ea typeface="IBM Plex Sans" pitchFamily="34" charset="-122"/>
                <a:cs typeface="IBM Plex Sans" pitchFamily="34" charset="-120"/>
              </a:rPr>
              <a:t>Mode collapse. Minibatch standard deviation: lets D see the batch's lack of variety.</a:t>
            </a:r>
            <a:endParaRPr lang="en-US" sz="1300" dirty="0"/>
          </a:p>
        </p:txBody>
      </p:sp>
      <p:sp>
        <p:nvSpPr>
          <p:cNvPr id="12" name="Text 10"/>
          <p:cNvSpPr/>
          <p:nvPr/>
        </p:nvSpPr>
        <p:spPr>
          <a:xfrm>
            <a:off x="812800" y="5016500"/>
            <a:ext cx="562483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5.</a:t>
            </a:r>
            <a:r>
              <a:rPr lang="en-US" sz="1500" dirty="0">
                <a:solidFill>
                  <a:srgbClr val="14213D"/>
                </a:solidFill>
                <a:latin typeface="IBM Plex Sans" pitchFamily="34" charset="0"/>
                <a:ea typeface="IBM Plex Sans" pitchFamily="34" charset="-122"/>
                <a:cs typeface="IBM Plex Sans" pitchFamily="34" charset="-120"/>
              </a:rPr>
              <a:t> Name the three diagnostics. Which one alone can fool you?</a:t>
            </a:r>
            <a:endParaRPr lang="en-US" sz="1500" dirty="0"/>
          </a:p>
        </p:txBody>
      </p:sp>
      <p:sp>
        <p:nvSpPr>
          <p:cNvPr id="13" name="Text 11"/>
          <p:cNvSpPr/>
          <p:nvPr/>
        </p:nvSpPr>
        <p:spPr>
          <a:xfrm>
            <a:off x="6540500" y="5016500"/>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563A8"/>
                </a:solidFill>
                <a:latin typeface="IBM Plex Sans" pitchFamily="34" charset="0"/>
                <a:ea typeface="IBM Plex Sans" pitchFamily="34" charset="-122"/>
                <a:cs typeface="IBM Plex Sans" pitchFamily="34" charset="-120"/>
              </a:rPr>
              <a:t>Fixed-noise grid, D(x) vs D(G(z)), digit histogram. The histogram: it labels junk as some digit.</a:t>
            </a:r>
            <a:endParaRPr lang="en-US" sz="1300" dirty="0"/>
          </a:p>
        </p:txBody>
      </p:sp>
      <p:sp>
        <p:nvSpPr>
          <p:cNvPr id="14"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5–11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IDEA 1 · THE ROOT OF EVERY PROBLEM</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A GAN chases a moving target, so its losses don't measure quality</a:t>
            </a:r>
            <a:endParaRPr lang="en-US" sz="3200" dirty="0"/>
          </a:p>
        </p:txBody>
      </p:sp>
      <p:sp>
        <p:nvSpPr>
          <p:cNvPr id="4" name="Shape 2"/>
          <p:cNvSpPr/>
          <p:nvPr/>
        </p:nvSpPr>
        <p:spPr>
          <a:xfrm>
            <a:off x="812800" y="2159000"/>
            <a:ext cx="5080000" cy="2794000"/>
          </a:xfrm>
          <a:prstGeom prst="roundRect">
            <a:avLst>
              <a:gd name="adj" fmla="val 3636"/>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2159000"/>
            <a:ext cx="5080000" cy="2794000"/>
          </a:xfrm>
          <a:custGeom>
            <a:avLst/>
            <a:gdLst/>
            <a:ahLst/>
            <a:cxnLst/>
            <a:rect l="l" t="t" r="r" b="b"/>
            <a:pathLst>
              <a:path w="5080000" h="2794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6B7280"/>
          </a:solidFill>
          <a:ln/>
        </p:spPr>
      </p:sp>
      <p:sp>
        <p:nvSpPr>
          <p:cNvPr id="6" name="Text 4"/>
          <p:cNvSpPr/>
          <p:nvPr/>
        </p:nvSpPr>
        <p:spPr>
          <a:xfrm>
            <a:off x="1079500" y="23495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Classifier</a:t>
            </a:r>
            <a:endParaRPr lang="en-US" sz="2000" dirty="0"/>
          </a:p>
        </p:txBody>
      </p:sp>
      <p:sp>
        <p:nvSpPr>
          <p:cNvPr id="7" name="Text 5"/>
          <p:cNvSpPr/>
          <p:nvPr/>
        </p:nvSpPr>
        <p:spPr>
          <a:xfrm>
            <a:off x="1079500" y="2794000"/>
            <a:ext cx="470916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Fixed labels. One loss. </a:t>
            </a:r>
            <a:r>
              <a:rPr lang="en-US" sz="1500" b="1" dirty="0">
                <a:solidFill>
                  <a:srgbClr val="3D4657"/>
                </a:solidFill>
                <a:latin typeface="IBM Plex Sans" pitchFamily="34" charset="0"/>
                <a:ea typeface="IBM Plex Sans" pitchFamily="34" charset="-122"/>
                <a:cs typeface="IBM Plex Sans" pitchFamily="34" charset="-120"/>
              </a:rPr>
              <a:t>Loss down = better.</a:t>
            </a:r>
            <a:r>
              <a:rPr lang="en-US" sz="1500" dirty="0">
                <a:solidFill>
                  <a:srgbClr val="3D4657"/>
                </a:solidFill>
                <a:latin typeface="IBM Plex Sans" pitchFamily="34" charset="0"/>
                <a:ea typeface="IBM Plex Sans" pitchFamily="34" charset="-122"/>
                <a:cs typeface="IBM Plex Sans" pitchFamily="34" charset="-120"/>
              </a:rPr>
              <a:t> Stop when it is low.</a:t>
            </a:r>
            <a:endParaRPr lang="en-US" sz="1500" dirty="0"/>
          </a:p>
        </p:txBody>
      </p:sp>
      <p:sp>
        <p:nvSpPr>
          <p:cNvPr id="8" name="Shape 6"/>
          <p:cNvSpPr/>
          <p:nvPr/>
        </p:nvSpPr>
        <p:spPr>
          <a:xfrm>
            <a:off x="6299200" y="2159000"/>
            <a:ext cx="5080000" cy="2794000"/>
          </a:xfrm>
          <a:prstGeom prst="roundRect">
            <a:avLst>
              <a:gd name="adj" fmla="val 3636"/>
            </a:avLst>
          </a:prstGeom>
          <a:solidFill>
            <a:srgbClr val="FFFDF8"/>
          </a:solidFill>
          <a:ln/>
          <a:effectLst>
            <a:outerShdw sx="100000" sy="100000" kx="0" ky="0" algn="bl" rotWithShape="0" blurRad="12700" dist="0" dir="60000">
              <a:srgbClr val="E4DED0">
                <a:alpha val="100000"/>
              </a:srgbClr>
            </a:outerShdw>
          </a:effectLst>
        </p:spPr>
      </p:sp>
      <p:sp>
        <p:nvSpPr>
          <p:cNvPr id="9" name="Shape 7"/>
          <p:cNvSpPr/>
          <p:nvPr/>
        </p:nvSpPr>
        <p:spPr>
          <a:xfrm>
            <a:off x="6299200" y="2159000"/>
            <a:ext cx="5080000" cy="2794000"/>
          </a:xfrm>
          <a:custGeom>
            <a:avLst/>
            <a:gdLst/>
            <a:ahLst/>
            <a:cxnLst/>
            <a:rect l="l" t="t" r="r" b="b"/>
            <a:pathLst>
              <a:path w="5080000" h="2794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2563A8"/>
          </a:solidFill>
          <a:ln/>
        </p:spPr>
      </p:sp>
      <p:sp>
        <p:nvSpPr>
          <p:cNvPr id="10" name="Text 8"/>
          <p:cNvSpPr/>
          <p:nvPr/>
        </p:nvSpPr>
        <p:spPr>
          <a:xfrm>
            <a:off x="6565900" y="23495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563A8"/>
                </a:solidFill>
                <a:latin typeface="Space Grotesk" pitchFamily="34" charset="0"/>
                <a:ea typeface="Space Grotesk" pitchFamily="34" charset="-122"/>
                <a:cs typeface="Space Grotesk" pitchFamily="34" charset="-120"/>
              </a:rPr>
              <a:t>GAN</a:t>
            </a:r>
            <a:endParaRPr lang="en-US" sz="2000" dirty="0"/>
          </a:p>
        </p:txBody>
      </p:sp>
      <p:sp>
        <p:nvSpPr>
          <p:cNvPr id="11" name="Text 9"/>
          <p:cNvSpPr/>
          <p:nvPr/>
        </p:nvSpPr>
        <p:spPr>
          <a:xfrm>
            <a:off x="6565900" y="2794000"/>
            <a:ext cx="470916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G's "label" is D's opinion, and D changes every batch. Two players, two losses: </a:t>
            </a:r>
            <a:r>
              <a:rPr lang="en-US" sz="1500" b="1" dirty="0">
                <a:solidFill>
                  <a:srgbClr val="3D4657"/>
                </a:solidFill>
                <a:latin typeface="IBM Plex Sans" pitchFamily="34" charset="0"/>
                <a:ea typeface="IBM Plex Sans" pitchFamily="34" charset="-122"/>
                <a:cs typeface="IBM Plex Sans" pitchFamily="34" charset="-120"/>
              </a:rPr>
              <a:t>one's gain is the other's loss</a:t>
            </a:r>
            <a:r>
              <a:rPr lang="en-US" sz="1500" dirty="0">
                <a:solidFill>
                  <a:srgbClr val="3D4657"/>
                </a:solidFill>
                <a:latin typeface="IBM Plex Sans" pitchFamily="34" charset="0"/>
                <a:ea typeface="IBM Plex Sans" pitchFamily="34" charset="-122"/>
                <a:cs typeface="IBM Plex Sans" pitchFamily="34" charset="-120"/>
              </a:rPr>
              <a:t>. Losses wobble even in a good run.</a:t>
            </a:r>
            <a:endParaRPr lang="en-US" sz="1500" dirty="0"/>
          </a:p>
        </p:txBody>
      </p:sp>
      <p:sp>
        <p:nvSpPr>
          <p:cNvPr id="12" name="Text 10"/>
          <p:cNvSpPr/>
          <p:nvPr/>
        </p:nvSpPr>
        <p:spPr>
          <a:xfrm>
            <a:off x="812800" y="5207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Rule from Class 2 &amp; 3: </a:t>
            </a:r>
            <a:r>
              <a:rPr lang="en-US" sz="1600" b="1" dirty="0">
                <a:solidFill>
                  <a:srgbClr val="14213D"/>
                </a:solidFill>
                <a:latin typeface="IBM Plex Sans" pitchFamily="34" charset="0"/>
                <a:ea typeface="IBM Plex Sans" pitchFamily="34" charset="-122"/>
                <a:cs typeface="IBM Plex Sans" pitchFamily="34" charset="-120"/>
              </a:rPr>
              <a:t>never judge a GAN by its loss curve alone. Look at the samples.</a:t>
            </a:r>
            <a:endParaRPr lang="en-US" sz="16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11–13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IDEA 2 · NASH EQUILIBRIUM · CLASS 2 &amp; 3 NOTEBOOK PART 1</a:t>
            </a:r>
            <a:endParaRPr lang="en-US" sz="1200" dirty="0"/>
          </a:p>
        </p:txBody>
      </p:sp>
      <p:sp>
        <p:nvSpPr>
          <p:cNvPr id="3" name="Text 1"/>
          <p:cNvSpPr/>
          <p:nvPr>
            <p:ph type="title"/>
          </p:nvPr>
        </p:nvSpPr>
        <p:spPr>
          <a:xfrm>
            <a:off x="812800" y="825500"/>
            <a:ext cx="1137920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The balance point exists, but gradient steps circle it</a:t>
            </a:r>
            <a:endParaRPr lang="en-US" sz="3200" dirty="0"/>
          </a:p>
        </p:txBody>
      </p:sp>
      <p:sp>
        <p:nvSpPr>
          <p:cNvPr id="4" name="Shape 2"/>
          <p:cNvSpPr/>
          <p:nvPr/>
        </p:nvSpPr>
        <p:spPr>
          <a:xfrm>
            <a:off x="819150" y="1784350"/>
            <a:ext cx="3797300" cy="3797300"/>
          </a:xfrm>
          <a:prstGeom prst="roundRect">
            <a:avLst>
              <a:gd name="adj" fmla="val 2508"/>
            </a:avLst>
          </a:prstGeom>
          <a:solidFill>
            <a:srgbClr val="FFFDF8"/>
          </a:solidFill>
          <a:ln w="12700">
            <a:solidFill>
              <a:srgbClr val="E4DED0"/>
            </a:solidFill>
            <a:prstDash val="solid"/>
          </a:ln>
        </p:spPr>
      </p:sp>
      <p:pic>
        <p:nvPicPr>
          <p:cNvPr id="5" name="Image 0" descr="Arrow field of the x times y game: arrows circle around the red star at the origin">    </p:cNvPr>
          <p:cNvPicPr>
            <a:picLocks noChangeAspect="1"/>
          </p:cNvPicPr>
          <p:nvPr/>
        </p:nvPicPr>
        <p:blipFill>
          <a:blip r:embed="rId1"/>
          <a:srcRect l="0" r="0" t="0" b="0"/>
          <a:stretch/>
        </p:blipFill>
        <p:spPr>
          <a:xfrm>
            <a:off x="939800" y="1905000"/>
            <a:ext cx="3556000" cy="3556000"/>
          </a:xfrm>
          <a:prstGeom prst="rect">
            <a:avLst/>
          </a:prstGeom>
        </p:spPr>
      </p:pic>
      <p:sp>
        <p:nvSpPr>
          <p:cNvPr id="6" name="Text 3"/>
          <p:cNvSpPr/>
          <p:nvPr/>
        </p:nvSpPr>
        <p:spPr>
          <a:xfrm>
            <a:off x="5016500" y="1841500"/>
            <a:ext cx="655358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Nash equilibrium:</a:t>
            </a:r>
            <a:r>
              <a:rPr lang="en-US" sz="1500" dirty="0">
                <a:solidFill>
                  <a:srgbClr val="14213D"/>
                </a:solidFill>
                <a:latin typeface="IBM Plex Sans" pitchFamily="34" charset="0"/>
                <a:ea typeface="IBM Plex Sans" pitchFamily="34" charset="-122"/>
                <a:cs typeface="IBM Plex Sans" pitchFamily="34" charset="-120"/>
              </a:rPr>
              <a:t> no player can do better by changing </a:t>
            </a:r>
            <a:r>
              <a:rPr lang="en-US" sz="1500" b="1" dirty="0">
                <a:solidFill>
                  <a:srgbClr val="14213D"/>
                </a:solidFill>
                <a:latin typeface="IBM Plex Sans" pitchFamily="34" charset="0"/>
                <a:ea typeface="IBM Plex Sans" pitchFamily="34" charset="-122"/>
                <a:cs typeface="IBM Plex Sans" pitchFamily="34" charset="-120"/>
              </a:rPr>
              <a:t>only its own</a:t>
            </a:r>
            <a:r>
              <a:rPr lang="en-US" sz="1500" dirty="0">
                <a:solidFill>
                  <a:srgbClr val="14213D"/>
                </a:solidFill>
                <a:latin typeface="IBM Plex Sans" pitchFamily="34" charset="0"/>
                <a:ea typeface="IBM Plex Sans" pitchFamily="34" charset="-122"/>
                <a:cs typeface="IBM Plex Sans" pitchFamily="34" charset="-120"/>
              </a:rPr>
              <a:t> choice.</a:t>
            </a:r>
            <a:endParaRPr lang="en-US" sz="1500" dirty="0"/>
          </a:p>
        </p:txBody>
      </p:sp>
      <p:sp>
        <p:nvSpPr>
          <p:cNvPr id="7" name="Text 4"/>
          <p:cNvSpPr/>
          <p:nvPr/>
        </p:nvSpPr>
        <p:spPr>
          <a:xfrm>
            <a:off x="5016500" y="2667000"/>
            <a:ext cx="655358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For a GAN:</a:t>
            </a:r>
            <a:r>
              <a:rPr lang="en-US" sz="1500" dirty="0">
                <a:solidFill>
                  <a:srgbClr val="14213D"/>
                </a:solidFill>
                <a:latin typeface="IBM Plex Sans" pitchFamily="34" charset="0"/>
                <a:ea typeface="IBM Plex Sans" pitchFamily="34" charset="-122"/>
                <a:cs typeface="IBM Plex Sans" pitchFamily="34" charset="-120"/>
              </a:rPr>
              <a:t> p_g = p_data and D(x) = ½ everywhere. D loss = 2 ln 2 ≈ 1.386, G loss = ln 2 ≈ 0.693.</a:t>
            </a:r>
            <a:endParaRPr lang="en-US" sz="1500" dirty="0"/>
          </a:p>
        </p:txBody>
      </p:sp>
      <p:sp>
        <p:nvSpPr>
          <p:cNvPr id="8" name="Text 5"/>
          <p:cNvSpPr/>
          <p:nvPr/>
        </p:nvSpPr>
        <p:spPr>
          <a:xfrm>
            <a:off x="5016500" y="3746500"/>
            <a:ext cx="6553581"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The x·y game:</a:t>
            </a:r>
            <a:r>
              <a:rPr lang="en-US" sz="1500" dirty="0">
                <a:solidFill>
                  <a:srgbClr val="14213D"/>
                </a:solidFill>
                <a:latin typeface="IBM Plex Sans" pitchFamily="34" charset="0"/>
                <a:ea typeface="IBM Plex Sans" pitchFamily="34" charset="-122"/>
                <a:cs typeface="IBM Plex Sans" pitchFamily="34" charset="-120"/>
              </a:rPr>
              <a:t> x descends, y ascends. The arrows go </a:t>
            </a:r>
            <a:r>
              <a:rPr lang="en-US" sz="1500" b="1" dirty="0">
                <a:solidFill>
                  <a:srgbClr val="14213D"/>
                </a:solidFill>
                <a:latin typeface="IBM Plex Sans" pitchFamily="34" charset="0"/>
                <a:ea typeface="IBM Plex Sans" pitchFamily="34" charset="-122"/>
                <a:cs typeface="IBM Plex Sans" pitchFamily="34" charset="-120"/>
              </a:rPr>
              <a:t>around</a:t>
            </a:r>
            <a:r>
              <a:rPr lang="en-US" sz="1500" dirty="0">
                <a:solidFill>
                  <a:srgbClr val="14213D"/>
                </a:solidFill>
                <a:latin typeface="IBM Plex Sans" pitchFamily="34" charset="0"/>
                <a:ea typeface="IBM Plex Sans" pitchFamily="34" charset="-122"/>
                <a:cs typeface="IBM Plex Sans" pitchFamily="34" charset="-120"/>
              </a:rPr>
              <a:t> (0, 0), not into it. Simultaneous steps spiral out (1.41 → 3.83); alternating steps orbit.</a:t>
            </a:r>
            <a:endParaRPr lang="en-US" sz="1500" dirty="0"/>
          </a:p>
        </p:txBody>
      </p:sp>
      <p:sp>
        <p:nvSpPr>
          <p:cNvPr id="9" name="Text 6"/>
          <p:cNvSpPr/>
          <p:nvPr/>
        </p:nvSpPr>
        <p:spPr>
          <a:xfrm>
            <a:off x="5016500" y="4889500"/>
            <a:ext cx="655358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4E17"/>
                </a:solidFill>
                <a:latin typeface="IBM Plex Sans" pitchFamily="34" charset="0"/>
                <a:ea typeface="IBM Plex Sans" pitchFamily="34" charset="-122"/>
                <a:cs typeface="IBM Plex Sans" pitchFamily="34" charset="-120"/>
              </a:rPr>
              <a:t>A smaller learning rate only slows the circling.</a:t>
            </a:r>
            <a:endParaRPr lang="en-US" sz="1500" dirty="0"/>
          </a:p>
        </p:txBody>
      </p:sp>
      <p:sp>
        <p:nvSpPr>
          <p:cNvPr id="10"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13–16 · plot from the Class 2 &amp; 3 notebook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IDEA 3 · INSTABILITY</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Two causes of instability, and the fix for each</a:t>
            </a:r>
            <a:endParaRPr lang="en-US" sz="3200" dirty="0"/>
          </a:p>
        </p:txBody>
      </p:sp>
      <p:sp>
        <p:nvSpPr>
          <p:cNvPr id="4" name="Shape 2"/>
          <p:cNvSpPr/>
          <p:nvPr/>
        </p:nvSpPr>
        <p:spPr>
          <a:xfrm>
            <a:off x="812800" y="1841500"/>
            <a:ext cx="5080000" cy="3556000"/>
          </a:xfrm>
          <a:prstGeom prst="roundRect">
            <a:avLst>
              <a:gd name="adj" fmla="val 2857"/>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1841500"/>
            <a:ext cx="5080000" cy="3556000"/>
          </a:xfrm>
          <a:custGeom>
            <a:avLst/>
            <a:gdLst/>
            <a:ahLst/>
            <a:cxnLst/>
            <a:rect l="l" t="t" r="r" b="b"/>
            <a:pathLst>
              <a:path w="5080000" h="3556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B24E17"/>
          </a:solidFill>
          <a:ln/>
        </p:spPr>
      </p:sp>
      <p:sp>
        <p:nvSpPr>
          <p:cNvPr id="6" name="Text 4"/>
          <p:cNvSpPr/>
          <p:nvPr/>
        </p:nvSpPr>
        <p:spPr>
          <a:xfrm>
            <a:off x="1079500" y="20320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24E17"/>
                </a:solidFill>
                <a:latin typeface="Space Grotesk" pitchFamily="34" charset="0"/>
                <a:ea typeface="Space Grotesk" pitchFamily="34" charset="-122"/>
                <a:cs typeface="Space Grotesk" pitchFamily="34" charset="-120"/>
              </a:rPr>
              <a:t>D too strong</a:t>
            </a:r>
            <a:endParaRPr lang="en-US" sz="2000" dirty="0"/>
          </a:p>
        </p:txBody>
      </p:sp>
      <p:sp>
        <p:nvSpPr>
          <p:cNvPr id="7" name="Text 5"/>
          <p:cNvSpPr/>
          <p:nvPr/>
        </p:nvSpPr>
        <p:spPr>
          <a:xfrm>
            <a:off x="1079500" y="2476500"/>
            <a:ext cx="470916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Real and fake look nothing alike, so D separates them perfectly. A perfect D is </a:t>
            </a:r>
            <a:r>
              <a:rPr lang="en-US" sz="1400" b="1" dirty="0">
                <a:solidFill>
                  <a:srgbClr val="3D4657"/>
                </a:solidFill>
                <a:latin typeface="IBM Plex Sans" pitchFamily="34" charset="0"/>
                <a:ea typeface="IBM Plex Sans" pitchFamily="34" charset="-122"/>
                <a:cs typeface="IBM Plex Sans" pitchFamily="34" charset="-120"/>
              </a:rPr>
              <a:t>flat</a:t>
            </a:r>
            <a:r>
              <a:rPr lang="en-US" sz="1400" dirty="0">
                <a:solidFill>
                  <a:srgbClr val="3D4657"/>
                </a:solidFill>
                <a:latin typeface="IBM Plex Sans" pitchFamily="34" charset="0"/>
                <a:ea typeface="IBM Plex Sans" pitchFamily="34" charset="-122"/>
                <a:cs typeface="IBM Plex Sans" pitchFamily="34" charset="-120"/>
              </a:rPr>
              <a:t> around the fakes: </a:t>
            </a:r>
            <a:r>
              <a:rPr lang="en-US" sz="1400" b="1" dirty="0">
                <a:solidFill>
                  <a:srgbClr val="3D4657"/>
                </a:solidFill>
                <a:latin typeface="IBM Plex Sans" pitchFamily="34" charset="0"/>
                <a:ea typeface="IBM Plex Sans" pitchFamily="34" charset="-122"/>
                <a:cs typeface="IBM Plex Sans" pitchFamily="34" charset="-120"/>
              </a:rPr>
              <a:t>≈ 0 gradient</a:t>
            </a:r>
            <a:r>
              <a:rPr lang="en-US" sz="1400" dirty="0">
                <a:solidFill>
                  <a:srgbClr val="3D4657"/>
                </a:solidFill>
                <a:latin typeface="IBM Plex Sans" pitchFamily="34" charset="0"/>
                <a:ea typeface="IBM Plex Sans" pitchFamily="34" charset="-122"/>
                <a:cs typeface="IBM Plex Sans" pitchFamily="34" charset="-120"/>
              </a:rPr>
              <a:t>. G only learns through D's gradient, so G stalls.</a:t>
            </a:r>
            <a:endParaRPr lang="en-US" sz="1400" dirty="0"/>
          </a:p>
        </p:txBody>
      </p:sp>
      <p:sp>
        <p:nvSpPr>
          <p:cNvPr id="8" name="Text 6"/>
          <p:cNvSpPr/>
          <p:nvPr/>
        </p:nvSpPr>
        <p:spPr>
          <a:xfrm>
            <a:off x="1079500" y="4127500"/>
            <a:ext cx="470916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4213D"/>
                </a:solidFill>
                <a:latin typeface="IBM Plex Sans" pitchFamily="34" charset="0"/>
                <a:ea typeface="IBM Plex Sans" pitchFamily="34" charset="-122"/>
                <a:cs typeface="IBM Plex Sans" pitchFamily="34" charset="-120"/>
              </a:rPr>
              <a:t>Fixes:</a:t>
            </a:r>
            <a:r>
              <a:rPr lang="en-US" sz="1400" dirty="0">
                <a:solidFill>
                  <a:srgbClr val="14213D"/>
                </a:solidFill>
                <a:latin typeface="IBM Plex Sans" pitchFamily="34" charset="0"/>
                <a:ea typeface="IBM Plex Sans" pitchFamily="34" charset="-122"/>
                <a:cs typeface="IBM Plex Sans" pitchFamily="34" charset="-120"/>
              </a:rPr>
              <a:t> non-saturating G loss, label smoothing, instance noise, WGAN-GP, spectral norm.</a:t>
            </a:r>
            <a:endParaRPr lang="en-US" sz="1400" dirty="0"/>
          </a:p>
        </p:txBody>
      </p:sp>
      <p:sp>
        <p:nvSpPr>
          <p:cNvPr id="9" name="Shape 7"/>
          <p:cNvSpPr/>
          <p:nvPr/>
        </p:nvSpPr>
        <p:spPr>
          <a:xfrm>
            <a:off x="6299200" y="1841500"/>
            <a:ext cx="5080000" cy="3556000"/>
          </a:xfrm>
          <a:prstGeom prst="roundRect">
            <a:avLst>
              <a:gd name="adj" fmla="val 2857"/>
            </a:avLst>
          </a:prstGeom>
          <a:solidFill>
            <a:srgbClr val="FFFDF8"/>
          </a:solidFill>
          <a:ln/>
          <a:effectLst>
            <a:outerShdw sx="100000" sy="100000" kx="0" ky="0" algn="bl" rotWithShape="0" blurRad="12700" dist="0" dir="60000">
              <a:srgbClr val="E4DED0">
                <a:alpha val="100000"/>
              </a:srgbClr>
            </a:outerShdw>
          </a:effectLst>
        </p:spPr>
      </p:sp>
      <p:sp>
        <p:nvSpPr>
          <p:cNvPr id="10" name="Shape 8"/>
          <p:cNvSpPr/>
          <p:nvPr/>
        </p:nvSpPr>
        <p:spPr>
          <a:xfrm>
            <a:off x="6299200" y="1841500"/>
            <a:ext cx="5080000" cy="3556000"/>
          </a:xfrm>
          <a:custGeom>
            <a:avLst/>
            <a:gdLst/>
            <a:ahLst/>
            <a:cxnLst/>
            <a:rect l="l" t="t" r="r" b="b"/>
            <a:pathLst>
              <a:path w="5080000" h="3556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2563A8"/>
          </a:solidFill>
          <a:ln/>
        </p:spPr>
      </p:sp>
      <p:sp>
        <p:nvSpPr>
          <p:cNvPr id="11" name="Text 9"/>
          <p:cNvSpPr/>
          <p:nvPr/>
        </p:nvSpPr>
        <p:spPr>
          <a:xfrm>
            <a:off x="6565900" y="20320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563A8"/>
                </a:solidFill>
                <a:latin typeface="Space Grotesk" pitchFamily="34" charset="0"/>
                <a:ea typeface="Space Grotesk" pitchFamily="34" charset="-122"/>
                <a:cs typeface="Space Grotesk" pitchFamily="34" charset="-120"/>
              </a:rPr>
              <a:t>Too much momentum</a:t>
            </a:r>
            <a:endParaRPr lang="en-US" sz="2000" dirty="0"/>
          </a:p>
        </p:txBody>
      </p:sp>
      <p:sp>
        <p:nvSpPr>
          <p:cNvPr id="12" name="Text 10"/>
          <p:cNvSpPr/>
          <p:nvPr/>
        </p:nvSpPr>
        <p:spPr>
          <a:xfrm>
            <a:off x="6565900" y="2476500"/>
            <a:ext cx="470916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Adam's β1 keeps part of the previous direction. With β1 = 0.9 a player keeps chasing </a:t>
            </a:r>
            <a:r>
              <a:rPr lang="en-US" sz="1400" b="1" dirty="0">
                <a:solidFill>
                  <a:srgbClr val="3D4657"/>
                </a:solidFill>
                <a:latin typeface="IBM Plex Sans" pitchFamily="34" charset="0"/>
                <a:ea typeface="IBM Plex Sans" pitchFamily="34" charset="-122"/>
                <a:cs typeface="IBM Plex Sans" pitchFamily="34" charset="-120"/>
              </a:rPr>
              <a:t>where the opponent used to be</a:t>
            </a:r>
            <a:r>
              <a:rPr lang="en-US" sz="1400" dirty="0">
                <a:solidFill>
                  <a:srgbClr val="3D4657"/>
                </a:solidFill>
                <a:latin typeface="IBM Plex Sans" pitchFamily="34" charset="0"/>
                <a:ea typeface="IBM Plex Sans" pitchFamily="34" charset="-122"/>
                <a:cs typeface="IBM Plex Sans" pitchFamily="34" charset="-120"/>
              </a:rPr>
              <a:t>, and overshoots.</a:t>
            </a:r>
            <a:endParaRPr lang="en-US" sz="1400" dirty="0"/>
          </a:p>
        </p:txBody>
      </p:sp>
      <p:sp>
        <p:nvSpPr>
          <p:cNvPr id="13" name="Text 11"/>
          <p:cNvSpPr/>
          <p:nvPr/>
        </p:nvSpPr>
        <p:spPr>
          <a:xfrm>
            <a:off x="6565900" y="4127500"/>
            <a:ext cx="470916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4213D"/>
                </a:solidFill>
                <a:latin typeface="IBM Plex Sans" pitchFamily="34" charset="0"/>
                <a:ea typeface="IBM Plex Sans" pitchFamily="34" charset="-122"/>
                <a:cs typeface="IBM Plex Sans" pitchFamily="34" charset="-120"/>
              </a:rPr>
              <a:t>Fix:</a:t>
            </a:r>
            <a:r>
              <a:rPr lang="en-US" sz="1400" dirty="0">
                <a:solidFill>
                  <a:srgbClr val="14213D"/>
                </a:solidFill>
                <a:latin typeface="IBM Plex Sans" pitchFamily="34" charset="0"/>
                <a:ea typeface="IBM Plex Sans" pitchFamily="34" charset="-122"/>
                <a:cs typeface="IBM Plex Sans" pitchFamily="34" charset="-120"/>
              </a:rPr>
              <a:t> β1 = 0.5, as recommended by the </a:t>
            </a:r>
            <a:r>
              <a:rPr lang="en-US" sz="1400" b="1" dirty="0">
                <a:solidFill>
                  <a:srgbClr val="14213D"/>
                </a:solidFill>
                <a:latin typeface="IBM Plex Sans" pitchFamily="34" charset="0"/>
                <a:ea typeface="IBM Plex Sans" pitchFamily="34" charset="-122"/>
                <a:cs typeface="IBM Plex Sans" pitchFamily="34" charset="-120"/>
              </a:rPr>
              <a:t>DCGAN paper</a:t>
            </a:r>
            <a:r>
              <a:rPr lang="en-US" sz="1400" dirty="0">
                <a:solidFill>
                  <a:srgbClr val="14213D"/>
                </a:solidFill>
                <a:latin typeface="IBM Plex Sans" pitchFamily="34" charset="0"/>
                <a:ea typeface="IBM Plex Sans" pitchFamily="34" charset="-122"/>
                <a:cs typeface="IBM Plex Sans" pitchFamily="34" charset="-120"/>
              </a:rPr>
              <a:t>. Today we meet that paper properly.</a:t>
            </a:r>
            <a:endParaRPr lang="en-US" sz="1400" dirty="0"/>
          </a:p>
        </p:txBody>
      </p:sp>
      <p:sp>
        <p:nvSpPr>
          <p:cNvPr id="14"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16–18 · Arjovsky and Bottou 2017; Radford et al. 2015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DIAGNOSTIC TOOL 2 · WE USE IT AGAIN TODAY</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"Who is winning?": read D's average opinion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200"/>
          <a:ext cx="10553700" cy="2178943"/>
        </p:xfrm>
        <a:graphic>
          <a:graphicData uri="http://schemas.openxmlformats.org/drawingml/2006/table">
            <a:tbl>
              <a:tblPr/>
              <a:tblGrid>
                <a:gridCol w="1899666"/>
                <a:gridCol w="1899666"/>
                <a:gridCol w="3166110"/>
                <a:gridCol w="3588258"/>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mean D(x)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mean D(G(z))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to check next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63490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is winning easily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Are samples still changing? Vanishing gradient risk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0.6–0.9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0.1–0.4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ahead, contest still alive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Are samples improving epoch by epoch?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can't tell, or D is broken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Look at samples: good and varied?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swinging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swinging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Oscillation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β1 = 0.5 or a smaller learning rate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8260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Every row ends with "look at the samples". </a:t>
            </a:r>
            <a:r>
              <a:rPr lang="en-US" sz="1500" b="1" dirty="0">
                <a:solidFill>
                  <a:srgbClr val="14213D"/>
                </a:solidFill>
                <a:latin typeface="IBM Plex Sans" pitchFamily="34" charset="0"/>
                <a:ea typeface="IBM Plex Sans" pitchFamily="34" charset="-122"/>
                <a:cs typeface="IBM Plex Sans" pitchFamily="34" charset="-120"/>
              </a:rPr>
              <a:t>These are rules of thumb</a:t>
            </a:r>
            <a:r>
              <a:rPr lang="en-US" sz="1500" dirty="0">
                <a:solidFill>
                  <a:srgbClr val="14213D"/>
                </a:solidFill>
                <a:latin typeface="IBM Plex Sans" pitchFamily="34" charset="0"/>
                <a:ea typeface="IBM Plex Sans" pitchFamily="34" charset="-122"/>
                <a:cs typeface="IBM Plex Sans" pitchFamily="34" charset="-120"/>
              </a:rPr>
              <a:t>: the plot tells you where to look, the grid tells you what is true.</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18–19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IDEA 4 · MODE COLLAPSE · CLASS 2 &amp; 3 NOTEBOOK PART 3</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Mode collapse: one kind of output, hopping around</a:t>
            </a:r>
            <a:endParaRPr lang="en-US" sz="3200" dirty="0"/>
          </a:p>
        </p:txBody>
      </p:sp>
      <p:sp>
        <p:nvSpPr>
          <p:cNvPr id="4" name="Shape 2"/>
          <p:cNvSpPr/>
          <p:nvPr/>
        </p:nvSpPr>
        <p:spPr>
          <a:xfrm>
            <a:off x="819150" y="1720850"/>
            <a:ext cx="2527300" cy="2527300"/>
          </a:xfrm>
          <a:prstGeom prst="roundRect">
            <a:avLst>
              <a:gd name="adj" fmla="val 3769"/>
            </a:avLst>
          </a:prstGeom>
          <a:solidFill>
            <a:srgbClr val="FFFDF8"/>
          </a:solidFill>
          <a:ln w="12700">
            <a:solidFill>
              <a:srgbClr val="E4DED0"/>
            </a:solidFill>
            <a:prstDash val="solid"/>
          </a:ln>
        </p:spPr>
      </p:sp>
      <p:pic>
        <p:nvPicPr>
          <p:cNvPr id="5" name="Image 0" descr="1,000 generated points in one blob, while the grey real data forms 8 clusters on a ring">    </p:cNvPr>
          <p:cNvPicPr>
            <a:picLocks noChangeAspect="1"/>
          </p:cNvPicPr>
          <p:nvPr/>
        </p:nvPicPr>
        <p:blipFill>
          <a:blip r:embed="rId1"/>
          <a:srcRect l="-5506" r="-5506" t="0" b="0"/>
          <a:stretch/>
        </p:blipFill>
        <p:spPr>
          <a:xfrm>
            <a:off x="908050" y="1809750"/>
            <a:ext cx="2349500" cy="2349500"/>
          </a:xfrm>
          <a:prstGeom prst="rect">
            <a:avLst/>
          </a:prstGeom>
        </p:spPr>
      </p:pic>
      <p:sp>
        <p:nvSpPr>
          <p:cNvPr id="6" name="Text 3"/>
          <p:cNvSpPr/>
          <p:nvPr/>
        </p:nvSpPr>
        <p:spPr>
          <a:xfrm>
            <a:off x="3619500" y="1778000"/>
            <a:ext cx="799249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1,000 different noise vectors, </a:t>
            </a:r>
            <a:r>
              <a:rPr lang="en-US" sz="1500" b="1" dirty="0">
                <a:solidFill>
                  <a:srgbClr val="14213D"/>
                </a:solidFill>
                <a:latin typeface="IBM Plex Sans" pitchFamily="34" charset="0"/>
                <a:ea typeface="IBM Plex Sans" pitchFamily="34" charset="-122"/>
                <a:cs typeface="IBM Plex Sans" pitchFamily="34" charset="-120"/>
              </a:rPr>
              <a:t>one region</a:t>
            </a:r>
            <a:r>
              <a:rPr lang="en-US" sz="1500" dirty="0">
                <a:solidFill>
                  <a:srgbClr val="14213D"/>
                </a:solidFill>
                <a:latin typeface="IBM Plex Sans" pitchFamily="34" charset="0"/>
                <a:ea typeface="IBM Plex Sans" pitchFamily="34" charset="-122"/>
                <a:cs typeface="IBM Plex Sans" pitchFamily="34" charset="-120"/>
              </a:rPr>
              <a:t> of output. G found an answer D accepts and stopped exploring. Real data has 8 modes; G covers 1.</a:t>
            </a:r>
            <a:endParaRPr lang="en-US" sz="1500" dirty="0"/>
          </a:p>
        </p:txBody>
      </p:sp>
      <p:sp>
        <p:nvSpPr>
          <p:cNvPr id="7" name="Text 4"/>
          <p:cNvSpPr/>
          <p:nvPr/>
        </p:nvSpPr>
        <p:spPr>
          <a:xfrm>
            <a:off x="3619500" y="2857500"/>
            <a:ext cx="799249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Why?</a:t>
            </a:r>
            <a:r>
              <a:rPr lang="en-US" sz="1500" dirty="0">
                <a:solidFill>
                  <a:srgbClr val="14213D"/>
                </a:solidFill>
                <a:latin typeface="IBM Plex Sans" pitchFamily="34" charset="0"/>
                <a:ea typeface="IBM Plex Sans" pitchFamily="34" charset="-122"/>
                <a:cs typeface="IBM Plex Sans" pitchFamily="34" charset="-120"/>
              </a:rPr>
              <a:t> D judges </a:t>
            </a:r>
            <a:r>
              <a:rPr lang="en-US" sz="1500" b="1" dirty="0">
                <a:solidFill>
                  <a:srgbClr val="14213D"/>
                </a:solidFill>
                <a:latin typeface="IBM Plex Sans" pitchFamily="34" charset="0"/>
                <a:ea typeface="IBM Plex Sans" pitchFamily="34" charset="-122"/>
                <a:cs typeface="IBM Plex Sans" pitchFamily="34" charset="-120"/>
              </a:rPr>
              <a:t>one sample at a time</a:t>
            </a:r>
            <a:r>
              <a:rPr lang="en-US" sz="1500" dirty="0">
                <a:solidFill>
                  <a:srgbClr val="14213D"/>
                </a:solidFill>
                <a:latin typeface="IBM Plex Sans" pitchFamily="34" charset="0"/>
                <a:ea typeface="IBM Plex Sans" pitchFamily="34" charset="-122"/>
                <a:cs typeface="IBM Plex Sans" pitchFamily="34" charset="-120"/>
              </a:rPr>
              <a:t>. A single image says nothing about variety, so nothing in the loss rewards spreading out.</a:t>
            </a:r>
            <a:endParaRPr lang="en-US" sz="1500" dirty="0"/>
          </a:p>
        </p:txBody>
      </p:sp>
      <p:sp>
        <p:nvSpPr>
          <p:cNvPr id="8" name="Shape 5"/>
          <p:cNvSpPr/>
          <p:nvPr/>
        </p:nvSpPr>
        <p:spPr>
          <a:xfrm>
            <a:off x="819150" y="4387850"/>
            <a:ext cx="10553700" cy="1574800"/>
          </a:xfrm>
          <a:prstGeom prst="roundRect">
            <a:avLst>
              <a:gd name="adj" fmla="val 6048"/>
            </a:avLst>
          </a:prstGeom>
          <a:solidFill>
            <a:srgbClr val="FFFDF8"/>
          </a:solidFill>
          <a:ln w="12700">
            <a:solidFill>
              <a:srgbClr val="E4DED0"/>
            </a:solidFill>
            <a:prstDash val="solid"/>
          </a:ln>
        </p:spPr>
      </p:sp>
      <p:pic>
        <p:nvPicPr>
          <p:cNvPr id="9" name="Image 1" descr="Eight snapshots during training: the single blob of generated points jumps to a different place on the ring each time">    </p:cNvPr>
          <p:cNvPicPr>
            <a:picLocks noChangeAspect="1"/>
          </p:cNvPicPr>
          <p:nvPr/>
        </p:nvPicPr>
        <p:blipFill>
          <a:blip r:embed="rId2"/>
          <a:srcRect l="-310" r="-310" t="0" b="0"/>
          <a:stretch/>
        </p:blipFill>
        <p:spPr>
          <a:xfrm>
            <a:off x="889000" y="4432300"/>
            <a:ext cx="10414000" cy="1485900"/>
          </a:xfrm>
          <a:prstGeom prst="rect">
            <a:avLst/>
          </a:prstGeom>
        </p:spPr>
      </p:pic>
      <p:sp>
        <p:nvSpPr>
          <p:cNvPr id="10" name="Text 6"/>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19–22 · bottom: snapshots every 500 steps, the blob hops from cluster to cluster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IDEA 5 · THE TOOLBOX · CLASS 2 &amp; 3 NOTEBOOK PART 4</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Match the fix to the cause</a:t>
            </a:r>
            <a:endParaRPr lang="en-US" sz="3200" dirty="0"/>
          </a:p>
        </p:txBody>
      </p:sp>
      <p:sp>
        <p:nvSpPr>
          <p:cNvPr id="4" name="Shape 2"/>
          <p:cNvSpPr/>
          <p:nvPr/>
        </p:nvSpPr>
        <p:spPr>
          <a:xfrm>
            <a:off x="819150" y="1720850"/>
            <a:ext cx="10553700" cy="2082800"/>
          </a:xfrm>
          <a:prstGeom prst="roundRect">
            <a:avLst>
              <a:gd name="adj" fmla="val 4573"/>
            </a:avLst>
          </a:prstGeom>
          <a:solidFill>
            <a:srgbClr val="FFFDF8"/>
          </a:solidFill>
          <a:ln w="12700">
            <a:solidFill>
              <a:srgbClr val="E4DED0"/>
            </a:solidFill>
            <a:prstDash val="solid"/>
          </a:ln>
        </p:spPr>
      </p:sp>
      <p:pic>
        <p:nvPicPr>
          <p:cNvPr id="5" name="Image 0" descr="Six panels of final generated points: baseline one blob; label smoothing scattered; instance noise one blob; TTUR one precise dot; minibatch std all 8 clusters; z_dim 2 a thin ring through all 8 clusters">    </p:cNvPr>
          <p:cNvPicPr>
            <a:picLocks noChangeAspect="1"/>
          </p:cNvPicPr>
          <p:nvPr/>
        </p:nvPicPr>
        <p:blipFill>
          <a:blip r:embed="rId1"/>
          <a:srcRect l="0" r="0" t="-271" b="-271"/>
          <a:stretch/>
        </p:blipFill>
        <p:spPr>
          <a:xfrm>
            <a:off x="939800" y="1790700"/>
            <a:ext cx="10312400" cy="19431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4013200"/>
          <a:ext cx="10553700" cy="1437283"/>
        </p:xfrm>
        <a:graphic>
          <a:graphicData uri="http://schemas.openxmlformats.org/drawingml/2006/table">
            <a:tbl>
              <a:tblPr/>
              <a:tblGrid>
                <a:gridCol w="2743962"/>
                <a:gridCol w="4010406"/>
                <a:gridCol w="3799332"/>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Problem it targets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Fixed collapse on the ring?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Label smoothing, instance noise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Over-confident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 (0/8 and 1/8 modes)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TTUR (D learns faster)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Keep D near its best reply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 (1/8, but sharper)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Minibatch std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 can't see variety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Yes, 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bl>
          </a:graphicData>
        </a:graphic>
      </p:graphicFrame>
      <p:sp>
        <p:nvSpPr>
          <p:cNvPr id="7"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22–24 · one run each, seed 0, 4,000 steps; the 6th panel is z_dim = 2 (also 8/8)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THE THREE TOOLS ON REAL MNIST · CLASS 2 &amp; 3 NOTEBOOK PART 5</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Grid + histogram together tell the truth</a:t>
            </a:r>
            <a:endParaRPr lang="en-US" sz="3200" dirty="0"/>
          </a:p>
        </p:txBody>
      </p:sp>
      <p:sp>
        <p:nvSpPr>
          <p:cNvPr id="4" name="Shape 2"/>
          <p:cNvSpPr/>
          <p:nvPr/>
        </p:nvSpPr>
        <p:spPr>
          <a:xfrm>
            <a:off x="812800" y="1778000"/>
            <a:ext cx="5143500" cy="4064000"/>
          </a:xfrm>
          <a:prstGeom prst="roundRect">
            <a:avLst>
              <a:gd name="adj" fmla="val 2500"/>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1778000"/>
            <a:ext cx="5143500" cy="4064000"/>
          </a:xfrm>
          <a:custGeom>
            <a:avLst/>
            <a:gdLst/>
            <a:ahLst/>
            <a:cxnLst/>
            <a:rect l="l" t="t" r="r" b="b"/>
            <a:pathLst>
              <a:path w="5143500" h="4064000">
                <a:moveTo>
                  <a:pt x="0" y="101600"/>
                </a:moveTo>
                <a:lnTo>
                  <a:pt x="0" y="101600"/>
                </a:lnTo>
                <a:arcTo hR="101600" wR="101600" stAng="10800000" swAng="5400000"/>
                <a:lnTo>
                  <a:pt x="5041900" y="0"/>
                </a:lnTo>
                <a:arcTo hR="101600" wR="101600" stAng="16200000" swAng="5400000"/>
                <a:lnTo>
                  <a:pt x="5143500" y="101600"/>
                </a:lnTo>
                <a:arcTo hR="38100" wR="101600" stAng="0" swAng="-5400000"/>
                <a:lnTo>
                  <a:pt x="101600" y="63500"/>
                </a:lnTo>
                <a:arcTo hR="38100" wR="101600" stAng="16200000" swAng="-5400000"/>
                <a:close/>
              </a:path>
            </a:pathLst>
          </a:custGeom>
          <a:solidFill>
            <a:srgbClr val="B24E17"/>
          </a:solidFill>
          <a:ln/>
        </p:spPr>
      </p:sp>
      <p:sp>
        <p:nvSpPr>
          <p:cNvPr id="6" name="Text 4"/>
          <p:cNvSpPr/>
          <p:nvPr/>
        </p:nvSpPr>
        <p:spPr>
          <a:xfrm>
            <a:off x="1016000" y="1892300"/>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Run A · β1 = 0.9 · 16 fixed-noise samples</a:t>
            </a:r>
            <a:endParaRPr lang="en-US" sz="1300" dirty="0"/>
          </a:p>
        </p:txBody>
      </p:sp>
      <p:pic>
        <p:nvPicPr>
          <p:cNvPr id="7" name="Image 0" descr="Run A: 16 generated images, all the same noisy grey blob">    </p:cNvPr>
          <p:cNvPicPr>
            <a:picLocks noChangeAspect="1"/>
          </p:cNvPicPr>
          <p:nvPr/>
        </p:nvPicPr>
        <p:blipFill>
          <a:blip r:embed="rId1"/>
          <a:srcRect l="0" r="0" t="-81" b="-81"/>
          <a:stretch/>
        </p:blipFill>
        <p:spPr>
          <a:xfrm>
            <a:off x="952500" y="2159000"/>
            <a:ext cx="4864100" cy="1092200"/>
          </a:xfrm>
          <a:prstGeom prst="rect">
            <a:avLst/>
          </a:prstGeom>
        </p:spPr>
      </p:pic>
      <p:pic>
        <p:nvPicPr>
          <p:cNvPr id="8" name="Image 1" descr="Run A digit histogram: all 1,000 samples labelled 8">    </p:cNvPr>
          <p:cNvPicPr>
            <a:picLocks noChangeAspect="1"/>
          </p:cNvPicPr>
          <p:nvPr/>
        </p:nvPicPr>
        <p:blipFill>
          <a:blip r:embed="rId2"/>
          <a:srcRect l="-3254" r="-3254" t="0" b="0"/>
          <a:stretch/>
        </p:blipFill>
        <p:spPr>
          <a:xfrm>
            <a:off x="1333500" y="3333750"/>
            <a:ext cx="4102100" cy="2413000"/>
          </a:xfrm>
          <a:prstGeom prst="rect">
            <a:avLst/>
          </a:prstGeom>
        </p:spPr>
      </p:pic>
      <p:sp>
        <p:nvSpPr>
          <p:cNvPr id="9" name="Shape 5"/>
          <p:cNvSpPr/>
          <p:nvPr/>
        </p:nvSpPr>
        <p:spPr>
          <a:xfrm>
            <a:off x="6235700" y="1778000"/>
            <a:ext cx="5143500" cy="4064000"/>
          </a:xfrm>
          <a:prstGeom prst="roundRect">
            <a:avLst>
              <a:gd name="adj" fmla="val 2500"/>
            </a:avLst>
          </a:prstGeom>
          <a:solidFill>
            <a:srgbClr val="FFFDF8"/>
          </a:solidFill>
          <a:ln/>
          <a:effectLst>
            <a:outerShdw sx="100000" sy="100000" kx="0" ky="0" algn="bl" rotWithShape="0" blurRad="12700" dist="0" dir="60000">
              <a:srgbClr val="E4DED0">
                <a:alpha val="100000"/>
              </a:srgbClr>
            </a:outerShdw>
          </a:effectLst>
        </p:spPr>
      </p:sp>
      <p:sp>
        <p:nvSpPr>
          <p:cNvPr id="10" name="Shape 6"/>
          <p:cNvSpPr/>
          <p:nvPr/>
        </p:nvSpPr>
        <p:spPr>
          <a:xfrm>
            <a:off x="6235700" y="1778000"/>
            <a:ext cx="5143500" cy="4064000"/>
          </a:xfrm>
          <a:custGeom>
            <a:avLst/>
            <a:gdLst/>
            <a:ahLst/>
            <a:cxnLst/>
            <a:rect l="l" t="t" r="r" b="b"/>
            <a:pathLst>
              <a:path w="5143500" h="4064000">
                <a:moveTo>
                  <a:pt x="0" y="101600"/>
                </a:moveTo>
                <a:lnTo>
                  <a:pt x="0" y="101600"/>
                </a:lnTo>
                <a:arcTo hR="101600" wR="101600" stAng="10800000" swAng="5400000"/>
                <a:lnTo>
                  <a:pt x="5041900" y="0"/>
                </a:lnTo>
                <a:arcTo hR="101600" wR="101600" stAng="16200000" swAng="5400000"/>
                <a:lnTo>
                  <a:pt x="5143500" y="101600"/>
                </a:lnTo>
                <a:arcTo hR="38100" wR="101600" stAng="0" swAng="-5400000"/>
                <a:lnTo>
                  <a:pt x="101600" y="63500"/>
                </a:lnTo>
                <a:arcTo hR="38100" wR="101600" stAng="16200000" swAng="-5400000"/>
                <a:close/>
              </a:path>
            </a:pathLst>
          </a:custGeom>
          <a:solidFill>
            <a:srgbClr val="2563A8"/>
          </a:solidFill>
          <a:ln/>
        </p:spPr>
      </p:sp>
      <p:sp>
        <p:nvSpPr>
          <p:cNvPr id="11" name="Text 7"/>
          <p:cNvSpPr/>
          <p:nvPr/>
        </p:nvSpPr>
        <p:spPr>
          <a:xfrm>
            <a:off x="6438900" y="1892300"/>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Run B · β1 = 0.5 + smoothing · same noise</a:t>
            </a:r>
            <a:endParaRPr lang="en-US" sz="1300" dirty="0"/>
          </a:p>
        </p:txBody>
      </p:sp>
      <p:pic>
        <p:nvPicPr>
          <p:cNvPr id="12" name="Image 2" descr="Run B: 16 varied handwritten digits">    </p:cNvPr>
          <p:cNvPicPr>
            <a:picLocks noChangeAspect="1"/>
          </p:cNvPicPr>
          <p:nvPr/>
        </p:nvPicPr>
        <p:blipFill>
          <a:blip r:embed="rId3"/>
          <a:srcRect l="-3528" r="-3528" t="0" b="0"/>
          <a:stretch/>
        </p:blipFill>
        <p:spPr>
          <a:xfrm>
            <a:off x="6375400" y="2159000"/>
            <a:ext cx="4864100" cy="1092200"/>
          </a:xfrm>
          <a:prstGeom prst="rect">
            <a:avLst/>
          </a:prstGeom>
        </p:spPr>
      </p:pic>
      <p:pic>
        <p:nvPicPr>
          <p:cNvPr id="13" name="Image 3" descr="Run B digit histogram: all ten digits present">    </p:cNvPr>
          <p:cNvPicPr>
            <a:picLocks noChangeAspect="1"/>
          </p:cNvPicPr>
          <p:nvPr/>
        </p:nvPicPr>
        <p:blipFill>
          <a:blip r:embed="rId4"/>
          <a:srcRect l="-4839" r="-4839" t="0" b="0"/>
          <a:stretch/>
        </p:blipFill>
        <p:spPr>
          <a:xfrm>
            <a:off x="6756400" y="3333750"/>
            <a:ext cx="4102100" cy="2413000"/>
          </a:xfrm>
          <a:prstGeom prst="rect">
            <a:avLst/>
          </a:prstGeom>
        </p:spPr>
      </p:pic>
      <p:sp>
        <p:nvSpPr>
          <p:cNvPr id="14"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24–25 · Class 2 &amp; 3 test run: 3 epochs, seed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CHECKPOINT · DIAGNOSE IT · 4 MINUTES IN PAIRS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Healthy, unstable, D too strong, or collapsed?</a:t>
            </a:r>
            <a:endParaRPr lang="en-US" sz="3200" dirty="0"/>
          </a:p>
        </p:txBody>
      </p:sp>
      <p:sp>
        <p:nvSpPr>
          <p:cNvPr id="4" name="Text 2"/>
          <p:cNvSpPr/>
          <p:nvPr/>
        </p:nvSpPr>
        <p:spPr>
          <a:xfrm>
            <a:off x="812800" y="1778000"/>
            <a:ext cx="6867525"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a.</a:t>
            </a:r>
            <a:r>
              <a:rPr lang="en-US" sz="1500" dirty="0">
                <a:solidFill>
                  <a:srgbClr val="14213D"/>
                </a:solidFill>
                <a:latin typeface="IBM Plex Sans" pitchFamily="34" charset="0"/>
                <a:ea typeface="IBM Plex Sans" pitchFamily="34" charset="-122"/>
                <a:cs typeface="IBM Plex Sans" pitchFamily="34" charset="-120"/>
              </a:rPr>
              <a:t> Losses calm. D(x) ≈ 0.6, D(G(z)) ≈ 0.4. Grid: 64 samples, all near-identical 1s.</a:t>
            </a:r>
            <a:endParaRPr lang="en-US" sz="1500" dirty="0"/>
          </a:p>
        </p:txBody>
      </p:sp>
      <p:sp>
        <p:nvSpPr>
          <p:cNvPr id="5" name="Text 3"/>
          <p:cNvSpPr/>
          <p:nvPr/>
        </p:nvSpPr>
        <p:spPr>
          <a:xfrm>
            <a:off x="7810500" y="1778000"/>
            <a:ext cx="367576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563A8"/>
                </a:solidFill>
                <a:latin typeface="IBM Plex Sans" pitchFamily="34" charset="0"/>
                <a:ea typeface="IBM Plex Sans" pitchFamily="34" charset="-122"/>
                <a:cs typeface="IBM Plex Sans" pitchFamily="34" charset="-120"/>
              </a:rPr>
              <a:t>Collapsed.</a:t>
            </a:r>
            <a:r>
              <a:rPr lang="en-US" sz="1300" dirty="0">
                <a:solidFill>
                  <a:srgbClr val="2563A8"/>
                </a:solidFill>
                <a:latin typeface="IBM Plex Sans" pitchFamily="34" charset="0"/>
                <a:ea typeface="IBM Plex Sans" pitchFamily="34" charset="-122"/>
                <a:cs typeface="IBM Plex Sans" pitchFamily="34" charset="-120"/>
              </a:rPr>
              <a:t> Balanced D but no variety. Try minibatch std.</a:t>
            </a:r>
            <a:endParaRPr lang="en-US" sz="1300" dirty="0"/>
          </a:p>
        </p:txBody>
      </p:sp>
      <p:sp>
        <p:nvSpPr>
          <p:cNvPr id="6" name="Text 4"/>
          <p:cNvSpPr/>
          <p:nvPr/>
        </p:nvSpPr>
        <p:spPr>
          <a:xfrm>
            <a:off x="812800" y="2667000"/>
            <a:ext cx="6867525"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b.</a:t>
            </a:r>
            <a:r>
              <a:rPr lang="en-US" sz="1500" dirty="0">
                <a:solidFill>
                  <a:srgbClr val="14213D"/>
                </a:solidFill>
                <a:latin typeface="IBM Plex Sans" pitchFamily="34" charset="0"/>
                <a:ea typeface="IBM Plex Sans" pitchFamily="34" charset="-122"/>
                <a:cs typeface="IBM Plex Sans" pitchFamily="34" charset="-120"/>
              </a:rPr>
              <a:t> D(x) ≈ 0.99, D(G(z)) ≈ 0.01 for 2,000 steps. The grid hasn't changed in an epoch.</a:t>
            </a:r>
            <a:endParaRPr lang="en-US" sz="1500" dirty="0"/>
          </a:p>
        </p:txBody>
      </p:sp>
      <p:sp>
        <p:nvSpPr>
          <p:cNvPr id="7" name="Text 5"/>
          <p:cNvSpPr/>
          <p:nvPr/>
        </p:nvSpPr>
        <p:spPr>
          <a:xfrm>
            <a:off x="7810500" y="2667000"/>
            <a:ext cx="367576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563A8"/>
                </a:solidFill>
                <a:latin typeface="IBM Plex Sans" pitchFamily="34" charset="0"/>
                <a:ea typeface="IBM Plex Sans" pitchFamily="34" charset="-122"/>
                <a:cs typeface="IBM Plex Sans" pitchFamily="34" charset="-120"/>
              </a:rPr>
              <a:t>D too strong.</a:t>
            </a:r>
            <a:r>
              <a:rPr lang="en-US" sz="1300" dirty="0">
                <a:solidFill>
                  <a:srgbClr val="2563A8"/>
                </a:solidFill>
                <a:latin typeface="IBM Plex Sans" pitchFamily="34" charset="0"/>
                <a:ea typeface="IBM Plex Sans" pitchFamily="34" charset="-122"/>
                <a:cs typeface="IBM Plex Sans" pitchFamily="34" charset="-120"/>
              </a:rPr>
              <a:t> G's gradient has vanished. Smoothing, noise, or a gradient penalty.</a:t>
            </a:r>
            <a:endParaRPr lang="en-US" sz="1300" dirty="0"/>
          </a:p>
        </p:txBody>
      </p:sp>
      <p:sp>
        <p:nvSpPr>
          <p:cNvPr id="8" name="Text 6"/>
          <p:cNvSpPr/>
          <p:nvPr/>
        </p:nvSpPr>
        <p:spPr>
          <a:xfrm>
            <a:off x="812800" y="3556000"/>
            <a:ext cx="6867525"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c.</a:t>
            </a:r>
            <a:r>
              <a:rPr lang="en-US" sz="1500" dirty="0">
                <a:solidFill>
                  <a:srgbClr val="14213D"/>
                </a:solidFill>
                <a:latin typeface="IBM Plex Sans" pitchFamily="34" charset="0"/>
                <a:ea typeface="IBM Plex Sans" pitchFamily="34" charset="-122"/>
                <a:cs typeface="IBM Plex Sans" pitchFamily="34" charset="-120"/>
              </a:rPr>
              <a:t> Both D scores swing between 0.2 and 0.9. Grid quality gets better, then worse, then better.</a:t>
            </a:r>
            <a:endParaRPr lang="en-US" sz="1500" dirty="0"/>
          </a:p>
        </p:txBody>
      </p:sp>
      <p:sp>
        <p:nvSpPr>
          <p:cNvPr id="9" name="Text 7"/>
          <p:cNvSpPr/>
          <p:nvPr/>
        </p:nvSpPr>
        <p:spPr>
          <a:xfrm>
            <a:off x="7810500" y="3556000"/>
            <a:ext cx="367576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563A8"/>
                </a:solidFill>
                <a:latin typeface="IBM Plex Sans" pitchFamily="34" charset="0"/>
                <a:ea typeface="IBM Plex Sans" pitchFamily="34" charset="-122"/>
                <a:cs typeface="IBM Plex Sans" pitchFamily="34" charset="-120"/>
              </a:rPr>
              <a:t>Unstable (oscillating).</a:t>
            </a:r>
            <a:r>
              <a:rPr lang="en-US" sz="1300" dirty="0">
                <a:solidFill>
                  <a:srgbClr val="2563A8"/>
                </a:solidFill>
                <a:latin typeface="IBM Plex Sans" pitchFamily="34" charset="0"/>
                <a:ea typeface="IBM Plex Sans" pitchFamily="34" charset="-122"/>
                <a:cs typeface="IBM Plex Sans" pitchFamily="34" charset="-120"/>
              </a:rPr>
              <a:t> Lower β1 or learning rate.</a:t>
            </a:r>
            <a:endParaRPr lang="en-US" sz="1300" dirty="0"/>
          </a:p>
        </p:txBody>
      </p:sp>
      <p:sp>
        <p:nvSpPr>
          <p:cNvPr id="10" name="Text 8"/>
          <p:cNvSpPr/>
          <p:nvPr/>
        </p:nvSpPr>
        <p:spPr>
          <a:xfrm>
            <a:off x="812800" y="4445000"/>
            <a:ext cx="6867525"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d.</a:t>
            </a:r>
            <a:r>
              <a:rPr lang="en-US" sz="1500" dirty="0">
                <a:solidFill>
                  <a:srgbClr val="14213D"/>
                </a:solidFill>
                <a:latin typeface="IBM Plex Sans" pitchFamily="34" charset="0"/>
                <a:ea typeface="IBM Plex Sans" pitchFamily="34" charset="-122"/>
                <a:cs typeface="IBM Plex Sans" pitchFamily="34" charset="-120"/>
              </a:rPr>
              <a:t> D(x) ≈ 0.85, D(G(z)) ≈ 0.2. Grid: varied digits, sharper every epoch. Histogram: all ten digits.</a:t>
            </a:r>
            <a:endParaRPr lang="en-US" sz="1500" dirty="0"/>
          </a:p>
        </p:txBody>
      </p:sp>
      <p:sp>
        <p:nvSpPr>
          <p:cNvPr id="11" name="Text 9"/>
          <p:cNvSpPr/>
          <p:nvPr/>
        </p:nvSpPr>
        <p:spPr>
          <a:xfrm>
            <a:off x="7810500" y="4445000"/>
            <a:ext cx="367576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563A8"/>
                </a:solidFill>
                <a:latin typeface="IBM Plex Sans" pitchFamily="34" charset="0"/>
                <a:ea typeface="IBM Plex Sans" pitchFamily="34" charset="-122"/>
                <a:cs typeface="IBM Plex Sans" pitchFamily="34" charset="-120"/>
              </a:rPr>
              <a:t>Healthy.</a:t>
            </a:r>
            <a:r>
              <a:rPr lang="en-US" sz="1300" dirty="0">
                <a:solidFill>
                  <a:srgbClr val="2563A8"/>
                </a:solidFill>
                <a:latin typeface="IBM Plex Sans" pitchFamily="34" charset="0"/>
                <a:ea typeface="IBM Plex Sans" pitchFamily="34" charset="-122"/>
                <a:cs typeface="IBM Plex Sans" pitchFamily="34" charset="-120"/>
              </a:rPr>
              <a:t> D ahead, but G keeps learning. Train longer.</a:t>
            </a:r>
            <a:endParaRPr lang="en-US" sz="13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25–29</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REVISION · WHAT WE CARRY FORWARD</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Class 2 &amp; 3 in four sentences</a:t>
            </a:r>
            <a:endParaRPr lang="en-US" sz="3200" dirty="0"/>
          </a:p>
        </p:txBody>
      </p:sp>
      <p:sp>
        <p:nvSpPr>
          <p:cNvPr id="4" name="Text 2"/>
          <p:cNvSpPr/>
          <p:nvPr/>
        </p:nvSpPr>
        <p:spPr>
          <a:xfrm>
            <a:off x="812800" y="184150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A6A10"/>
                </a:solidFill>
                <a:latin typeface="IBM Plex Sans" pitchFamily="34" charset="0"/>
                <a:ea typeface="IBM Plex Sans" pitchFamily="34" charset="-122"/>
                <a:cs typeface="IBM Plex Sans" pitchFamily="34" charset="-120"/>
              </a:rPr>
              <a:t>1.</a:t>
            </a:r>
            <a:r>
              <a:rPr lang="en-US" sz="1700" dirty="0">
                <a:solidFill>
                  <a:srgbClr val="14213D"/>
                </a:solidFill>
                <a:latin typeface="IBM Plex Sans" pitchFamily="34" charset="0"/>
                <a:ea typeface="IBM Plex Sans" pitchFamily="34" charset="-122"/>
                <a:cs typeface="IBM Plex Sans" pitchFamily="34" charset="-120"/>
              </a:rPr>
              <a:t> A GAN is a game with a moving target, so its losses don't show quality.</a:t>
            </a:r>
            <a:endParaRPr lang="en-US" sz="1700" dirty="0"/>
          </a:p>
        </p:txBody>
      </p:sp>
      <p:sp>
        <p:nvSpPr>
          <p:cNvPr id="5" name="Text 3"/>
          <p:cNvSpPr/>
          <p:nvPr/>
        </p:nvSpPr>
        <p:spPr>
          <a:xfrm>
            <a:off x="812800" y="254000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A6A10"/>
                </a:solidFill>
                <a:latin typeface="IBM Plex Sans" pitchFamily="34" charset="0"/>
                <a:ea typeface="IBM Plex Sans" pitchFamily="34" charset="-122"/>
                <a:cs typeface="IBM Plex Sans" pitchFamily="34" charset="-120"/>
              </a:rPr>
              <a:t>2.</a:t>
            </a:r>
            <a:r>
              <a:rPr lang="en-US" sz="1700" dirty="0">
                <a:solidFill>
                  <a:srgbClr val="14213D"/>
                </a:solidFill>
                <a:latin typeface="IBM Plex Sans" pitchFamily="34" charset="0"/>
                <a:ea typeface="IBM Plex Sans" pitchFamily="34" charset="-122"/>
                <a:cs typeface="IBM Plex Sans" pitchFamily="34" charset="-120"/>
              </a:rPr>
              <a:t> The equilibrium (p_g = p_data, D = ½) exists, but gradient steps tend to circle it.</a:t>
            </a:r>
            <a:endParaRPr lang="en-US" sz="1700" dirty="0"/>
          </a:p>
        </p:txBody>
      </p:sp>
      <p:sp>
        <p:nvSpPr>
          <p:cNvPr id="6" name="Text 4"/>
          <p:cNvSpPr/>
          <p:nvPr/>
        </p:nvSpPr>
        <p:spPr>
          <a:xfrm>
            <a:off x="812800" y="323850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A6A10"/>
                </a:solidFill>
                <a:latin typeface="IBM Plex Sans" pitchFamily="34" charset="0"/>
                <a:ea typeface="IBM Plex Sans" pitchFamily="34" charset="-122"/>
                <a:cs typeface="IBM Plex Sans" pitchFamily="34" charset="-120"/>
              </a:rPr>
              <a:t>3.</a:t>
            </a:r>
            <a:r>
              <a:rPr lang="en-US" sz="1700" dirty="0">
                <a:solidFill>
                  <a:srgbClr val="14213D"/>
                </a:solidFill>
                <a:latin typeface="IBM Plex Sans" pitchFamily="34" charset="0"/>
                <a:ea typeface="IBM Plex Sans" pitchFamily="34" charset="-122"/>
                <a:cs typeface="IBM Plex Sans" pitchFamily="34" charset="-120"/>
              </a:rPr>
              <a:t> Two failures: </a:t>
            </a:r>
            <a:r>
              <a:rPr lang="en-US" sz="1700" b="1" dirty="0">
                <a:solidFill>
                  <a:srgbClr val="14213D"/>
                </a:solidFill>
                <a:latin typeface="IBM Plex Sans" pitchFamily="34" charset="0"/>
                <a:ea typeface="IBM Plex Sans" pitchFamily="34" charset="-122"/>
                <a:cs typeface="IBM Plex Sans" pitchFamily="34" charset="-120"/>
              </a:rPr>
              <a:t>instability</a:t>
            </a:r>
            <a:r>
              <a:rPr lang="en-US" sz="1700" dirty="0">
                <a:solidFill>
                  <a:srgbClr val="14213D"/>
                </a:solidFill>
                <a:latin typeface="IBM Plex Sans" pitchFamily="34" charset="0"/>
                <a:ea typeface="IBM Plex Sans" pitchFamily="34" charset="-122"/>
                <a:cs typeface="IBM Plex Sans" pitchFamily="34" charset="-120"/>
              </a:rPr>
              <a:t> (D too strong, overshooting) and </a:t>
            </a:r>
            <a:r>
              <a:rPr lang="en-US" sz="1700" b="1" dirty="0">
                <a:solidFill>
                  <a:srgbClr val="14213D"/>
                </a:solidFill>
                <a:latin typeface="IBM Plex Sans" pitchFamily="34" charset="0"/>
                <a:ea typeface="IBM Plex Sans" pitchFamily="34" charset="-122"/>
                <a:cs typeface="IBM Plex Sans" pitchFamily="34" charset="-120"/>
              </a:rPr>
              <a:t>mode collapse</a:t>
            </a:r>
            <a:r>
              <a:rPr lang="en-US" sz="1700" dirty="0">
                <a:solidFill>
                  <a:srgbClr val="14213D"/>
                </a:solidFill>
                <a:latin typeface="IBM Plex Sans" pitchFamily="34" charset="0"/>
                <a:ea typeface="IBM Plex Sans" pitchFamily="34" charset="-122"/>
                <a:cs typeface="IBM Plex Sans" pitchFamily="34" charset="-120"/>
              </a:rPr>
              <a:t> (no variety).</a:t>
            </a:r>
            <a:endParaRPr lang="en-US" sz="1700" dirty="0"/>
          </a:p>
        </p:txBody>
      </p:sp>
      <p:sp>
        <p:nvSpPr>
          <p:cNvPr id="7" name="Text 5"/>
          <p:cNvSpPr/>
          <p:nvPr/>
        </p:nvSpPr>
        <p:spPr>
          <a:xfrm>
            <a:off x="812800" y="393700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A6A10"/>
                </a:solidFill>
                <a:latin typeface="IBM Plex Sans" pitchFamily="34" charset="0"/>
                <a:ea typeface="IBM Plex Sans" pitchFamily="34" charset="-122"/>
                <a:cs typeface="IBM Plex Sans" pitchFamily="34" charset="-120"/>
              </a:rPr>
              <a:t>4.</a:t>
            </a:r>
            <a:r>
              <a:rPr lang="en-US" sz="1700" dirty="0">
                <a:solidFill>
                  <a:srgbClr val="14213D"/>
                </a:solidFill>
                <a:latin typeface="IBM Plex Sans" pitchFamily="34" charset="0"/>
                <a:ea typeface="IBM Plex Sans" pitchFamily="34" charset="-122"/>
                <a:cs typeface="IBM Plex Sans" pitchFamily="34" charset="-120"/>
              </a:rPr>
              <a:t> Diagnose with grid + D plot + histogram </a:t>
            </a:r>
            <a:r>
              <a:rPr lang="en-US" sz="1700" b="1" dirty="0">
                <a:solidFill>
                  <a:srgbClr val="14213D"/>
                </a:solidFill>
                <a:latin typeface="IBM Plex Sans" pitchFamily="34" charset="0"/>
                <a:ea typeface="IBM Plex Sans" pitchFamily="34" charset="-122"/>
                <a:cs typeface="IBM Plex Sans" pitchFamily="34" charset="-120"/>
              </a:rPr>
              <a:t>together</a:t>
            </a:r>
            <a:r>
              <a:rPr lang="en-US" sz="1700" dirty="0">
                <a:solidFill>
                  <a:srgbClr val="14213D"/>
                </a:solidFill>
                <a:latin typeface="IBM Plex Sans" pitchFamily="34" charset="0"/>
                <a:ea typeface="IBM Plex Sans" pitchFamily="34" charset="-122"/>
                <a:cs typeface="IBM Plex Sans" pitchFamily="34" charset="-120"/>
              </a:rPr>
              <a:t>, then pick the fix that targets the cause.</a:t>
            </a:r>
            <a:endParaRPr lang="en-US" sz="1700" dirty="0"/>
          </a:p>
        </p:txBody>
      </p:sp>
      <p:sp>
        <p:nvSpPr>
          <p:cNvPr id="8" name="Shape 6"/>
          <p:cNvSpPr/>
          <p:nvPr/>
        </p:nvSpPr>
        <p:spPr>
          <a:xfrm>
            <a:off x="812800" y="4826000"/>
            <a:ext cx="10566400" cy="952500"/>
          </a:xfrm>
          <a:prstGeom prst="roundRect">
            <a:avLst>
              <a:gd name="adj" fmla="val 10667"/>
            </a:avLst>
          </a:prstGeom>
          <a:solidFill>
            <a:srgbClr val="14213D"/>
          </a:solidFill>
          <a:ln/>
        </p:spPr>
      </p:sp>
      <p:sp>
        <p:nvSpPr>
          <p:cNvPr id="9" name="Text 7"/>
          <p:cNvSpPr/>
          <p:nvPr/>
        </p:nvSpPr>
        <p:spPr>
          <a:xfrm>
            <a:off x="1079500" y="5016500"/>
            <a:ext cx="1039939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3EC"/>
                </a:solidFill>
                <a:latin typeface="IBM Plex Sans" pitchFamily="34" charset="0"/>
                <a:ea typeface="IBM Plex Sans" pitchFamily="34" charset="-122"/>
                <a:cs typeface="IBM Plex Sans" pitchFamily="34" charset="-120"/>
              </a:rPr>
              <a:t>Today: </a:t>
            </a:r>
            <a:r>
              <a:rPr lang="en-US" sz="1600" b="1" dirty="0">
                <a:solidFill>
                  <a:srgbClr val="E9B949"/>
                </a:solidFill>
                <a:latin typeface="IBM Plex Sans" pitchFamily="34" charset="0"/>
                <a:ea typeface="IBM Plex Sans" pitchFamily="34" charset="-122"/>
                <a:cs typeface="IBM Plex Sans" pitchFamily="34" charset="-120"/>
              </a:rPr>
              <a:t>same game, same tools.</a:t>
            </a:r>
            <a:r>
              <a:rPr lang="en-US" sz="1600" dirty="0">
                <a:solidFill>
                  <a:srgbClr val="F6F3EC"/>
                </a:solidFill>
                <a:latin typeface="IBM Plex Sans" pitchFamily="34" charset="0"/>
                <a:ea typeface="IBM Plex Sans" pitchFamily="34" charset="-122"/>
                <a:cs typeface="IBM Plex Sans" pitchFamily="34" charset="-120"/>
              </a:rPr>
              <a:t> We change how G and D see images, and what G is told.</a:t>
            </a:r>
            <a:endParaRPr lang="en-US" sz="16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01 Revision · min 29–30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02</a:t>
            </a:r>
            <a:endParaRPr lang="en-US" sz="8000" dirty="0"/>
          </a:p>
        </p:txBody>
      </p:sp>
      <p:sp>
        <p:nvSpPr>
          <p:cNvPr id="3" name="Text 1"/>
          <p:cNvSpPr/>
          <p:nvPr>
            <p:ph type="title"/>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6F3EC"/>
                </a:solidFill>
                <a:latin typeface="Space Grotesk" pitchFamily="34" charset="0"/>
                <a:ea typeface="Space Grotesk" pitchFamily="34" charset="-122"/>
                <a:cs typeface="Space Grotesk" pitchFamily="34" charset="-120"/>
              </a:rPr>
              <a:t>Why convolutions?</a:t>
            </a:r>
            <a:endParaRPr lang="en-US" sz="4400" dirty="0"/>
          </a:p>
        </p:txBody>
      </p:sp>
      <p:sp>
        <p:nvSpPr>
          <p:cNvPr id="4" name="Text 2"/>
          <p:cNvSpPr/>
          <p:nvPr/>
        </p:nvSpPr>
        <p:spPr>
          <a:xfrm>
            <a:off x="812800" y="4064000"/>
            <a:ext cx="113792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The Class 1 generator treats an image as 784 unrelated numbers. Images are not like that.</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4 · min 30–40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TODAY'S BASELINE · CLASS 1 NETWORK, Β1 = 0.5, 2 EPOCHS</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The fully connected generator makes grey, speckled digits</a:t>
            </a:r>
            <a:endParaRPr lang="en-US" sz="3200" dirty="0"/>
          </a:p>
        </p:txBody>
      </p:sp>
      <p:sp>
        <p:nvSpPr>
          <p:cNvPr id="4" name="Shape 2"/>
          <p:cNvSpPr/>
          <p:nvPr/>
        </p:nvSpPr>
        <p:spPr>
          <a:xfrm>
            <a:off x="819150" y="1911350"/>
            <a:ext cx="3924300" cy="3797300"/>
          </a:xfrm>
          <a:prstGeom prst="roundRect">
            <a:avLst>
              <a:gd name="adj" fmla="val 2508"/>
            </a:avLst>
          </a:prstGeom>
          <a:solidFill>
            <a:srgbClr val="FFFDF8"/>
          </a:solidFill>
          <a:ln w="12700">
            <a:solidFill>
              <a:srgbClr val="E4DED0"/>
            </a:solidFill>
            <a:prstDash val="solid"/>
          </a:ln>
        </p:spPr>
      </p:sp>
      <p:pic>
        <p:nvPicPr>
          <p:cNvPr id="5" name="Image 0" descr="100 samples from the fully connected GAN: blurry grey digit shapes on a speckled grey background">    </p:cNvPr>
          <p:cNvPicPr>
            <a:picLocks noChangeAspect="1"/>
          </p:cNvPicPr>
          <p:nvPr/>
        </p:nvPicPr>
        <p:blipFill>
          <a:blip r:embed="rId1"/>
          <a:srcRect l="0" r="0" t="-1069" b="-1069"/>
          <a:stretch/>
        </p:blipFill>
        <p:spPr>
          <a:xfrm>
            <a:off x="939800" y="2032000"/>
            <a:ext cx="3683000" cy="3556000"/>
          </a:xfrm>
          <a:prstGeom prst="rect">
            <a:avLst/>
          </a:prstGeom>
        </p:spPr>
      </p:pic>
      <p:sp>
        <p:nvSpPr>
          <p:cNvPr id="6" name="Text 3"/>
          <p:cNvSpPr/>
          <p:nvPr/>
        </p:nvSpPr>
        <p:spPr>
          <a:xfrm>
            <a:off x="5143500" y="1968500"/>
            <a:ext cx="642277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Background:</a:t>
            </a:r>
            <a:r>
              <a:rPr lang="en-US" sz="1500" dirty="0">
                <a:solidFill>
                  <a:srgbClr val="14213D"/>
                </a:solidFill>
                <a:latin typeface="IBM Plex Sans" pitchFamily="34" charset="0"/>
                <a:ea typeface="IBM Plex Sans" pitchFamily="34" charset="-122"/>
                <a:cs typeface="IBM Plex Sans" pitchFamily="34" charset="-120"/>
              </a:rPr>
              <a:t> grey speckle, never clean black. Each of the 784 outputs is learned </a:t>
            </a:r>
            <a:r>
              <a:rPr lang="en-US" sz="1500" b="1" dirty="0">
                <a:solidFill>
                  <a:srgbClr val="14213D"/>
                </a:solidFill>
                <a:latin typeface="IBM Plex Sans" pitchFamily="34" charset="0"/>
                <a:ea typeface="IBM Plex Sans" pitchFamily="34" charset="-122"/>
                <a:cs typeface="IBM Plex Sans" pitchFamily="34" charset="-120"/>
              </a:rPr>
              <a:t>on its own</a:t>
            </a:r>
            <a:r>
              <a:rPr lang="en-US" sz="1500" dirty="0">
                <a:solidFill>
                  <a:srgbClr val="14213D"/>
                </a:solidFill>
                <a:latin typeface="IBM Plex Sans" pitchFamily="34" charset="0"/>
                <a:ea typeface="IBM Plex Sans" pitchFamily="34" charset="-122"/>
                <a:cs typeface="IBM Plex Sans" pitchFamily="34" charset="-120"/>
              </a:rPr>
              <a:t>; no pixel knows its neighbours are black.</a:t>
            </a:r>
            <a:endParaRPr lang="en-US" sz="1500" dirty="0"/>
          </a:p>
        </p:txBody>
      </p:sp>
      <p:sp>
        <p:nvSpPr>
          <p:cNvPr id="7" name="Text 4"/>
          <p:cNvSpPr/>
          <p:nvPr/>
        </p:nvSpPr>
        <p:spPr>
          <a:xfrm>
            <a:off x="5143500" y="3111500"/>
            <a:ext cx="642277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Strokes:</a:t>
            </a:r>
            <a:r>
              <a:rPr lang="en-US" sz="1500" dirty="0">
                <a:solidFill>
                  <a:srgbClr val="14213D"/>
                </a:solidFill>
                <a:latin typeface="IBM Plex Sans" pitchFamily="34" charset="0"/>
                <a:ea typeface="IBM Plex Sans" pitchFamily="34" charset="-122"/>
                <a:cs typeface="IBM Plex Sans" pitchFamily="34" charset="-120"/>
              </a:rPr>
              <a:t> blurry and broken. "A stroke" is a pattern of neighbouring pixels, but a Linear layer has no idea which pixels are neighbours.</a:t>
            </a:r>
            <a:endParaRPr lang="en-US" sz="1500" dirty="0"/>
          </a:p>
        </p:txBody>
      </p:sp>
      <p:sp>
        <p:nvSpPr>
          <p:cNvPr id="8" name="Text 5"/>
          <p:cNvSpPr/>
          <p:nvPr/>
        </p:nvSpPr>
        <p:spPr>
          <a:xfrm>
            <a:off x="5143500" y="4254500"/>
            <a:ext cx="642277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Variety:</a:t>
            </a:r>
            <a:r>
              <a:rPr lang="en-US" sz="1500" dirty="0">
                <a:solidFill>
                  <a:srgbClr val="14213D"/>
                </a:solidFill>
                <a:latin typeface="IBM Plex Sans" pitchFamily="34" charset="0"/>
                <a:ea typeface="IBM Plex Sans" pitchFamily="34" charset="-122"/>
                <a:cs typeface="IBM Plex Sans" pitchFamily="34" charset="-120"/>
              </a:rPr>
              <a:t> no 6s at all in 1,000 samples; 8s and 3s dominate. Evenness 0.79 (1.0 = perfect).</a:t>
            </a:r>
            <a:endParaRPr lang="en-US" sz="1500" dirty="0"/>
          </a:p>
        </p:txBody>
      </p:sp>
      <p:sp>
        <p:nvSpPr>
          <p:cNvPr id="9" name="Text 6"/>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02 Why convolutions · min 30–33 · test run of today's notebook, Part 1.3, seed 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WHAT A CONVOLUTION ASSUMES ABOUT IMAGES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Two assumptions that fit images</a:t>
            </a:r>
            <a:endParaRPr lang="en-US" sz="3200" dirty="0"/>
          </a:p>
        </p:txBody>
      </p:sp>
      <p:sp>
        <p:nvSpPr>
          <p:cNvPr id="4" name="Shape 2"/>
          <p:cNvSpPr/>
          <p:nvPr/>
        </p:nvSpPr>
        <p:spPr>
          <a:xfrm>
            <a:off x="812800" y="1841500"/>
            <a:ext cx="5080000" cy="2984500"/>
          </a:xfrm>
          <a:prstGeom prst="roundRect">
            <a:avLst>
              <a:gd name="adj" fmla="val 3404"/>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1841500"/>
            <a:ext cx="5080000" cy="2984500"/>
          </a:xfrm>
          <a:custGeom>
            <a:avLst/>
            <a:gdLst/>
            <a:ahLst/>
            <a:cxnLst/>
            <a:rect l="l" t="t" r="r" b="b"/>
            <a:pathLst>
              <a:path w="5080000" h="29845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B24E17"/>
          </a:solidFill>
          <a:ln/>
        </p:spPr>
      </p:sp>
      <p:sp>
        <p:nvSpPr>
          <p:cNvPr id="6" name="Text 4"/>
          <p:cNvSpPr/>
          <p:nvPr/>
        </p:nvSpPr>
        <p:spPr>
          <a:xfrm>
            <a:off x="1079500" y="20320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24E17"/>
                </a:solidFill>
                <a:latin typeface="Space Grotesk" pitchFamily="34" charset="0"/>
                <a:ea typeface="Space Grotesk" pitchFamily="34" charset="-122"/>
                <a:cs typeface="Space Grotesk" pitchFamily="34" charset="-120"/>
              </a:rPr>
              <a:t>Locality</a:t>
            </a:r>
            <a:endParaRPr lang="en-US" sz="2000" dirty="0"/>
          </a:p>
        </p:txBody>
      </p:sp>
      <p:sp>
        <p:nvSpPr>
          <p:cNvPr id="7" name="Text 5"/>
          <p:cNvSpPr/>
          <p:nvPr/>
        </p:nvSpPr>
        <p:spPr>
          <a:xfrm>
            <a:off x="1079500" y="2476500"/>
            <a:ext cx="4709160"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Each output pixel is computed from a </a:t>
            </a:r>
            <a:r>
              <a:rPr lang="en-US" sz="1500" b="1" dirty="0">
                <a:solidFill>
                  <a:srgbClr val="3D4657"/>
                </a:solidFill>
                <a:latin typeface="IBM Plex Sans" pitchFamily="34" charset="0"/>
                <a:ea typeface="IBM Plex Sans" pitchFamily="34" charset="-122"/>
                <a:cs typeface="IBM Plex Sans" pitchFamily="34" charset="-120"/>
              </a:rPr>
              <a:t>small neighbourhood</a:t>
            </a:r>
            <a:r>
              <a:rPr lang="en-US" sz="1500" dirty="0">
                <a:solidFill>
                  <a:srgbClr val="3D4657"/>
                </a:solidFill>
                <a:latin typeface="IBM Plex Sans" pitchFamily="34" charset="0"/>
                <a:ea typeface="IBM Plex Sans" pitchFamily="34" charset="-122"/>
                <a:cs typeface="IBM Plex Sans" pitchFamily="34" charset="-120"/>
              </a:rPr>
              <a:t> (a 4×4 window), not from all 784 pixels. Neighbours decide together, so backgrounds come out smooth.</a:t>
            </a:r>
            <a:endParaRPr lang="en-US" sz="1500" dirty="0"/>
          </a:p>
        </p:txBody>
      </p:sp>
      <p:sp>
        <p:nvSpPr>
          <p:cNvPr id="8" name="Shape 6"/>
          <p:cNvSpPr/>
          <p:nvPr/>
        </p:nvSpPr>
        <p:spPr>
          <a:xfrm>
            <a:off x="6299200" y="1841500"/>
            <a:ext cx="5080000" cy="2984500"/>
          </a:xfrm>
          <a:prstGeom prst="roundRect">
            <a:avLst>
              <a:gd name="adj" fmla="val 3404"/>
            </a:avLst>
          </a:prstGeom>
          <a:solidFill>
            <a:srgbClr val="FFFDF8"/>
          </a:solidFill>
          <a:ln/>
          <a:effectLst>
            <a:outerShdw sx="100000" sy="100000" kx="0" ky="0" algn="bl" rotWithShape="0" blurRad="12700" dist="0" dir="60000">
              <a:srgbClr val="E4DED0">
                <a:alpha val="100000"/>
              </a:srgbClr>
            </a:outerShdw>
          </a:effectLst>
        </p:spPr>
      </p:sp>
      <p:sp>
        <p:nvSpPr>
          <p:cNvPr id="9" name="Shape 7"/>
          <p:cNvSpPr/>
          <p:nvPr/>
        </p:nvSpPr>
        <p:spPr>
          <a:xfrm>
            <a:off x="6299200" y="1841500"/>
            <a:ext cx="5080000" cy="2984500"/>
          </a:xfrm>
          <a:custGeom>
            <a:avLst/>
            <a:gdLst/>
            <a:ahLst/>
            <a:cxnLst/>
            <a:rect l="l" t="t" r="r" b="b"/>
            <a:pathLst>
              <a:path w="5080000" h="29845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2563A8"/>
          </a:solidFill>
          <a:ln/>
        </p:spPr>
      </p:sp>
      <p:sp>
        <p:nvSpPr>
          <p:cNvPr id="10" name="Text 8"/>
          <p:cNvSpPr/>
          <p:nvPr/>
        </p:nvSpPr>
        <p:spPr>
          <a:xfrm>
            <a:off x="6565900" y="20320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563A8"/>
                </a:solidFill>
                <a:latin typeface="Space Grotesk" pitchFamily="34" charset="0"/>
                <a:ea typeface="Space Grotesk" pitchFamily="34" charset="-122"/>
                <a:cs typeface="Space Grotesk" pitchFamily="34" charset="-120"/>
              </a:rPr>
              <a:t>Weight sharing</a:t>
            </a:r>
            <a:endParaRPr lang="en-US" sz="2000" dirty="0"/>
          </a:p>
        </p:txBody>
      </p:sp>
      <p:sp>
        <p:nvSpPr>
          <p:cNvPr id="11" name="Text 9"/>
          <p:cNvSpPr/>
          <p:nvPr/>
        </p:nvSpPr>
        <p:spPr>
          <a:xfrm>
            <a:off x="6565900" y="2476500"/>
            <a:ext cx="4709160"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The </a:t>
            </a:r>
            <a:r>
              <a:rPr lang="en-US" sz="1500" b="1" dirty="0">
                <a:solidFill>
                  <a:srgbClr val="3D4657"/>
                </a:solidFill>
                <a:latin typeface="IBM Plex Sans" pitchFamily="34" charset="0"/>
                <a:ea typeface="IBM Plex Sans" pitchFamily="34" charset="-122"/>
                <a:cs typeface="IBM Plex Sans" pitchFamily="34" charset="-120"/>
              </a:rPr>
              <a:t>same filter</a:t>
            </a:r>
            <a:r>
              <a:rPr lang="en-US" sz="1500" dirty="0">
                <a:solidFill>
                  <a:srgbClr val="3D4657"/>
                </a:solidFill>
                <a:latin typeface="IBM Plex Sans" pitchFamily="34" charset="0"/>
                <a:ea typeface="IBM Plex Sans" pitchFamily="34" charset="-122"/>
                <a:cs typeface="IBM Plex Sans" pitchFamily="34" charset="-120"/>
              </a:rPr>
              <a:t> slides over the whole image. A "curve" detector learned in one corner works everywhere, so a stroke is learned once, not once per position.</a:t>
            </a:r>
            <a:endParaRPr lang="en-US" sz="1500" dirty="0"/>
          </a:p>
        </p:txBody>
      </p:sp>
      <p:sp>
        <p:nvSpPr>
          <p:cNvPr id="12" name="Text 10"/>
          <p:cNvSpPr/>
          <p:nvPr/>
        </p:nvSpPr>
        <p:spPr>
          <a:xfrm>
            <a:off x="812800" y="5080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You used both in CNN classifiers. A </a:t>
            </a:r>
            <a:r>
              <a:rPr lang="en-US" sz="1600" b="1" dirty="0">
                <a:solidFill>
                  <a:srgbClr val="14213D"/>
                </a:solidFill>
                <a:latin typeface="IBM Plex Sans" pitchFamily="34" charset="0"/>
                <a:ea typeface="IBM Plex Sans" pitchFamily="34" charset="-122"/>
                <a:cs typeface="IBM Plex Sans" pitchFamily="34" charset="-120"/>
              </a:rPr>
              <a:t>DCGAN</a:t>
            </a:r>
            <a:r>
              <a:rPr lang="en-US" sz="1600" dirty="0">
                <a:solidFill>
                  <a:srgbClr val="14213D"/>
                </a:solidFill>
                <a:latin typeface="IBM Plex Sans" pitchFamily="34" charset="0"/>
                <a:ea typeface="IBM Plex Sans" pitchFamily="34" charset="-122"/>
                <a:cs typeface="IBM Plex Sans" pitchFamily="34" charset="-120"/>
              </a:rPr>
              <a:t> uses them in </a:t>
            </a:r>
            <a:r>
              <a:rPr lang="en-US" sz="1600" b="1" dirty="0">
                <a:solidFill>
                  <a:srgbClr val="14213D"/>
                </a:solidFill>
                <a:latin typeface="IBM Plex Sans" pitchFamily="34" charset="0"/>
                <a:ea typeface="IBM Plex Sans" pitchFamily="34" charset="-122"/>
                <a:cs typeface="IBM Plex Sans" pitchFamily="34" charset="-120"/>
              </a:rPr>
              <a:t>both players</a:t>
            </a:r>
            <a:r>
              <a:rPr lang="en-US" sz="1600" dirty="0">
                <a:solidFill>
                  <a:srgbClr val="14213D"/>
                </a:solidFill>
                <a:latin typeface="IBM Plex Sans" pitchFamily="34" charset="0"/>
                <a:ea typeface="IBM Plex Sans" pitchFamily="34" charset="-122"/>
                <a:cs typeface="IBM Plex Sans" pitchFamily="34" charset="-120"/>
              </a:rPr>
              <a:t>: D shrinks the image down to one score, G grows noise up to an image.</a:t>
            </a:r>
            <a:endParaRPr lang="en-US" sz="16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02 Why convolutions · min 33–37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SIZE IS NOT THE POINT · COUNTED IN THE NOTEBOOK</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The convolutional D is smaller, yet a much better critic</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7700"/>
          <a:ext cx="10553700" cy="1238250"/>
        </p:xfrm>
        <a:graphic>
          <a:graphicData uri="http://schemas.openxmlformats.org/drawingml/2006/table">
            <a:tbl>
              <a:tblPr/>
              <a:tblGrid>
                <a:gridCol w="2955036"/>
                <a:gridCol w="2532888"/>
                <a:gridCol w="2532888"/>
                <a:gridCol w="2532888"/>
              </a:tblGrid>
              <a:tr h="41275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Network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Fully connected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DCGAN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Change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Generator 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227,344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759,680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3.3× larger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Discriminator 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201,217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138,624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31%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bl>
          </a:graphicData>
        </a:graphic>
      </p:graphicFrame>
      <p:sp>
        <p:nvSpPr>
          <p:cNvPr id="5" name="Text 2"/>
          <p:cNvSpPr/>
          <p:nvPr/>
        </p:nvSpPr>
        <p:spPr>
          <a:xfrm>
            <a:off x="812800" y="3556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D's convolutions reuse each small filter across the whole image, so it gets </a:t>
            </a:r>
            <a:r>
              <a:rPr lang="en-US" sz="1600" b="1" dirty="0">
                <a:solidFill>
                  <a:srgbClr val="14213D"/>
                </a:solidFill>
                <a:latin typeface="IBM Plex Sans" pitchFamily="34" charset="0"/>
                <a:ea typeface="IBM Plex Sans" pitchFamily="34" charset="-122"/>
                <a:cs typeface="IBM Plex Sans" pitchFamily="34" charset="-120"/>
              </a:rPr>
              <a:t>more useful features from fewer weights</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6" name="Text 3"/>
          <p:cNvSpPr/>
          <p:nvPr/>
        </p:nvSpPr>
        <p:spPr>
          <a:xfrm>
            <a:off x="812800" y="4445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 better critic is a better teacher: G only learns through D's gradient. That is the Class 2 &amp; 3 idea again, now used </a:t>
            </a:r>
            <a:r>
              <a:rPr lang="en-US" sz="1600" b="1" dirty="0">
                <a:solidFill>
                  <a:srgbClr val="14213D"/>
                </a:solidFill>
                <a:latin typeface="IBM Plex Sans" pitchFamily="34" charset="0"/>
                <a:ea typeface="IBM Plex Sans" pitchFamily="34" charset="-122"/>
                <a:cs typeface="IBM Plex Sans" pitchFamily="34" charset="-120"/>
              </a:rPr>
              <a:t>in our favour</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7" name="Text 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02 Why convolutions · min 37–40 · parameter counts printed by today's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03</a:t>
            </a:r>
            <a:endParaRPr lang="en-US" sz="8000" dirty="0"/>
          </a:p>
        </p:txBody>
      </p:sp>
      <p:sp>
        <p:nvSpPr>
          <p:cNvPr id="3" name="Text 1"/>
          <p:cNvSpPr/>
          <p:nvPr>
            <p:ph type="title"/>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6F3EC"/>
                </a:solidFill>
                <a:latin typeface="Space Grotesk" pitchFamily="34" charset="0"/>
                <a:ea typeface="Space Grotesk" pitchFamily="34" charset="-122"/>
                <a:cs typeface="Space Grotesk" pitchFamily="34" charset="-120"/>
              </a:rPr>
              <a:t>DCGAN: Deep Convolutional GAN</a:t>
            </a:r>
            <a:endParaRPr lang="en-US" sz="4400" dirty="0"/>
          </a:p>
        </p:txBody>
      </p:sp>
      <p:sp>
        <p:nvSpPr>
          <p:cNvPr id="4" name="Text 2"/>
          <p:cNvSpPr/>
          <p:nvPr/>
        </p:nvSpPr>
        <p:spPr>
          <a:xfrm>
            <a:off x="812800" y="4064000"/>
            <a:ext cx="981075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Radford, Metz and Chintala, 2015: the recipe that made convolutional GANs train reliably.</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4 · min 40–61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SHRINK IN D, GROW IN G · NOTEBOOK PART 2</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Stride 2 halves the image; a transposed stride 2 doubles it</a:t>
            </a:r>
            <a:endParaRPr lang="en-US" sz="3200" dirty="0"/>
          </a:p>
        </p:txBody>
      </p:sp>
      <p:sp>
        <p:nvSpPr>
          <p:cNvPr id="4" name="Shape 2"/>
          <p:cNvSpPr/>
          <p:nvPr/>
        </p:nvSpPr>
        <p:spPr>
          <a:xfrm>
            <a:off x="812800" y="1905000"/>
            <a:ext cx="5080000" cy="25400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1905000"/>
            <a:ext cx="5080000" cy="2540000"/>
          </a:xfrm>
          <a:custGeom>
            <a:avLst/>
            <a:gdLst/>
            <a:ahLst/>
            <a:cxnLst/>
            <a:rect l="l" t="t" r="r" b="b"/>
            <a:pathLst>
              <a:path w="5080000" h="2540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B24E17"/>
          </a:solidFill>
          <a:ln/>
        </p:spPr>
      </p:sp>
      <p:sp>
        <p:nvSpPr>
          <p:cNvPr id="6" name="Text 4"/>
          <p:cNvSpPr/>
          <p:nvPr/>
        </p:nvSpPr>
        <p:spPr>
          <a:xfrm>
            <a:off x="1079500" y="20955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24E17"/>
                </a:solidFill>
                <a:latin typeface="Space Grotesk" pitchFamily="34" charset="0"/>
                <a:ea typeface="Space Grotesk" pitchFamily="34" charset="-122"/>
                <a:cs typeface="Space Grotesk" pitchFamily="34" charset="-120"/>
              </a:rPr>
              <a:t>Conv2d (in D)</a:t>
            </a:r>
            <a:endParaRPr lang="en-US" sz="2000" dirty="0"/>
          </a:p>
        </p:txBody>
      </p:sp>
      <p:sp>
        <p:nvSpPr>
          <p:cNvPr id="7" name="Text 5"/>
          <p:cNvSpPr/>
          <p:nvPr/>
        </p:nvSpPr>
        <p:spPr>
          <a:xfrm>
            <a:off x="1079500" y="2571750"/>
            <a:ext cx="47091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JetBrains Mono" pitchFamily="49" charset="0"/>
                <a:ea typeface="JetBrains Mono" pitchFamily="49" charset="-122"/>
                <a:cs typeface="JetBrains Mono" pitchFamily="49" charset="-120"/>
              </a:rPr>
              <a:t>out = (n + 2p − k) // s + 1</a:t>
            </a:r>
            <a:endParaRPr lang="en-US" sz="1500" dirty="0"/>
          </a:p>
        </p:txBody>
      </p:sp>
      <p:sp>
        <p:nvSpPr>
          <p:cNvPr id="8" name="Text 6"/>
          <p:cNvSpPr/>
          <p:nvPr/>
        </p:nvSpPr>
        <p:spPr>
          <a:xfrm>
            <a:off x="1079500" y="3048000"/>
            <a:ext cx="470916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k = 4, s = 2, p = 1:</a:t>
            </a:r>
            <a:endParaRPr lang="en-US" sz="1500" dirty="0"/>
          </a:p>
          <a:p>
            <a:pPr algn="l" indent="0" marL="0">
              <a:lnSpc>
                <a:spcPts val="2175"/>
              </a:lnSpc>
              <a:buNone/>
            </a:pPr>
            <a:r>
              <a:rPr lang="en-US" sz="1500" b="1" dirty="0">
                <a:solidFill>
                  <a:srgbClr val="3D4657"/>
                </a:solidFill>
                <a:latin typeface="IBM Plex Sans" pitchFamily="34" charset="0"/>
                <a:ea typeface="IBM Plex Sans" pitchFamily="34" charset="-122"/>
                <a:cs typeface="IBM Plex Sans" pitchFamily="34" charset="-120"/>
              </a:rPr>
              <a:t>28 → 14 → 7</a:t>
            </a:r>
            <a:r>
              <a:rPr lang="en-US" sz="1500" dirty="0">
                <a:solidFill>
                  <a:srgbClr val="3D4657"/>
                </a:solidFill>
                <a:latin typeface="IBM Plex Sans" pitchFamily="34" charset="0"/>
                <a:ea typeface="IBM Plex Sans" pitchFamily="34" charset="-122"/>
                <a:cs typeface="IBM Plex Sans" pitchFamily="34" charset="-120"/>
              </a:rPr>
              <a:t>. Each layer halves.</a:t>
            </a:r>
            <a:endParaRPr lang="en-US" sz="1500" dirty="0"/>
          </a:p>
        </p:txBody>
      </p:sp>
      <p:sp>
        <p:nvSpPr>
          <p:cNvPr id="9" name="Shape 7"/>
          <p:cNvSpPr/>
          <p:nvPr/>
        </p:nvSpPr>
        <p:spPr>
          <a:xfrm>
            <a:off x="6299200" y="1905000"/>
            <a:ext cx="5080000" cy="25400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10" name="Shape 8"/>
          <p:cNvSpPr/>
          <p:nvPr/>
        </p:nvSpPr>
        <p:spPr>
          <a:xfrm>
            <a:off x="6299200" y="1905000"/>
            <a:ext cx="5080000" cy="2540000"/>
          </a:xfrm>
          <a:custGeom>
            <a:avLst/>
            <a:gdLst/>
            <a:ahLst/>
            <a:cxnLst/>
            <a:rect l="l" t="t" r="r" b="b"/>
            <a:pathLst>
              <a:path w="5080000" h="2540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2563A8"/>
          </a:solidFill>
          <a:ln/>
        </p:spPr>
      </p:sp>
      <p:sp>
        <p:nvSpPr>
          <p:cNvPr id="11" name="Text 9"/>
          <p:cNvSpPr/>
          <p:nvPr/>
        </p:nvSpPr>
        <p:spPr>
          <a:xfrm>
            <a:off x="6565900" y="20955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563A8"/>
                </a:solidFill>
                <a:latin typeface="Space Grotesk" pitchFamily="34" charset="0"/>
                <a:ea typeface="Space Grotesk" pitchFamily="34" charset="-122"/>
                <a:cs typeface="Space Grotesk" pitchFamily="34" charset="-120"/>
              </a:rPr>
              <a:t>ConvTranspose2d (in G)</a:t>
            </a:r>
            <a:endParaRPr lang="en-US" sz="2000" dirty="0"/>
          </a:p>
        </p:txBody>
      </p:sp>
      <p:sp>
        <p:nvSpPr>
          <p:cNvPr id="12" name="Text 10"/>
          <p:cNvSpPr/>
          <p:nvPr/>
        </p:nvSpPr>
        <p:spPr>
          <a:xfrm>
            <a:off x="6565900" y="2571750"/>
            <a:ext cx="47091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JetBrains Mono" pitchFamily="49" charset="0"/>
                <a:ea typeface="JetBrains Mono" pitchFamily="49" charset="-122"/>
                <a:cs typeface="JetBrains Mono" pitchFamily="49" charset="-120"/>
              </a:rPr>
              <a:t>out = (n − 1)·s − 2p + k</a:t>
            </a:r>
            <a:endParaRPr lang="en-US" sz="1500" dirty="0"/>
          </a:p>
        </p:txBody>
      </p:sp>
      <p:sp>
        <p:nvSpPr>
          <p:cNvPr id="13" name="Text 11"/>
          <p:cNvSpPr/>
          <p:nvPr/>
        </p:nvSpPr>
        <p:spPr>
          <a:xfrm>
            <a:off x="6565900" y="3048000"/>
            <a:ext cx="470916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k = 4, s = 2, p = 1:</a:t>
            </a:r>
            <a:endParaRPr lang="en-US" sz="1500" dirty="0"/>
          </a:p>
          <a:p>
            <a:pPr algn="l" indent="0" marL="0">
              <a:lnSpc>
                <a:spcPts val="2175"/>
              </a:lnSpc>
              <a:buNone/>
            </a:pPr>
            <a:r>
              <a:rPr lang="en-US" sz="1500" b="1" dirty="0">
                <a:solidFill>
                  <a:srgbClr val="3D4657"/>
                </a:solidFill>
                <a:latin typeface="IBM Plex Sans" pitchFamily="34" charset="0"/>
                <a:ea typeface="IBM Plex Sans" pitchFamily="34" charset="-122"/>
                <a:cs typeface="IBM Plex Sans" pitchFamily="34" charset="-120"/>
              </a:rPr>
              <a:t>7 → 14 → 28</a:t>
            </a:r>
            <a:r>
              <a:rPr lang="en-US" sz="1500" dirty="0">
                <a:solidFill>
                  <a:srgbClr val="3D4657"/>
                </a:solidFill>
                <a:latin typeface="IBM Plex Sans" pitchFamily="34" charset="0"/>
                <a:ea typeface="IBM Plex Sans" pitchFamily="34" charset="-122"/>
                <a:cs typeface="IBM Plex Sans" pitchFamily="34" charset="-120"/>
              </a:rPr>
              <a:t>. Each layer doubles.</a:t>
            </a:r>
            <a:endParaRPr lang="en-US" sz="1500" dirty="0"/>
          </a:p>
        </p:txBody>
      </p:sp>
      <p:sp>
        <p:nvSpPr>
          <p:cNvPr id="14" name="Text 12"/>
          <p:cNvSpPr/>
          <p:nvPr/>
        </p:nvSpPr>
        <p:spPr>
          <a:xfrm>
            <a:off x="812800" y="4699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Try it:</a:t>
            </a:r>
            <a:r>
              <a:rPr lang="en-US" sz="1600" dirty="0">
                <a:solidFill>
                  <a:srgbClr val="14213D"/>
                </a:solidFill>
                <a:latin typeface="IBM Plex Sans" pitchFamily="34" charset="0"/>
                <a:ea typeface="IBM Plex Sans" pitchFamily="34" charset="-122"/>
                <a:cs typeface="IBM Plex Sans" pitchFamily="34" charset="-120"/>
              </a:rPr>
              <a:t> ConvTranspose2d(100, 128, kernel 7, stride 1, padding 0) on a 1×1 input gives…? </a:t>
            </a:r>
            <a:r>
              <a:rPr lang="en-US" sz="1600" b="1" dirty="0">
                <a:solidFill>
                  <a:srgbClr val="2563A8"/>
                </a:solidFill>
                <a:latin typeface="IBM Plex Sans" pitchFamily="34" charset="0"/>
                <a:ea typeface="IBM Plex Sans" pitchFamily="34" charset="-122"/>
                <a:cs typeface="IBM Plex Sans" pitchFamily="34" charset="-120"/>
              </a:rPr>
              <a:t>(1 − 1)·1 − 0 + 7 = 7.</a:t>
            </a:r>
            <a:r>
              <a:rPr lang="en-US" sz="1600" dirty="0">
                <a:solidFill>
                  <a:srgbClr val="14213D"/>
                </a:solidFill>
                <a:latin typeface="IBM Plex Sans" pitchFamily="34" charset="0"/>
                <a:ea typeface="IBM Plex Sans" pitchFamily="34" charset="-122"/>
                <a:cs typeface="IBM Plex Sans" pitchFamily="34" charset="-120"/>
              </a:rPr>
              <a:t> That is how G turns a noise vector into a 7×7 feature map.</a:t>
            </a:r>
            <a:endParaRPr lang="en-US" sz="1600" dirty="0"/>
          </a:p>
        </p:txBody>
      </p:sp>
      <p:sp>
        <p:nvSpPr>
          <p:cNvPr id="15"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03 DCGAN · min 40–44 · n = input size, k = kernel, s = stride, p = padding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WHAT A TRANSPOSED CONVOLUTION DOES · NOTEBOOK PART 2</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Each input pixel stamps a copy of the kernel</a:t>
            </a:r>
            <a:endParaRPr lang="en-US" sz="3200" dirty="0"/>
          </a:p>
        </p:txBody>
      </p:sp>
      <p:sp>
        <p:nvSpPr>
          <p:cNvPr id="4" name="Shape 2"/>
          <p:cNvSpPr/>
          <p:nvPr/>
        </p:nvSpPr>
        <p:spPr>
          <a:xfrm>
            <a:off x="819150" y="1847850"/>
            <a:ext cx="5702300" cy="2971800"/>
          </a:xfrm>
          <a:prstGeom prst="roundRect">
            <a:avLst>
              <a:gd name="adj" fmla="val 3205"/>
            </a:avLst>
          </a:prstGeom>
          <a:solidFill>
            <a:srgbClr val="FFFDF8"/>
          </a:solidFill>
          <a:ln w="12700">
            <a:solidFill>
              <a:srgbClr val="E4DED0"/>
            </a:solidFill>
            <a:prstDash val="solid"/>
          </a:ln>
        </p:spPr>
      </p:sp>
      <p:pic>
        <p:nvPicPr>
          <p:cNvPr id="5" name="Image 0" descr="Left: a 2 by 2 input with values 1, 0, 0, 2. Right: the 4 by 4 output of a transposed convolution with a kernel of ones; the overlapping centre values are 3">    </p:cNvPr>
          <p:cNvPicPr>
            <a:picLocks noChangeAspect="1"/>
          </p:cNvPicPr>
          <p:nvPr/>
        </p:nvPicPr>
        <p:blipFill>
          <a:blip r:embed="rId1"/>
          <a:srcRect l="0" r="0" t="-620" b="-620"/>
          <a:stretch/>
        </p:blipFill>
        <p:spPr>
          <a:xfrm>
            <a:off x="939800" y="1968500"/>
            <a:ext cx="5461000" cy="2730500"/>
          </a:xfrm>
          <a:prstGeom prst="rect">
            <a:avLst/>
          </a:prstGeom>
        </p:spPr>
      </p:pic>
      <p:sp>
        <p:nvSpPr>
          <p:cNvPr id="6" name="Text 3"/>
          <p:cNvSpPr/>
          <p:nvPr/>
        </p:nvSpPr>
        <p:spPr>
          <a:xfrm>
            <a:off x="6858000" y="1905000"/>
            <a:ext cx="465683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Kernel = 4×4 of ones, stride 2, padding 1. Top-left pixel (1) stamps 1s; bottom-right pixel (2) stamps 2s, </a:t>
            </a:r>
            <a:r>
              <a:rPr lang="en-US" sz="1500" b="1" dirty="0">
                <a:solidFill>
                  <a:srgbClr val="14213D"/>
                </a:solidFill>
                <a:latin typeface="IBM Plex Sans" pitchFamily="34" charset="0"/>
                <a:ea typeface="IBM Plex Sans" pitchFamily="34" charset="-122"/>
                <a:cs typeface="IBM Plex Sans" pitchFamily="34" charset="-120"/>
              </a:rPr>
              <a:t>2 pixels further along</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7" name="Text 4"/>
          <p:cNvSpPr/>
          <p:nvPr/>
        </p:nvSpPr>
        <p:spPr>
          <a:xfrm>
            <a:off x="6858000" y="31750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Where stamps </a:t>
            </a:r>
            <a:r>
              <a:rPr lang="en-US" sz="1500" b="1" dirty="0">
                <a:solidFill>
                  <a:srgbClr val="14213D"/>
                </a:solidFill>
                <a:latin typeface="IBM Plex Sans" pitchFamily="34" charset="0"/>
                <a:ea typeface="IBM Plex Sans" pitchFamily="34" charset="-122"/>
                <a:cs typeface="IBM Plex Sans" pitchFamily="34" charset="-120"/>
              </a:rPr>
              <a:t>overlap</a:t>
            </a:r>
            <a:r>
              <a:rPr lang="en-US" sz="1500" dirty="0">
                <a:solidFill>
                  <a:srgbClr val="14213D"/>
                </a:solidFill>
                <a:latin typeface="IBM Plex Sans" pitchFamily="34" charset="0"/>
                <a:ea typeface="IBM Plex Sans" pitchFamily="34" charset="-122"/>
                <a:cs typeface="IBM Plex Sans" pitchFamily="34" charset="-120"/>
              </a:rPr>
              <a:t> they add: the centre is 1 + 2 = 3.</a:t>
            </a:r>
            <a:endParaRPr lang="en-US" sz="1500" dirty="0"/>
          </a:p>
        </p:txBody>
      </p:sp>
      <p:sp>
        <p:nvSpPr>
          <p:cNvPr id="8" name="Text 5"/>
          <p:cNvSpPr/>
          <p:nvPr/>
        </p:nvSpPr>
        <p:spPr>
          <a:xfrm>
            <a:off x="6858000" y="40005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 G the kernel is </a:t>
            </a:r>
            <a:r>
              <a:rPr lang="en-US" sz="1500" b="1" dirty="0">
                <a:solidFill>
                  <a:srgbClr val="14213D"/>
                </a:solidFill>
                <a:latin typeface="IBM Plex Sans" pitchFamily="34" charset="0"/>
                <a:ea typeface="IBM Plex Sans" pitchFamily="34" charset="-122"/>
                <a:cs typeface="IBM Plex Sans" pitchFamily="34" charset="-120"/>
              </a:rPr>
              <a:t>learned</a:t>
            </a:r>
            <a:r>
              <a:rPr lang="en-US" sz="1500" dirty="0">
                <a:solidFill>
                  <a:srgbClr val="14213D"/>
                </a:solidFill>
                <a:latin typeface="IBM Plex Sans" pitchFamily="34" charset="0"/>
                <a:ea typeface="IBM Plex Sans" pitchFamily="34" charset="-122"/>
                <a:cs typeface="IBM Plex Sans" pitchFamily="34" charset="-120"/>
              </a:rPr>
              <a:t>: each feature stamps a learned patch of strokes.</a:t>
            </a:r>
            <a:endParaRPr lang="en-US" sz="1500" dirty="0"/>
          </a:p>
        </p:txBody>
      </p:sp>
      <p:sp>
        <p:nvSpPr>
          <p:cNvPr id="9" name="Text 6"/>
          <p:cNvSpPr/>
          <p:nvPr/>
        </p:nvSpPr>
        <p:spPr>
          <a:xfrm>
            <a:off x="812800" y="5080000"/>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24E17"/>
                </a:solidFill>
                <a:latin typeface="IBM Plex Sans" pitchFamily="34" charset="0"/>
                <a:ea typeface="IBM Plex Sans" pitchFamily="34" charset="-122"/>
                <a:cs typeface="IBM Plex Sans" pitchFamily="34" charset="-120"/>
              </a:rPr>
              <a:t>Uneven overlaps can leave a faint grid pattern: </a:t>
            </a:r>
            <a:r>
              <a:rPr lang="en-US" sz="1500" b="1" dirty="0">
                <a:solidFill>
                  <a:srgbClr val="B24E17"/>
                </a:solidFill>
                <a:latin typeface="IBM Plex Sans" pitchFamily="34" charset="0"/>
                <a:ea typeface="IBM Plex Sans" pitchFamily="34" charset="-122"/>
                <a:cs typeface="IBM Plex Sans" pitchFamily="34" charset="-120"/>
              </a:rPr>
              <a:t>checkerboard artifacts</a:t>
            </a:r>
            <a:r>
              <a:rPr lang="en-US" sz="1500" dirty="0">
                <a:solidFill>
                  <a:srgbClr val="B24E17"/>
                </a:solidFill>
                <a:latin typeface="IBM Plex Sans" pitchFamily="34" charset="0"/>
                <a:ea typeface="IBM Plex Sans" pitchFamily="34" charset="-122"/>
                <a:cs typeface="IBM Plex Sans" pitchFamily="34" charset="-120"/>
              </a:rPr>
              <a:t>. Kernel 4 with stride 2 overlaps evenly, which helps.</a:t>
            </a:r>
            <a:endParaRPr lang="en-US" sz="1500" dirty="0"/>
          </a:p>
        </p:txBody>
      </p:sp>
      <p:sp>
        <p:nvSpPr>
          <p:cNvPr id="10"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03 DCGAN · min 44–47 · real nn.ConvTranspose2d output · Odena et al. 2016 (Distill)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OUR DCGAN FOR 28×28 MNIST · NOTEBOOK PART 3</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G grows noise into an image; D is its mirror</a:t>
            </a:r>
            <a:endParaRPr lang="en-US" sz="3200" dirty="0"/>
          </a:p>
        </p:txBody>
      </p:sp>
      <p:sp>
        <p:nvSpPr>
          <p:cNvPr id="4" name="Text 2"/>
          <p:cNvSpPr/>
          <p:nvPr/>
        </p:nvSpPr>
        <p:spPr>
          <a:xfrm>
            <a:off x="812800" y="2540000"/>
            <a:ext cx="1511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A8"/>
                </a:solidFill>
                <a:latin typeface="Space Grotesk" pitchFamily="34" charset="0"/>
                <a:ea typeface="Space Grotesk" pitchFamily="34" charset="-122"/>
                <a:cs typeface="Space Grotesk" pitchFamily="34" charset="-120"/>
              </a:rPr>
              <a:t>G</a:t>
            </a:r>
            <a:endParaRPr lang="en-US" sz="2200" dirty="0"/>
          </a:p>
        </p:txBody>
      </p:sp>
      <p:sp>
        <p:nvSpPr>
          <p:cNvPr id="5" name="Shape 3"/>
          <p:cNvSpPr/>
          <p:nvPr/>
        </p:nvSpPr>
        <p:spPr>
          <a:xfrm>
            <a:off x="2540000" y="2603500"/>
            <a:ext cx="317500" cy="254000"/>
          </a:xfrm>
          <a:prstGeom prst="roundRect">
            <a:avLst>
              <a:gd name="adj" fmla="val 15000"/>
            </a:avLst>
          </a:prstGeom>
          <a:solidFill>
            <a:srgbClr val="2563A8"/>
          </a:solidFill>
          <a:ln/>
        </p:spPr>
      </p:sp>
      <p:sp>
        <p:nvSpPr>
          <p:cNvPr id="6" name="Shape 4"/>
          <p:cNvSpPr/>
          <p:nvPr/>
        </p:nvSpPr>
        <p:spPr>
          <a:xfrm>
            <a:off x="4445000" y="2476500"/>
            <a:ext cx="635000" cy="508000"/>
          </a:xfrm>
          <a:prstGeom prst="roundRect">
            <a:avLst>
              <a:gd name="adj" fmla="val 7500"/>
            </a:avLst>
          </a:prstGeom>
          <a:solidFill>
            <a:srgbClr val="2563A8"/>
          </a:solidFill>
          <a:ln/>
        </p:spPr>
      </p:sp>
      <p:sp>
        <p:nvSpPr>
          <p:cNvPr id="7" name="Shape 5"/>
          <p:cNvSpPr/>
          <p:nvPr/>
        </p:nvSpPr>
        <p:spPr>
          <a:xfrm>
            <a:off x="6667500" y="2286000"/>
            <a:ext cx="444500" cy="889000"/>
          </a:xfrm>
          <a:prstGeom prst="roundRect">
            <a:avLst>
              <a:gd name="adj" fmla="val 8571"/>
            </a:avLst>
          </a:prstGeom>
          <a:solidFill>
            <a:srgbClr val="2563A8"/>
          </a:solidFill>
          <a:ln/>
        </p:spPr>
      </p:sp>
      <p:sp>
        <p:nvSpPr>
          <p:cNvPr id="8" name="Shape 6"/>
          <p:cNvSpPr/>
          <p:nvPr/>
        </p:nvSpPr>
        <p:spPr>
          <a:xfrm>
            <a:off x="8890000" y="2032000"/>
            <a:ext cx="1397000" cy="1397000"/>
          </a:xfrm>
          <a:prstGeom prst="roundRect">
            <a:avLst>
              <a:gd name="adj" fmla="val 2727"/>
            </a:avLst>
          </a:prstGeom>
          <a:solidFill>
            <a:srgbClr val="14213D"/>
          </a:solidFill>
          <a:ln/>
        </p:spPr>
      </p:sp>
      <p:pic>
        <p:nvPicPr>
          <p:cNvPr id="9" name="Image 0" descr="connector">    </p:cNvPr>
          <p:cNvPicPr>
            <a:picLocks noChangeAspect="1"/>
          </p:cNvPicPr>
          <p:nvPr/>
        </p:nvPicPr>
        <p:blipFill>
          <a:blip r:embed="rId1"/>
          <a:srcRect l="0" r="0" t="0" b="0"/>
          <a:stretch/>
        </p:blipFill>
        <p:spPr>
          <a:xfrm>
            <a:off x="2870200" y="2679700"/>
            <a:ext cx="1562100" cy="101600"/>
          </a:xfrm>
          <a:prstGeom prst="rect">
            <a:avLst/>
          </a:prstGeom>
        </p:spPr>
      </p:pic>
      <p:pic>
        <p:nvPicPr>
          <p:cNvPr id="10" name="Image 1" descr="connector">    </p:cNvPr>
          <p:cNvPicPr>
            <a:picLocks noChangeAspect="1"/>
          </p:cNvPicPr>
          <p:nvPr/>
        </p:nvPicPr>
        <p:blipFill>
          <a:blip r:embed="rId2"/>
          <a:srcRect l="0" r="0" t="0" b="0"/>
          <a:stretch/>
        </p:blipFill>
        <p:spPr>
          <a:xfrm>
            <a:off x="5092700" y="2679700"/>
            <a:ext cx="1562100" cy="101600"/>
          </a:xfrm>
          <a:prstGeom prst="rect">
            <a:avLst/>
          </a:prstGeom>
        </p:spPr>
      </p:pic>
      <p:pic>
        <p:nvPicPr>
          <p:cNvPr id="11" name="Image 2" descr="connector">    </p:cNvPr>
          <p:cNvPicPr>
            <a:picLocks noChangeAspect="1"/>
          </p:cNvPicPr>
          <p:nvPr/>
        </p:nvPicPr>
        <p:blipFill>
          <a:blip r:embed="rId3"/>
          <a:srcRect l="0" r="0" t="0" b="0"/>
          <a:stretch/>
        </p:blipFill>
        <p:spPr>
          <a:xfrm>
            <a:off x="7124700" y="2679700"/>
            <a:ext cx="1752600" cy="101600"/>
          </a:xfrm>
          <a:prstGeom prst="rect">
            <a:avLst/>
          </a:prstGeom>
        </p:spPr>
      </p:pic>
      <p:sp>
        <p:nvSpPr>
          <p:cNvPr id="12" name="Text 7"/>
          <p:cNvSpPr/>
          <p:nvPr/>
        </p:nvSpPr>
        <p:spPr>
          <a:xfrm>
            <a:off x="2895600" y="2286000"/>
            <a:ext cx="1511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ConvT 7×7</a:t>
            </a:r>
            <a:endParaRPr lang="en-US" sz="1200" dirty="0"/>
          </a:p>
        </p:txBody>
      </p:sp>
      <p:sp>
        <p:nvSpPr>
          <p:cNvPr id="13" name="Text 8"/>
          <p:cNvSpPr/>
          <p:nvPr/>
        </p:nvSpPr>
        <p:spPr>
          <a:xfrm>
            <a:off x="5118100" y="2286000"/>
            <a:ext cx="1511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ConvT ×2</a:t>
            </a:r>
            <a:endParaRPr lang="en-US" sz="1200" dirty="0"/>
          </a:p>
        </p:txBody>
      </p:sp>
      <p:sp>
        <p:nvSpPr>
          <p:cNvPr id="14" name="Text 9"/>
          <p:cNvSpPr/>
          <p:nvPr/>
        </p:nvSpPr>
        <p:spPr>
          <a:xfrm>
            <a:off x="7150100" y="228600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ConvT ×2, Tanh</a:t>
            </a:r>
            <a:endParaRPr lang="en-US" sz="1200" dirty="0"/>
          </a:p>
        </p:txBody>
      </p:sp>
      <p:sp>
        <p:nvSpPr>
          <p:cNvPr id="15" name="Text 10"/>
          <p:cNvSpPr/>
          <p:nvPr/>
        </p:nvSpPr>
        <p:spPr>
          <a:xfrm>
            <a:off x="9118600" y="2603500"/>
            <a:ext cx="939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3EC"/>
                </a:solidFill>
                <a:latin typeface="IBM Plex Sans" pitchFamily="34" charset="0"/>
                <a:ea typeface="IBM Plex Sans" pitchFamily="34" charset="-122"/>
                <a:cs typeface="IBM Plex Sans" pitchFamily="34" charset="-120"/>
              </a:rPr>
              <a:t>image</a:t>
            </a:r>
            <a:endParaRPr lang="en-US" sz="1200" dirty="0"/>
          </a:p>
        </p:txBody>
      </p:sp>
      <p:sp>
        <p:nvSpPr>
          <p:cNvPr id="16" name="Text 11"/>
          <p:cNvSpPr/>
          <p:nvPr/>
        </p:nvSpPr>
        <p:spPr>
          <a:xfrm>
            <a:off x="2133600" y="3505200"/>
            <a:ext cx="1130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7"/>
                </a:solidFill>
                <a:latin typeface="JetBrains Mono" pitchFamily="49" charset="0"/>
                <a:ea typeface="JetBrains Mono" pitchFamily="49" charset="-122"/>
                <a:cs typeface="JetBrains Mono" pitchFamily="49" charset="-120"/>
              </a:rPr>
              <a:t>z 100×1×1</a:t>
            </a:r>
            <a:endParaRPr lang="en-US" sz="1200" dirty="0"/>
          </a:p>
        </p:txBody>
      </p:sp>
      <p:sp>
        <p:nvSpPr>
          <p:cNvPr id="17" name="Text 12"/>
          <p:cNvSpPr/>
          <p:nvPr/>
        </p:nvSpPr>
        <p:spPr>
          <a:xfrm>
            <a:off x="4102100" y="350520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7"/>
                </a:solidFill>
                <a:latin typeface="JetBrains Mono" pitchFamily="49" charset="0"/>
                <a:ea typeface="JetBrains Mono" pitchFamily="49" charset="-122"/>
                <a:cs typeface="JetBrains Mono" pitchFamily="49" charset="-120"/>
              </a:rPr>
              <a:t>128×7×7</a:t>
            </a:r>
            <a:endParaRPr lang="en-US" sz="1200" dirty="0"/>
          </a:p>
        </p:txBody>
      </p:sp>
      <p:sp>
        <p:nvSpPr>
          <p:cNvPr id="18" name="Text 13"/>
          <p:cNvSpPr/>
          <p:nvPr/>
        </p:nvSpPr>
        <p:spPr>
          <a:xfrm>
            <a:off x="6165850" y="3505200"/>
            <a:ext cx="1447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7"/>
                </a:solidFill>
                <a:latin typeface="JetBrains Mono" pitchFamily="49" charset="0"/>
                <a:ea typeface="JetBrains Mono" pitchFamily="49" charset="-122"/>
                <a:cs typeface="JetBrains Mono" pitchFamily="49" charset="-120"/>
              </a:rPr>
              <a:t>64×14×14</a:t>
            </a:r>
            <a:endParaRPr lang="en-US" sz="1200" dirty="0"/>
          </a:p>
        </p:txBody>
      </p:sp>
      <p:sp>
        <p:nvSpPr>
          <p:cNvPr id="19" name="Text 14"/>
          <p:cNvSpPr/>
          <p:nvPr/>
        </p:nvSpPr>
        <p:spPr>
          <a:xfrm>
            <a:off x="8864600" y="3505200"/>
            <a:ext cx="1447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7"/>
                </a:solidFill>
                <a:latin typeface="JetBrains Mono" pitchFamily="49" charset="0"/>
                <a:ea typeface="JetBrains Mono" pitchFamily="49" charset="-122"/>
                <a:cs typeface="JetBrains Mono" pitchFamily="49" charset="-120"/>
              </a:rPr>
              <a:t>1×28×28</a:t>
            </a:r>
            <a:endParaRPr lang="en-US" sz="1200" dirty="0"/>
          </a:p>
        </p:txBody>
      </p:sp>
      <p:sp>
        <p:nvSpPr>
          <p:cNvPr id="20" name="Text 15"/>
          <p:cNvSpPr/>
          <p:nvPr/>
        </p:nvSpPr>
        <p:spPr>
          <a:xfrm>
            <a:off x="812800" y="4572000"/>
            <a:ext cx="1511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24E17"/>
                </a:solidFill>
                <a:latin typeface="Space Grotesk" pitchFamily="34" charset="0"/>
                <a:ea typeface="Space Grotesk" pitchFamily="34" charset="-122"/>
                <a:cs typeface="Space Grotesk" pitchFamily="34" charset="-120"/>
              </a:rPr>
              <a:t>D</a:t>
            </a:r>
            <a:endParaRPr lang="en-US" sz="2200" dirty="0"/>
          </a:p>
        </p:txBody>
      </p:sp>
      <p:sp>
        <p:nvSpPr>
          <p:cNvPr id="21" name="Shape 16"/>
          <p:cNvSpPr/>
          <p:nvPr/>
        </p:nvSpPr>
        <p:spPr>
          <a:xfrm>
            <a:off x="2540000" y="4064000"/>
            <a:ext cx="1397000" cy="1397000"/>
          </a:xfrm>
          <a:prstGeom prst="roundRect">
            <a:avLst>
              <a:gd name="adj" fmla="val 2727"/>
            </a:avLst>
          </a:prstGeom>
          <a:solidFill>
            <a:srgbClr val="14213D"/>
          </a:solidFill>
          <a:ln/>
        </p:spPr>
      </p:sp>
      <p:sp>
        <p:nvSpPr>
          <p:cNvPr id="22" name="Shape 17"/>
          <p:cNvSpPr/>
          <p:nvPr/>
        </p:nvSpPr>
        <p:spPr>
          <a:xfrm>
            <a:off x="5524500" y="4318000"/>
            <a:ext cx="444500" cy="889000"/>
          </a:xfrm>
          <a:prstGeom prst="roundRect">
            <a:avLst>
              <a:gd name="adj" fmla="val 8571"/>
            </a:avLst>
          </a:prstGeom>
          <a:solidFill>
            <a:srgbClr val="B24E17"/>
          </a:solidFill>
          <a:ln/>
        </p:spPr>
      </p:sp>
      <p:sp>
        <p:nvSpPr>
          <p:cNvPr id="23" name="Shape 18"/>
          <p:cNvSpPr/>
          <p:nvPr/>
        </p:nvSpPr>
        <p:spPr>
          <a:xfrm>
            <a:off x="7556500" y="4508500"/>
            <a:ext cx="635000" cy="508000"/>
          </a:xfrm>
          <a:prstGeom prst="roundRect">
            <a:avLst>
              <a:gd name="adj" fmla="val 7500"/>
            </a:avLst>
          </a:prstGeom>
          <a:solidFill>
            <a:srgbClr val="B24E17"/>
          </a:solidFill>
          <a:ln/>
        </p:spPr>
      </p:sp>
      <p:sp>
        <p:nvSpPr>
          <p:cNvPr id="24" name="Shape 19"/>
          <p:cNvSpPr/>
          <p:nvPr/>
        </p:nvSpPr>
        <p:spPr>
          <a:xfrm>
            <a:off x="9906000" y="4635500"/>
            <a:ext cx="254000" cy="254000"/>
          </a:xfrm>
          <a:prstGeom prst="roundRect">
            <a:avLst>
              <a:gd name="adj" fmla="val 50000"/>
            </a:avLst>
          </a:prstGeom>
          <a:solidFill>
            <a:srgbClr val="B24E17"/>
          </a:solidFill>
          <a:ln/>
        </p:spPr>
      </p:sp>
      <p:pic>
        <p:nvPicPr>
          <p:cNvPr id="25" name="Image 3" descr="connector">    </p:cNvPr>
          <p:cNvPicPr>
            <a:picLocks noChangeAspect="1"/>
          </p:cNvPicPr>
          <p:nvPr/>
        </p:nvPicPr>
        <p:blipFill>
          <a:blip r:embed="rId4"/>
          <a:srcRect l="0" r="0" t="0" b="0"/>
          <a:stretch/>
        </p:blipFill>
        <p:spPr>
          <a:xfrm>
            <a:off x="3949700" y="4711700"/>
            <a:ext cx="1562100" cy="101600"/>
          </a:xfrm>
          <a:prstGeom prst="rect">
            <a:avLst/>
          </a:prstGeom>
        </p:spPr>
      </p:pic>
      <p:pic>
        <p:nvPicPr>
          <p:cNvPr id="26" name="Image 4" descr="connector">    </p:cNvPr>
          <p:cNvPicPr>
            <a:picLocks noChangeAspect="1"/>
          </p:cNvPicPr>
          <p:nvPr/>
        </p:nvPicPr>
        <p:blipFill>
          <a:blip r:embed="rId5"/>
          <a:srcRect l="0" r="0" t="0" b="0"/>
          <a:stretch/>
        </p:blipFill>
        <p:spPr>
          <a:xfrm>
            <a:off x="5981700" y="4711700"/>
            <a:ext cx="1562100" cy="101600"/>
          </a:xfrm>
          <a:prstGeom prst="rect">
            <a:avLst/>
          </a:prstGeom>
        </p:spPr>
      </p:pic>
      <p:pic>
        <p:nvPicPr>
          <p:cNvPr id="27" name="Image 5" descr="connector">    </p:cNvPr>
          <p:cNvPicPr>
            <a:picLocks noChangeAspect="1"/>
          </p:cNvPicPr>
          <p:nvPr/>
        </p:nvPicPr>
        <p:blipFill>
          <a:blip r:embed="rId6"/>
          <a:srcRect l="0" r="0" t="0" b="0"/>
          <a:stretch/>
        </p:blipFill>
        <p:spPr>
          <a:xfrm>
            <a:off x="8204200" y="4711700"/>
            <a:ext cx="1689100" cy="101600"/>
          </a:xfrm>
          <a:prstGeom prst="rect">
            <a:avLst/>
          </a:prstGeom>
        </p:spPr>
      </p:pic>
      <p:sp>
        <p:nvSpPr>
          <p:cNvPr id="28" name="Text 20"/>
          <p:cNvSpPr/>
          <p:nvPr/>
        </p:nvSpPr>
        <p:spPr>
          <a:xfrm>
            <a:off x="2768600" y="4635500"/>
            <a:ext cx="939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3EC"/>
                </a:solidFill>
                <a:latin typeface="IBM Plex Sans" pitchFamily="34" charset="0"/>
                <a:ea typeface="IBM Plex Sans" pitchFamily="34" charset="-122"/>
                <a:cs typeface="IBM Plex Sans" pitchFamily="34" charset="-120"/>
              </a:rPr>
              <a:t>image</a:t>
            </a:r>
            <a:endParaRPr lang="en-US" sz="1200" dirty="0"/>
          </a:p>
        </p:txBody>
      </p:sp>
      <p:sp>
        <p:nvSpPr>
          <p:cNvPr id="29" name="Text 21"/>
          <p:cNvSpPr/>
          <p:nvPr/>
        </p:nvSpPr>
        <p:spPr>
          <a:xfrm>
            <a:off x="3975100" y="4318000"/>
            <a:ext cx="1511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Conv ÷2</a:t>
            </a:r>
            <a:endParaRPr lang="en-US" sz="1200" dirty="0"/>
          </a:p>
        </p:txBody>
      </p:sp>
      <p:sp>
        <p:nvSpPr>
          <p:cNvPr id="30" name="Text 22"/>
          <p:cNvSpPr/>
          <p:nvPr/>
        </p:nvSpPr>
        <p:spPr>
          <a:xfrm>
            <a:off x="6007100" y="4318000"/>
            <a:ext cx="1511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Conv ÷2, BN</a:t>
            </a:r>
            <a:endParaRPr lang="en-US" sz="1200" dirty="0"/>
          </a:p>
        </p:txBody>
      </p:sp>
      <p:sp>
        <p:nvSpPr>
          <p:cNvPr id="31" name="Text 23"/>
          <p:cNvSpPr/>
          <p:nvPr/>
        </p:nvSpPr>
        <p:spPr>
          <a:xfrm>
            <a:off x="8229600" y="4318000"/>
            <a:ext cx="1638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Conv 7×7</a:t>
            </a:r>
            <a:endParaRPr lang="en-US" sz="1200" dirty="0"/>
          </a:p>
        </p:txBody>
      </p:sp>
      <p:sp>
        <p:nvSpPr>
          <p:cNvPr id="32" name="Text 24"/>
          <p:cNvSpPr/>
          <p:nvPr/>
        </p:nvSpPr>
        <p:spPr>
          <a:xfrm>
            <a:off x="5054600" y="5524500"/>
            <a:ext cx="1384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7"/>
                </a:solidFill>
                <a:latin typeface="JetBrains Mono" pitchFamily="49" charset="0"/>
                <a:ea typeface="JetBrains Mono" pitchFamily="49" charset="-122"/>
                <a:cs typeface="JetBrains Mono" pitchFamily="49" charset="-120"/>
              </a:rPr>
              <a:t>64×14×14</a:t>
            </a:r>
            <a:endParaRPr lang="en-US" sz="1200" dirty="0"/>
          </a:p>
        </p:txBody>
      </p:sp>
      <p:sp>
        <p:nvSpPr>
          <p:cNvPr id="33" name="Text 25"/>
          <p:cNvSpPr/>
          <p:nvPr/>
        </p:nvSpPr>
        <p:spPr>
          <a:xfrm>
            <a:off x="7213600" y="552450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7"/>
                </a:solidFill>
                <a:latin typeface="JetBrains Mono" pitchFamily="49" charset="0"/>
                <a:ea typeface="JetBrains Mono" pitchFamily="49" charset="-122"/>
                <a:cs typeface="JetBrains Mono" pitchFamily="49" charset="-120"/>
              </a:rPr>
              <a:t>128×7×7</a:t>
            </a:r>
            <a:endParaRPr lang="en-US" sz="1200" dirty="0"/>
          </a:p>
        </p:txBody>
      </p:sp>
      <p:sp>
        <p:nvSpPr>
          <p:cNvPr id="34" name="Text 26"/>
          <p:cNvSpPr/>
          <p:nvPr/>
        </p:nvSpPr>
        <p:spPr>
          <a:xfrm>
            <a:off x="9245600" y="5524500"/>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7"/>
                </a:solidFill>
                <a:latin typeface="JetBrains Mono" pitchFamily="49" charset="0"/>
                <a:ea typeface="JetBrains Mono" pitchFamily="49" charset="-122"/>
                <a:cs typeface="JetBrains Mono" pitchFamily="49" charset="-120"/>
              </a:rPr>
              <a:t>1 score</a:t>
            </a:r>
            <a:endParaRPr lang="en-US" sz="1200" dirty="0"/>
          </a:p>
        </p:txBody>
      </p:sp>
      <p:sp>
        <p:nvSpPr>
          <p:cNvPr id="35" name="Text 2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03 DCGAN · min 47–52 · box height = image size, box width ≈ number of channels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THE DCGAN RECIPE · RADFORD, METZ AND CHINTALA 2015</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Seven rules, and the problem each one solves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7200"/>
          <a:ext cx="10553700" cy="2874566"/>
        </p:xfrm>
        <a:graphic>
          <a:graphicData uri="http://schemas.openxmlformats.org/drawingml/2006/table">
            <a:tbl>
              <a:tblPr/>
              <a:tblGrid>
                <a:gridCol w="3799332"/>
                <a:gridCol w="6754368"/>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Why it helps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Strided convs, no pooling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The network learns how to shrink and grow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BatchNorm in G and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Stable activations; helps stop G collapsing to one output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 BN on G output, D input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BN on every layer made samples oscillate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ReLU in G, Tanh output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Output in [−1, 1], the range of our images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LeakyReLU(0.2) in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Gradients still flow for negative inputs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Adam 0.0002, β1 = 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Less momentum in a moving game (Class 2 &amp; 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Weights from N(0, 0.02)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 small, standard starting point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03 DCGAN · min 52–55 · also: no fully connected hidden layers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REAL RUN FROM TODAY'S NOTEBOOK · PART 3 · 2 EPOCHS EACH</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Same data, same epochs: clean strokes on black</a:t>
            </a:r>
            <a:endParaRPr lang="en-US" sz="3200" dirty="0"/>
          </a:p>
        </p:txBody>
      </p:sp>
      <p:sp>
        <p:nvSpPr>
          <p:cNvPr id="4" name="Shape 2"/>
          <p:cNvSpPr/>
          <p:nvPr/>
        </p:nvSpPr>
        <p:spPr>
          <a:xfrm>
            <a:off x="819150" y="1720850"/>
            <a:ext cx="10553700" cy="1574800"/>
          </a:xfrm>
          <a:prstGeom prst="roundRect">
            <a:avLst>
              <a:gd name="adj" fmla="val 6048"/>
            </a:avLst>
          </a:prstGeom>
          <a:solidFill>
            <a:srgbClr val="FFFDF8"/>
          </a:solidFill>
          <a:ln w="12700">
            <a:solidFill>
              <a:srgbClr val="E4DED0"/>
            </a:solidFill>
            <a:prstDash val="solid"/>
          </a:ln>
        </p:spPr>
      </p:sp>
      <p:pic>
        <p:nvPicPr>
          <p:cNvPr id="5" name="Image 0" descr="Two rows of 16 samples. Top, fully connected GAN: grey speckled blurry digits. Bottom, DCGAN: white strokes on clean black backgrounds, many readable digits, some malformed">    </p:cNvPr>
          <p:cNvPicPr>
            <a:picLocks noChangeAspect="1"/>
          </p:cNvPicPr>
          <p:nvPr/>
        </p:nvPicPr>
        <p:blipFill>
          <a:blip r:embed="rId1"/>
          <a:srcRect l="0" r="0" t="-2946" b="-2946"/>
          <a:stretch/>
        </p:blipFill>
        <p:spPr>
          <a:xfrm>
            <a:off x="939800" y="1790700"/>
            <a:ext cx="10312400" cy="1435100"/>
          </a:xfrm>
          <a:prstGeom prst="rect">
            <a:avLst/>
          </a:prstGeom>
        </p:spPr>
      </p:pic>
      <p:sp>
        <p:nvSpPr>
          <p:cNvPr id="6" name="Shape 3"/>
          <p:cNvSpPr/>
          <p:nvPr/>
        </p:nvSpPr>
        <p:spPr>
          <a:xfrm>
            <a:off x="812800" y="3556000"/>
            <a:ext cx="3302000" cy="2286000"/>
          </a:xfrm>
          <a:prstGeom prst="roundRect">
            <a:avLst>
              <a:gd name="adj" fmla="val 4444"/>
            </a:avLst>
          </a:prstGeom>
          <a:solidFill>
            <a:srgbClr val="FFFDF8"/>
          </a:solidFill>
          <a:ln/>
          <a:effectLst>
            <a:outerShdw sx="100000" sy="100000" kx="0" ky="0" algn="bl" rotWithShape="0" blurRad="12700" dist="0" dir="60000">
              <a:srgbClr val="E4DED0">
                <a:alpha val="100000"/>
              </a:srgbClr>
            </a:outerShdw>
          </a:effectLst>
        </p:spPr>
      </p:sp>
      <p:sp>
        <p:nvSpPr>
          <p:cNvPr id="7" name="Shape 4"/>
          <p:cNvSpPr/>
          <p:nvPr/>
        </p:nvSpPr>
        <p:spPr>
          <a:xfrm>
            <a:off x="812800" y="3556000"/>
            <a:ext cx="3302000" cy="2286000"/>
          </a:xfrm>
          <a:custGeom>
            <a:avLst/>
            <a:gdLst/>
            <a:ahLst/>
            <a:cxnLst/>
            <a:rect l="l" t="t" r="r" b="b"/>
            <a:pathLst>
              <a:path w="3302000" h="2286000">
                <a:moveTo>
                  <a:pt x="0" y="101600"/>
                </a:moveTo>
                <a:lnTo>
                  <a:pt x="0" y="101600"/>
                </a:lnTo>
                <a:arcTo hR="101600" wR="101600" stAng="10800000" swAng="5400000"/>
                <a:lnTo>
                  <a:pt x="3200400" y="0"/>
                </a:lnTo>
                <a:arcTo hR="101600" wR="101600" stAng="16200000" swAng="5400000"/>
                <a:lnTo>
                  <a:pt x="3302000" y="101600"/>
                </a:lnTo>
                <a:arcTo hR="38100" wR="101600" stAng="0" swAng="-5400000"/>
                <a:lnTo>
                  <a:pt x="101600" y="63500"/>
                </a:lnTo>
                <a:arcTo hR="38100" wR="101600" stAng="16200000" swAng="-5400000"/>
                <a:close/>
              </a:path>
            </a:pathLst>
          </a:custGeom>
          <a:solidFill>
            <a:srgbClr val="2563A8"/>
          </a:solidFill>
          <a:ln/>
        </p:spPr>
      </p:sp>
      <p:sp>
        <p:nvSpPr>
          <p:cNvPr id="8" name="Text 5"/>
          <p:cNvSpPr/>
          <p:nvPr/>
        </p:nvSpPr>
        <p:spPr>
          <a:xfrm>
            <a:off x="1047750" y="3733800"/>
            <a:ext cx="29432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Better</a:t>
            </a:r>
            <a:endParaRPr lang="en-US" sz="1600" dirty="0"/>
          </a:p>
        </p:txBody>
      </p:sp>
      <p:sp>
        <p:nvSpPr>
          <p:cNvPr id="9" name="Text 6"/>
          <p:cNvSpPr/>
          <p:nvPr/>
        </p:nvSpPr>
        <p:spPr>
          <a:xfrm>
            <a:off x="1047750" y="4095750"/>
            <a:ext cx="29432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Black backgrounds, solid connected strokes. No speckle.</a:t>
            </a:r>
            <a:endParaRPr lang="en-US" sz="1400" dirty="0"/>
          </a:p>
        </p:txBody>
      </p:sp>
      <p:sp>
        <p:nvSpPr>
          <p:cNvPr id="10" name="Shape 7"/>
          <p:cNvSpPr/>
          <p:nvPr/>
        </p:nvSpPr>
        <p:spPr>
          <a:xfrm>
            <a:off x="4445000" y="3556000"/>
            <a:ext cx="3302000" cy="2286000"/>
          </a:xfrm>
          <a:prstGeom prst="roundRect">
            <a:avLst>
              <a:gd name="adj" fmla="val 4444"/>
            </a:avLst>
          </a:prstGeom>
          <a:solidFill>
            <a:srgbClr val="FFFDF8"/>
          </a:solidFill>
          <a:ln/>
          <a:effectLst>
            <a:outerShdw sx="100000" sy="100000" kx="0" ky="0" algn="bl" rotWithShape="0" blurRad="12700" dist="0" dir="60000">
              <a:srgbClr val="E4DED0">
                <a:alpha val="100000"/>
              </a:srgbClr>
            </a:outerShdw>
          </a:effectLst>
        </p:spPr>
      </p:sp>
      <p:sp>
        <p:nvSpPr>
          <p:cNvPr id="11" name="Shape 8"/>
          <p:cNvSpPr/>
          <p:nvPr/>
        </p:nvSpPr>
        <p:spPr>
          <a:xfrm>
            <a:off x="4445000" y="3556000"/>
            <a:ext cx="3302000" cy="2286000"/>
          </a:xfrm>
          <a:custGeom>
            <a:avLst/>
            <a:gdLst/>
            <a:ahLst/>
            <a:cxnLst/>
            <a:rect l="l" t="t" r="r" b="b"/>
            <a:pathLst>
              <a:path w="3302000" h="2286000">
                <a:moveTo>
                  <a:pt x="0" y="101600"/>
                </a:moveTo>
                <a:lnTo>
                  <a:pt x="0" y="101600"/>
                </a:lnTo>
                <a:arcTo hR="101600" wR="101600" stAng="10800000" swAng="5400000"/>
                <a:lnTo>
                  <a:pt x="3200400" y="0"/>
                </a:lnTo>
                <a:arcTo hR="101600" wR="101600" stAng="16200000" swAng="5400000"/>
                <a:lnTo>
                  <a:pt x="3302000" y="101600"/>
                </a:lnTo>
                <a:arcTo hR="38100" wR="101600" stAng="0" swAng="-5400000"/>
                <a:lnTo>
                  <a:pt x="101600" y="63500"/>
                </a:lnTo>
                <a:arcTo hR="38100" wR="101600" stAng="16200000" swAng="-5400000"/>
                <a:close/>
              </a:path>
            </a:pathLst>
          </a:custGeom>
          <a:solidFill>
            <a:srgbClr val="B24E17"/>
          </a:solidFill>
          <a:ln/>
        </p:spPr>
      </p:sp>
      <p:sp>
        <p:nvSpPr>
          <p:cNvPr id="12" name="Text 9"/>
          <p:cNvSpPr/>
          <p:nvPr/>
        </p:nvSpPr>
        <p:spPr>
          <a:xfrm>
            <a:off x="4679950" y="3733800"/>
            <a:ext cx="29432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Not yet good</a:t>
            </a:r>
            <a:endParaRPr lang="en-US" sz="1600" dirty="0"/>
          </a:p>
        </p:txBody>
      </p:sp>
      <p:sp>
        <p:nvSpPr>
          <p:cNvPr id="13" name="Text 10"/>
          <p:cNvSpPr/>
          <p:nvPr/>
        </p:nvSpPr>
        <p:spPr>
          <a:xfrm>
            <a:off x="4679950" y="4095750"/>
            <a:ext cx="294322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Some shapes are malformed. 2 epochs is a few minutes; real runs train 25+.</a:t>
            </a:r>
            <a:endParaRPr lang="en-US" sz="1400" dirty="0"/>
          </a:p>
        </p:txBody>
      </p:sp>
      <p:sp>
        <p:nvSpPr>
          <p:cNvPr id="14" name="Shape 11"/>
          <p:cNvSpPr/>
          <p:nvPr/>
        </p:nvSpPr>
        <p:spPr>
          <a:xfrm>
            <a:off x="8077200" y="3556000"/>
            <a:ext cx="3302000" cy="2286000"/>
          </a:xfrm>
          <a:prstGeom prst="roundRect">
            <a:avLst>
              <a:gd name="adj" fmla="val 4444"/>
            </a:avLst>
          </a:prstGeom>
          <a:solidFill>
            <a:srgbClr val="14213D"/>
          </a:solidFill>
          <a:ln/>
        </p:spPr>
      </p:sp>
      <p:sp>
        <p:nvSpPr>
          <p:cNvPr id="15" name="Text 12"/>
          <p:cNvSpPr/>
          <p:nvPr/>
        </p:nvSpPr>
        <p:spPr>
          <a:xfrm>
            <a:off x="8312150" y="3733800"/>
            <a:ext cx="29432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9B949"/>
                </a:solidFill>
                <a:latin typeface="Space Grotesk" pitchFamily="34" charset="0"/>
                <a:ea typeface="Space Grotesk" pitchFamily="34" charset="-122"/>
                <a:cs typeface="Space Grotesk" pitchFamily="34" charset="-120"/>
              </a:rPr>
              <a:t>Lesson</a:t>
            </a:r>
            <a:endParaRPr lang="en-US" sz="1600" dirty="0"/>
          </a:p>
        </p:txBody>
      </p:sp>
      <p:sp>
        <p:nvSpPr>
          <p:cNvPr id="16" name="Text 13"/>
          <p:cNvSpPr/>
          <p:nvPr/>
        </p:nvSpPr>
        <p:spPr>
          <a:xfrm>
            <a:off x="8312150" y="4095750"/>
            <a:ext cx="294322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The architecture changed </a:t>
            </a:r>
            <a:r>
              <a:rPr lang="en-US" sz="1400" b="1" dirty="0">
                <a:solidFill>
                  <a:srgbClr val="F6F3EC"/>
                </a:solidFill>
                <a:latin typeface="IBM Plex Sans" pitchFamily="34" charset="0"/>
                <a:ea typeface="IBM Plex Sans" pitchFamily="34" charset="-122"/>
                <a:cs typeface="IBM Plex Sans" pitchFamily="34" charset="-120"/>
              </a:rPr>
              <a:t>what kind</a:t>
            </a:r>
            <a:r>
              <a:rPr lang="en-US" sz="1400" dirty="0">
                <a:solidFill>
                  <a:srgbClr val="F6F3EC"/>
                </a:solidFill>
                <a:latin typeface="IBM Plex Sans" pitchFamily="34" charset="0"/>
                <a:ea typeface="IBM Plex Sans" pitchFamily="34" charset="-122"/>
                <a:cs typeface="IBM Plex Sans" pitchFamily="34" charset="-120"/>
              </a:rPr>
              <a:t> of mistakes G makes. Undertrained, not broken.</a:t>
            </a:r>
            <a:endParaRPr lang="en-US" sz="1400" dirty="0"/>
          </a:p>
        </p:txBody>
      </p:sp>
      <p:sp>
        <p:nvSpPr>
          <p:cNvPr id="17" name="Text 1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03 DCGAN · min 55–57 · top: fully connected (Class 1) · bottom: DCGAN · same 16 fixed noise vectors, seed 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THE CLASS 2 &amp; 3 TOOLS ON THE DCGAN RUN</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More even variety, and a confident D that still teaches</a:t>
            </a:r>
            <a:endParaRPr lang="en-US" sz="3200" dirty="0"/>
          </a:p>
        </p:txBody>
      </p:sp>
      <p:sp>
        <p:nvSpPr>
          <p:cNvPr id="4" name="Shape 2"/>
          <p:cNvSpPr/>
          <p:nvPr/>
        </p:nvSpPr>
        <p:spPr>
          <a:xfrm>
            <a:off x="812800" y="1778000"/>
            <a:ext cx="3365500" cy="25400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1778000"/>
            <a:ext cx="3365500" cy="2540000"/>
          </a:xfrm>
          <a:custGeom>
            <a:avLst/>
            <a:gdLst/>
            <a:ahLst/>
            <a:cxnLst/>
            <a:rect l="l" t="t" r="r" b="b"/>
            <a:pathLst>
              <a:path w="3365500" h="2540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6B7280"/>
          </a:solidFill>
          <a:ln/>
        </p:spPr>
      </p:sp>
      <p:sp>
        <p:nvSpPr>
          <p:cNvPr id="6" name="Text 4"/>
          <p:cNvSpPr/>
          <p:nvPr/>
        </p:nvSpPr>
        <p:spPr>
          <a:xfrm>
            <a:off x="984250" y="18923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Fully connected · digit counts</a:t>
            </a:r>
            <a:endParaRPr lang="en-US" sz="1200" dirty="0"/>
          </a:p>
        </p:txBody>
      </p:sp>
      <p:pic>
        <p:nvPicPr>
          <p:cNvPr id="7" name="Image 0" descr="Histogram of 1,000 fully connected GAN samples: 362 eights, 225 threes, zero sixes">    </p:cNvPr>
          <p:cNvPicPr>
            <a:picLocks noChangeAspect="1"/>
          </p:cNvPicPr>
          <p:nvPr/>
        </p:nvPicPr>
        <p:blipFill>
          <a:blip r:embed="rId1"/>
          <a:srcRect l="0" r="0" t="-7568" b="-7568"/>
          <a:stretch/>
        </p:blipFill>
        <p:spPr>
          <a:xfrm>
            <a:off x="939800" y="2159000"/>
            <a:ext cx="3111500" cy="2032000"/>
          </a:xfrm>
          <a:prstGeom prst="rect">
            <a:avLst/>
          </a:prstGeom>
        </p:spPr>
      </p:pic>
      <p:sp>
        <p:nvSpPr>
          <p:cNvPr id="8" name="Shape 5"/>
          <p:cNvSpPr/>
          <p:nvPr/>
        </p:nvSpPr>
        <p:spPr>
          <a:xfrm>
            <a:off x="4413250" y="1778000"/>
            <a:ext cx="3365500" cy="25400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9" name="Shape 6"/>
          <p:cNvSpPr/>
          <p:nvPr/>
        </p:nvSpPr>
        <p:spPr>
          <a:xfrm>
            <a:off x="4413250" y="1778000"/>
            <a:ext cx="3365500" cy="2540000"/>
          </a:xfrm>
          <a:custGeom>
            <a:avLst/>
            <a:gdLst/>
            <a:ahLst/>
            <a:cxnLst/>
            <a:rect l="l" t="t" r="r" b="b"/>
            <a:pathLst>
              <a:path w="3365500" h="2540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2563A8"/>
          </a:solidFill>
          <a:ln/>
        </p:spPr>
      </p:sp>
      <p:sp>
        <p:nvSpPr>
          <p:cNvPr id="10" name="Text 7"/>
          <p:cNvSpPr/>
          <p:nvPr/>
        </p:nvSpPr>
        <p:spPr>
          <a:xfrm>
            <a:off x="4584700" y="18923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DCGAN · digit counts</a:t>
            </a:r>
            <a:endParaRPr lang="en-US" sz="1200" dirty="0"/>
          </a:p>
        </p:txBody>
      </p:sp>
      <p:pic>
        <p:nvPicPr>
          <p:cNvPr id="11" name="Image 1" descr="Histogram of 1,000 DCGAN samples: all ten digits present, from 12 ones to 215 threes">    </p:cNvPr>
          <p:cNvPicPr>
            <a:picLocks noChangeAspect="1"/>
          </p:cNvPicPr>
          <p:nvPr/>
        </p:nvPicPr>
        <p:blipFill>
          <a:blip r:embed="rId2"/>
          <a:srcRect l="0" r="0" t="-7568" b="-7568"/>
          <a:stretch/>
        </p:blipFill>
        <p:spPr>
          <a:xfrm>
            <a:off x="4540250" y="2159000"/>
            <a:ext cx="3111500" cy="2032000"/>
          </a:xfrm>
          <a:prstGeom prst="rect">
            <a:avLst/>
          </a:prstGeom>
        </p:spPr>
      </p:pic>
      <p:sp>
        <p:nvSpPr>
          <p:cNvPr id="12" name="Shape 8"/>
          <p:cNvSpPr/>
          <p:nvPr/>
        </p:nvSpPr>
        <p:spPr>
          <a:xfrm>
            <a:off x="8013700" y="1778000"/>
            <a:ext cx="3365500" cy="2540000"/>
          </a:xfrm>
          <a:prstGeom prst="roundRect">
            <a:avLst>
              <a:gd name="adj" fmla="val 4000"/>
            </a:avLst>
          </a:prstGeom>
          <a:solidFill>
            <a:srgbClr val="FFFDF8"/>
          </a:solidFill>
          <a:ln/>
          <a:effectLst>
            <a:outerShdw sx="100000" sy="100000" kx="0" ky="0" algn="bl" rotWithShape="0" blurRad="12700" dist="0" dir="60000">
              <a:srgbClr val="E4DED0">
                <a:alpha val="100000"/>
              </a:srgbClr>
            </a:outerShdw>
          </a:effectLst>
        </p:spPr>
      </p:sp>
      <p:sp>
        <p:nvSpPr>
          <p:cNvPr id="13" name="Shape 9"/>
          <p:cNvSpPr/>
          <p:nvPr/>
        </p:nvSpPr>
        <p:spPr>
          <a:xfrm>
            <a:off x="8013700" y="1778000"/>
            <a:ext cx="3365500" cy="2540000"/>
          </a:xfrm>
          <a:custGeom>
            <a:avLst/>
            <a:gdLst/>
            <a:ahLst/>
            <a:cxnLst/>
            <a:rect l="l" t="t" r="r" b="b"/>
            <a:pathLst>
              <a:path w="3365500" h="2540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B24E17"/>
          </a:solidFill>
          <a:ln/>
        </p:spPr>
      </p:sp>
      <p:sp>
        <p:nvSpPr>
          <p:cNvPr id="14" name="Text 10"/>
          <p:cNvSpPr/>
          <p:nvPr/>
        </p:nvSpPr>
        <p:spPr>
          <a:xfrm>
            <a:off x="8185150" y="18923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DCGAN · who is winning?</a:t>
            </a:r>
            <a:endParaRPr lang="en-US" sz="1200" dirty="0"/>
          </a:p>
        </p:txBody>
      </p:sp>
      <p:pic>
        <p:nvPicPr>
          <p:cNvPr id="15" name="Image 2" descr="DCGAN mean D of real images stays near 0.9, mean D of fakes between 0.05 and 0.3">    </p:cNvPr>
          <p:cNvPicPr>
            <a:picLocks noChangeAspect="1"/>
          </p:cNvPicPr>
          <p:nvPr/>
        </p:nvPicPr>
        <p:blipFill>
          <a:blip r:embed="rId3"/>
          <a:srcRect l="0" r="0" t="-7285" b="-7285"/>
          <a:stretch/>
        </p:blipFill>
        <p:spPr>
          <a:xfrm>
            <a:off x="8140700" y="2159000"/>
            <a:ext cx="3111500" cy="203200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4521200"/>
          <a:ext cx="10553700" cy="1077962"/>
        </p:xfrm>
        <a:graphic>
          <a:graphicData uri="http://schemas.openxmlformats.org/drawingml/2006/table">
            <a:tbl>
              <a:tblPr/>
              <a:tblGrid>
                <a:gridCol w="2321814"/>
                <a:gridCol w="2743962"/>
                <a:gridCol w="2743962"/>
                <a:gridCol w="2743962"/>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Evenness (1.0 = equal)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Rarest digit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D(x) / D(G(z))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Fully connected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6: none at all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 0.7 / 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DCGAN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0.93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 12 of 1,000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 0.9 / 0.15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bl>
          </a:graphicData>
        </a:graphic>
      </p:graphicFrame>
      <p:sp>
        <p:nvSpPr>
          <p:cNvPr id="17"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03 DCGAN · min 57–59 · 1,000 samples each, labelled by the notebook's CNN digit counter (98.1% test accuracy)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CHECKPOINT · ON PAPER · 2 MINUTES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Trace the shapes</a:t>
            </a:r>
            <a:endParaRPr lang="en-US" sz="3200" dirty="0"/>
          </a:p>
        </p:txBody>
      </p:sp>
      <p:sp>
        <p:nvSpPr>
          <p:cNvPr id="4" name="Text 2"/>
          <p:cNvSpPr/>
          <p:nvPr/>
        </p:nvSpPr>
        <p:spPr>
          <a:xfrm>
            <a:off x="812800" y="1841500"/>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a:t>
            </a:r>
            <a:r>
              <a:rPr lang="en-US" sz="1600" dirty="0">
                <a:solidFill>
                  <a:srgbClr val="14213D"/>
                </a:solidFill>
                <a:latin typeface="IBM Plex Sans" pitchFamily="34" charset="0"/>
                <a:ea typeface="IBM Plex Sans" pitchFamily="34" charset="-122"/>
                <a:cs typeface="IBM Plex Sans" pitchFamily="34" charset="-120"/>
              </a:rPr>
              <a:t> ConvTranspose2d(k = 4, s = 2, p = 1) on a 16×16 input. Output size?</a:t>
            </a:r>
            <a:endParaRPr lang="en-US" sz="1600" dirty="0"/>
          </a:p>
        </p:txBody>
      </p:sp>
      <p:sp>
        <p:nvSpPr>
          <p:cNvPr id="5" name="Text 3"/>
          <p:cNvSpPr/>
          <p:nvPr/>
        </p:nvSpPr>
        <p:spPr>
          <a:xfrm>
            <a:off x="8001000" y="184150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32×32.</a:t>
            </a:r>
            <a:r>
              <a:rPr lang="en-US" sz="1500" dirty="0">
                <a:solidFill>
                  <a:srgbClr val="2563A8"/>
                </a:solidFill>
                <a:latin typeface="IBM Plex Sans" pitchFamily="34" charset="0"/>
                <a:ea typeface="IBM Plex Sans" pitchFamily="34" charset="-122"/>
                <a:cs typeface="IBM Plex Sans" pitchFamily="34" charset="-120"/>
              </a:rPr>
              <a:t> (16 − 1)·2 − 2 + 4 = 32.</a:t>
            </a:r>
            <a:endParaRPr lang="en-US" sz="1500" dirty="0"/>
          </a:p>
        </p:txBody>
      </p:sp>
      <p:sp>
        <p:nvSpPr>
          <p:cNvPr id="6" name="Text 4"/>
          <p:cNvSpPr/>
          <p:nvPr/>
        </p:nvSpPr>
        <p:spPr>
          <a:xfrm>
            <a:off x="812800" y="2794000"/>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b.</a:t>
            </a:r>
            <a:r>
              <a:rPr lang="en-US" sz="1600" dirty="0">
                <a:solidFill>
                  <a:srgbClr val="14213D"/>
                </a:solidFill>
                <a:latin typeface="IBM Plex Sans" pitchFamily="34" charset="0"/>
                <a:ea typeface="IBM Plex Sans" pitchFamily="34" charset="-122"/>
                <a:cs typeface="IBM Plex Sans" pitchFamily="34" charset="-120"/>
              </a:rPr>
              <a:t> Conv2d(k = 4, s = 2, p = 1) on 64×64, three times. Output size?</a:t>
            </a:r>
            <a:endParaRPr lang="en-US" sz="1600" dirty="0"/>
          </a:p>
        </p:txBody>
      </p:sp>
      <p:sp>
        <p:nvSpPr>
          <p:cNvPr id="7" name="Text 5"/>
          <p:cNvSpPr/>
          <p:nvPr/>
        </p:nvSpPr>
        <p:spPr>
          <a:xfrm>
            <a:off x="8001000" y="279400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8×8.</a:t>
            </a:r>
            <a:r>
              <a:rPr lang="en-US" sz="1500" dirty="0">
                <a:solidFill>
                  <a:srgbClr val="2563A8"/>
                </a:solidFill>
                <a:latin typeface="IBM Plex Sans" pitchFamily="34" charset="0"/>
                <a:ea typeface="IBM Plex Sans" pitchFamily="34" charset="-122"/>
                <a:cs typeface="IBM Plex Sans" pitchFamily="34" charset="-120"/>
              </a:rPr>
              <a:t> 64 → 32 → 16 → 8.</a:t>
            </a:r>
            <a:endParaRPr lang="en-US" sz="1500" dirty="0"/>
          </a:p>
        </p:txBody>
      </p:sp>
      <p:sp>
        <p:nvSpPr>
          <p:cNvPr id="8" name="Text 6"/>
          <p:cNvSpPr/>
          <p:nvPr/>
        </p:nvSpPr>
        <p:spPr>
          <a:xfrm>
            <a:off x="812800" y="3746500"/>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a:t>
            </a:r>
            <a:r>
              <a:rPr lang="en-US" sz="1600" dirty="0">
                <a:solidFill>
                  <a:srgbClr val="14213D"/>
                </a:solidFill>
                <a:latin typeface="IBM Plex Sans" pitchFamily="34" charset="0"/>
                <a:ea typeface="IBM Plex Sans" pitchFamily="34" charset="-122"/>
                <a:cs typeface="IBM Plex Sans" pitchFamily="34" charset="-120"/>
              </a:rPr>
              <a:t> Why is there no BatchNorm on G's last layer?</a:t>
            </a:r>
            <a:endParaRPr lang="en-US" sz="1600" dirty="0"/>
          </a:p>
        </p:txBody>
      </p:sp>
      <p:sp>
        <p:nvSpPr>
          <p:cNvPr id="9" name="Text 7"/>
          <p:cNvSpPr/>
          <p:nvPr/>
        </p:nvSpPr>
        <p:spPr>
          <a:xfrm>
            <a:off x="8001000" y="374650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563A8"/>
                </a:solidFill>
                <a:latin typeface="IBM Plex Sans" pitchFamily="34" charset="0"/>
                <a:ea typeface="IBM Plex Sans" pitchFamily="34" charset="-122"/>
                <a:cs typeface="IBM Plex Sans" pitchFamily="34" charset="-120"/>
              </a:rPr>
              <a:t>G's output must match real pixel values; BN there caused instability.</a:t>
            </a:r>
            <a:endParaRPr lang="en-US" sz="1500" dirty="0"/>
          </a:p>
        </p:txBody>
      </p:sp>
      <p:sp>
        <p:nvSpPr>
          <p:cNvPr id="10" name="Text 8"/>
          <p:cNvSpPr/>
          <p:nvPr/>
        </p:nvSpPr>
        <p:spPr>
          <a:xfrm>
            <a:off x="812800" y="4826000"/>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d.</a:t>
            </a:r>
            <a:r>
              <a:rPr lang="en-US" sz="1600" dirty="0">
                <a:solidFill>
                  <a:srgbClr val="14213D"/>
                </a:solidFill>
                <a:latin typeface="IBM Plex Sans" pitchFamily="34" charset="0"/>
                <a:ea typeface="IBM Plex Sans" pitchFamily="34" charset="-122"/>
                <a:cs typeface="IBM Plex Sans" pitchFamily="34" charset="-120"/>
              </a:rPr>
              <a:t> Which DCGAN rule did we already use in Class 2 &amp; 3, and why?</a:t>
            </a:r>
            <a:endParaRPr lang="en-US" sz="1600" dirty="0"/>
          </a:p>
        </p:txBody>
      </p:sp>
      <p:sp>
        <p:nvSpPr>
          <p:cNvPr id="11" name="Text 9"/>
          <p:cNvSpPr/>
          <p:nvPr/>
        </p:nvSpPr>
        <p:spPr>
          <a:xfrm>
            <a:off x="8001000" y="482600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563A8"/>
                </a:solidFill>
                <a:latin typeface="IBM Plex Sans" pitchFamily="34" charset="0"/>
                <a:ea typeface="IBM Plex Sans" pitchFamily="34" charset="-122"/>
                <a:cs typeface="IBM Plex Sans" pitchFamily="34" charset="-120"/>
              </a:rPr>
              <a:t>β1 = 0.5: less momentum in a moving game.</a:t>
            </a:r>
            <a:endParaRPr lang="en-US" sz="15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03 DCGAN · min 59–61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04</a:t>
            </a:r>
            <a:endParaRPr lang="en-US" sz="8000" dirty="0"/>
          </a:p>
        </p:txBody>
      </p:sp>
      <p:sp>
        <p:nvSpPr>
          <p:cNvPr id="3" name="Text 1"/>
          <p:cNvSpPr/>
          <p:nvPr>
            <p:ph type="title"/>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6F3EC"/>
                </a:solidFill>
                <a:latin typeface="Space Grotesk" pitchFamily="34" charset="0"/>
                <a:ea typeface="Space Grotesk" pitchFamily="34" charset="-122"/>
                <a:cs typeface="Space Grotesk" pitchFamily="34" charset="-120"/>
              </a:rPr>
              <a:t>Conditional GAN: choose the digit</a:t>
            </a:r>
            <a:endParaRPr lang="en-US" sz="4400" dirty="0"/>
          </a:p>
        </p:txBody>
      </p:sp>
      <p:sp>
        <p:nvSpPr>
          <p:cNvPr id="4" name="Text 2"/>
          <p:cNvSpPr/>
          <p:nvPr/>
        </p:nvSpPr>
        <p:spPr>
          <a:xfrm>
            <a:off x="812800" y="4064000"/>
            <a:ext cx="981075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Mirza and Osindero, 2014: give the label to both players.</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4 · min 61–82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THE PROBLEM</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We have the labels. We have been throwing them away.</a:t>
            </a:r>
            <a:endParaRPr lang="en-US" sz="3200" dirty="0"/>
          </a:p>
        </p:txBody>
      </p:sp>
      <p:sp>
        <p:nvSpPr>
          <p:cNvPr id="4" name="Shape 2"/>
          <p:cNvSpPr/>
          <p:nvPr/>
        </p:nvSpPr>
        <p:spPr>
          <a:xfrm>
            <a:off x="812800" y="1905000"/>
            <a:ext cx="10566400" cy="825500"/>
          </a:xfrm>
          <a:prstGeom prst="roundRect">
            <a:avLst>
              <a:gd name="adj" fmla="val 12308"/>
            </a:avLst>
          </a:prstGeom>
          <a:solidFill>
            <a:srgbClr val="14213D"/>
          </a:solidFill>
          <a:ln/>
        </p:spPr>
      </p:sp>
      <p:sp>
        <p:nvSpPr>
          <p:cNvPr id="5" name="Text 3"/>
          <p:cNvSpPr/>
          <p:nvPr/>
        </p:nvSpPr>
        <p:spPr>
          <a:xfrm>
            <a:off x="1079500" y="2127250"/>
            <a:ext cx="10399395"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3EC"/>
                </a:solidFill>
                <a:latin typeface="JetBrains Mono" pitchFamily="49" charset="0"/>
                <a:ea typeface="JetBrains Mono" pitchFamily="49" charset="-122"/>
                <a:cs typeface="JetBrains Mono" pitchFamily="49" charset="-120"/>
              </a:rPr>
              <a:t>for real, </a:t>
            </a:r>
            <a:r>
              <a:rPr lang="en-US" sz="1800" dirty="0">
                <a:solidFill>
                  <a:srgbClr val="E9B949"/>
                </a:solidFill>
                <a:latin typeface="JetBrains Mono" pitchFamily="49" charset="0"/>
                <a:ea typeface="JetBrains Mono" pitchFamily="49" charset="-122"/>
                <a:cs typeface="JetBrains Mono" pitchFamily="49" charset="-120"/>
              </a:rPr>
              <a:t>_</a:t>
            </a:r>
            <a:r>
              <a:rPr lang="en-US" sz="1800" dirty="0">
                <a:solidFill>
                  <a:srgbClr val="F6F3EC"/>
                </a:solidFill>
                <a:latin typeface="JetBrains Mono" pitchFamily="49" charset="0"/>
                <a:ea typeface="JetBrains Mono" pitchFamily="49" charset="-122"/>
                <a:cs typeface="JetBrains Mono" pitchFamily="49" charset="-120"/>
              </a:rPr>
              <a:t> in train_loader: </a:t>
            </a:r>
            <a:r>
              <a:rPr lang="en-US" sz="1800" dirty="0">
                <a:solidFill>
                  <a:srgbClr val="8E9AAF"/>
                </a:solidFill>
                <a:latin typeface="JetBrains Mono" pitchFamily="49" charset="0"/>
                <a:ea typeface="JetBrains Mono" pitchFamily="49" charset="-122"/>
                <a:cs typeface="JetBrains Mono" pitchFamily="49" charset="-120"/>
              </a:rPr>
              <a:t># Classes 1, 2 and 3</a:t>
            </a:r>
            <a:endParaRPr lang="en-US" sz="1800" dirty="0"/>
          </a:p>
        </p:txBody>
      </p:sp>
      <p:sp>
        <p:nvSpPr>
          <p:cNvPr id="6" name="Text 4"/>
          <p:cNvSpPr/>
          <p:nvPr/>
        </p:nvSpPr>
        <p:spPr>
          <a:xfrm>
            <a:off x="812800" y="3048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a:t>
            </a:r>
            <a:r>
              <a:rPr lang="en-US" sz="1600" b="1" dirty="0">
                <a:solidFill>
                  <a:srgbClr val="B24E17"/>
                </a:solidFill>
                <a:latin typeface="IBM Plex Sans" pitchFamily="34" charset="0"/>
                <a:ea typeface="IBM Plex Sans" pitchFamily="34" charset="-122"/>
                <a:cs typeface="IBM Plex Sans" pitchFamily="34" charset="-120"/>
              </a:rPr>
              <a:t>_</a:t>
            </a:r>
            <a:r>
              <a:rPr lang="en-US" sz="1600" dirty="0">
                <a:solidFill>
                  <a:srgbClr val="14213D"/>
                </a:solidFill>
                <a:latin typeface="IBM Plex Sans" pitchFamily="34" charset="0"/>
                <a:ea typeface="IBM Plex Sans" pitchFamily="34" charset="-122"/>
                <a:cs typeface="IBM Plex Sans" pitchFamily="34" charset="-120"/>
              </a:rPr>
              <a:t> is the digit label: MNIST gives it to us with every image. An unconditional GAN ignores it, so </a:t>
            </a:r>
            <a:r>
              <a:rPr lang="en-US" sz="1600" b="1" dirty="0">
                <a:solidFill>
                  <a:srgbClr val="14213D"/>
                </a:solidFill>
                <a:latin typeface="IBM Plex Sans" pitchFamily="34" charset="0"/>
                <a:ea typeface="IBM Plex Sans" pitchFamily="34" charset="-122"/>
                <a:cs typeface="IBM Plex Sans" pitchFamily="34" charset="-120"/>
              </a:rPr>
              <a:t>G(z)</a:t>
            </a:r>
            <a:r>
              <a:rPr lang="en-US" sz="1600" dirty="0">
                <a:solidFill>
                  <a:srgbClr val="14213D"/>
                </a:solidFill>
                <a:latin typeface="IBM Plex Sans" pitchFamily="34" charset="0"/>
                <a:ea typeface="IBM Plex Sans" pitchFamily="34" charset="-122"/>
                <a:cs typeface="IBM Plex Sans" pitchFamily="34" charset="-120"/>
              </a:rPr>
              <a:t> gives </a:t>
            </a:r>
            <a:r>
              <a:rPr lang="en-US" sz="1600" b="1" dirty="0">
                <a:solidFill>
                  <a:srgbClr val="14213D"/>
                </a:solidFill>
                <a:latin typeface="IBM Plex Sans" pitchFamily="34" charset="0"/>
                <a:ea typeface="IBM Plex Sans" pitchFamily="34" charset="-122"/>
                <a:cs typeface="IBM Plex Sans" pitchFamily="34" charset="-120"/>
              </a:rPr>
              <a:t>some</a:t>
            </a:r>
            <a:r>
              <a:rPr lang="en-US" sz="1600" dirty="0">
                <a:solidFill>
                  <a:srgbClr val="14213D"/>
                </a:solidFill>
                <a:latin typeface="IBM Plex Sans" pitchFamily="34" charset="0"/>
                <a:ea typeface="IBM Plex Sans" pitchFamily="34" charset="-122"/>
                <a:cs typeface="IBM Plex Sans" pitchFamily="34" charset="-120"/>
              </a:rPr>
              <a:t> digit, chosen by chance.</a:t>
            </a:r>
            <a:endParaRPr lang="en-US" sz="1600" dirty="0"/>
          </a:p>
        </p:txBody>
      </p:sp>
      <p:sp>
        <p:nvSpPr>
          <p:cNvPr id="7" name="Text 5"/>
          <p:cNvSpPr/>
          <p:nvPr/>
        </p:nvSpPr>
        <p:spPr>
          <a:xfrm>
            <a:off x="812800" y="4064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To get a 7 you would have to sample, classify, and throw away nine out of ten. And if G has partly collapsed, a rare digit may </a:t>
            </a:r>
            <a:r>
              <a:rPr lang="en-US" sz="1600" b="1" dirty="0">
                <a:solidFill>
                  <a:srgbClr val="14213D"/>
                </a:solidFill>
                <a:latin typeface="IBM Plex Sans" pitchFamily="34" charset="0"/>
                <a:ea typeface="IBM Plex Sans" pitchFamily="34" charset="-122"/>
                <a:cs typeface="IBM Plex Sans" pitchFamily="34" charset="-120"/>
              </a:rPr>
              <a:t>never</a:t>
            </a:r>
            <a:r>
              <a:rPr lang="en-US" sz="1600" dirty="0">
                <a:solidFill>
                  <a:srgbClr val="14213D"/>
                </a:solidFill>
                <a:latin typeface="IBM Plex Sans" pitchFamily="34" charset="0"/>
                <a:ea typeface="IBM Plex Sans" pitchFamily="34" charset="-122"/>
                <a:cs typeface="IBM Plex Sans" pitchFamily="34" charset="-120"/>
              </a:rPr>
              <a:t> come out.</a:t>
            </a:r>
            <a:endParaRPr lang="en-US" sz="1600" dirty="0"/>
          </a:p>
        </p:txBody>
      </p:sp>
      <p:sp>
        <p:nvSpPr>
          <p:cNvPr id="8" name="Text 6"/>
          <p:cNvSpPr/>
          <p:nvPr/>
        </p:nvSpPr>
        <p:spPr>
          <a:xfrm>
            <a:off x="812800" y="508000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563A8"/>
                </a:solidFill>
                <a:latin typeface="IBM Plex Sans" pitchFamily="34" charset="0"/>
                <a:ea typeface="IBM Plex Sans" pitchFamily="34" charset="-122"/>
                <a:cs typeface="IBM Plex Sans" pitchFamily="34" charset="-120"/>
              </a:rPr>
              <a:t>Goal: G(z, y) = "draw digit y, in the style z".</a:t>
            </a:r>
            <a:endParaRPr lang="en-US" sz="1700" dirty="0"/>
          </a:p>
        </p:txBody>
      </p:sp>
      <p:sp>
        <p:nvSpPr>
          <p:cNvPr id="9"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61–63</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THE IDEA · MIRZA AND OSINDERO 2014</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Give the label y to both players</a:t>
            </a:r>
            <a:endParaRPr lang="en-US" sz="3200" dirty="0"/>
          </a:p>
        </p:txBody>
      </p:sp>
      <p:sp>
        <p:nvSpPr>
          <p:cNvPr id="4" name="Shape 2"/>
          <p:cNvSpPr/>
          <p:nvPr/>
        </p:nvSpPr>
        <p:spPr>
          <a:xfrm>
            <a:off x="812800" y="1778000"/>
            <a:ext cx="10566400" cy="762000"/>
          </a:xfrm>
          <a:prstGeom prst="roundRect">
            <a:avLst>
              <a:gd name="adj" fmla="val 13333"/>
            </a:avLst>
          </a:prstGeom>
          <a:solidFill>
            <a:srgbClr val="14213D"/>
          </a:solidFill>
          <a:ln/>
        </p:spPr>
      </p:sp>
      <p:sp>
        <p:nvSpPr>
          <p:cNvPr id="5" name="Text 3"/>
          <p:cNvSpPr/>
          <p:nvPr/>
        </p:nvSpPr>
        <p:spPr>
          <a:xfrm>
            <a:off x="654304" y="1981200"/>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F6F3EC"/>
                </a:solidFill>
                <a:latin typeface="JetBrains Mono" pitchFamily="49" charset="0"/>
                <a:ea typeface="JetBrains Mono" pitchFamily="49" charset="-122"/>
                <a:cs typeface="JetBrains Mono" pitchFamily="49" charset="-120"/>
              </a:rPr>
              <a:t>min_G max_D E[log D(x, </a:t>
            </a:r>
            <a:r>
              <a:rPr lang="en-US" sz="1600" dirty="0">
                <a:solidFill>
                  <a:srgbClr val="E9B949"/>
                </a:solidFill>
                <a:latin typeface="JetBrains Mono" pitchFamily="49" charset="0"/>
                <a:ea typeface="JetBrains Mono" pitchFamily="49" charset="-122"/>
                <a:cs typeface="JetBrains Mono" pitchFamily="49" charset="-120"/>
              </a:rPr>
              <a:t>y</a:t>
            </a:r>
            <a:r>
              <a:rPr lang="en-US" sz="1600" dirty="0">
                <a:solidFill>
                  <a:srgbClr val="F6F3EC"/>
                </a:solidFill>
                <a:latin typeface="JetBrains Mono" pitchFamily="49" charset="0"/>
                <a:ea typeface="JetBrains Mono" pitchFamily="49" charset="-122"/>
                <a:cs typeface="JetBrains Mono" pitchFamily="49" charset="-120"/>
              </a:rPr>
              <a:t>)] + E[log(1 − D(G(z, </a:t>
            </a:r>
            <a:r>
              <a:rPr lang="en-US" sz="1600" dirty="0">
                <a:solidFill>
                  <a:srgbClr val="E9B949"/>
                </a:solidFill>
                <a:latin typeface="JetBrains Mono" pitchFamily="49" charset="0"/>
                <a:ea typeface="JetBrains Mono" pitchFamily="49" charset="-122"/>
                <a:cs typeface="JetBrains Mono" pitchFamily="49" charset="-120"/>
              </a:rPr>
              <a:t>y</a:t>
            </a:r>
            <a:r>
              <a:rPr lang="en-US" sz="1600" dirty="0">
                <a:solidFill>
                  <a:srgbClr val="F6F3EC"/>
                </a:solidFill>
                <a:latin typeface="JetBrains Mono" pitchFamily="49" charset="0"/>
                <a:ea typeface="JetBrains Mono" pitchFamily="49" charset="-122"/>
                <a:cs typeface="JetBrains Mono" pitchFamily="49" charset="-120"/>
              </a:rPr>
              <a:t>), </a:t>
            </a:r>
            <a:r>
              <a:rPr lang="en-US" sz="1600" dirty="0">
                <a:solidFill>
                  <a:srgbClr val="E9B949"/>
                </a:solidFill>
                <a:latin typeface="JetBrains Mono" pitchFamily="49" charset="0"/>
                <a:ea typeface="JetBrains Mono" pitchFamily="49" charset="-122"/>
                <a:cs typeface="JetBrains Mono" pitchFamily="49" charset="-120"/>
              </a:rPr>
              <a:t>y</a:t>
            </a:r>
            <a:r>
              <a:rPr lang="en-US" sz="1600" dirty="0">
                <a:solidFill>
                  <a:srgbClr val="F6F3EC"/>
                </a:solidFill>
                <a:latin typeface="JetBrains Mono" pitchFamily="49" charset="0"/>
                <a:ea typeface="JetBrains Mono" pitchFamily="49" charset="-122"/>
                <a:cs typeface="JetBrains Mono" pitchFamily="49" charset="-120"/>
              </a:rPr>
              <a:t>))]</a:t>
            </a:r>
            <a:endParaRPr lang="en-US" sz="1600" dirty="0"/>
          </a:p>
        </p:txBody>
      </p:sp>
      <p:sp>
        <p:nvSpPr>
          <p:cNvPr id="6" name="Shape 4"/>
          <p:cNvSpPr/>
          <p:nvPr/>
        </p:nvSpPr>
        <p:spPr>
          <a:xfrm>
            <a:off x="812800" y="2794000"/>
            <a:ext cx="5080000" cy="2095500"/>
          </a:xfrm>
          <a:prstGeom prst="roundRect">
            <a:avLst>
              <a:gd name="adj" fmla="val 4848"/>
            </a:avLst>
          </a:prstGeom>
          <a:solidFill>
            <a:srgbClr val="FFFDF8"/>
          </a:solidFill>
          <a:ln/>
          <a:effectLst>
            <a:outerShdw sx="100000" sy="100000" kx="0" ky="0" algn="bl" rotWithShape="0" blurRad="12700" dist="0" dir="60000">
              <a:srgbClr val="E4DED0">
                <a:alpha val="100000"/>
              </a:srgbClr>
            </a:outerShdw>
          </a:effectLst>
        </p:spPr>
      </p:sp>
      <p:sp>
        <p:nvSpPr>
          <p:cNvPr id="7" name="Shape 5"/>
          <p:cNvSpPr/>
          <p:nvPr/>
        </p:nvSpPr>
        <p:spPr>
          <a:xfrm>
            <a:off x="812800" y="2794000"/>
            <a:ext cx="5080000" cy="2095500"/>
          </a:xfrm>
          <a:custGeom>
            <a:avLst/>
            <a:gdLst/>
            <a:ahLst/>
            <a:cxnLst/>
            <a:rect l="l" t="t" r="r" b="b"/>
            <a:pathLst>
              <a:path w="5080000" h="20955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2563A8"/>
          </a:solidFill>
          <a:ln/>
        </p:spPr>
      </p:sp>
      <p:sp>
        <p:nvSpPr>
          <p:cNvPr id="8" name="Text 6"/>
          <p:cNvSpPr/>
          <p:nvPr/>
        </p:nvSpPr>
        <p:spPr>
          <a:xfrm>
            <a:off x="1079500" y="29718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563A8"/>
                </a:solidFill>
                <a:latin typeface="Space Grotesk" pitchFamily="34" charset="0"/>
                <a:ea typeface="Space Grotesk" pitchFamily="34" charset="-122"/>
                <a:cs typeface="Space Grotesk" pitchFamily="34" charset="-120"/>
              </a:rPr>
              <a:t>G(z, y)</a:t>
            </a:r>
            <a:endParaRPr lang="en-US" sz="2000" dirty="0"/>
          </a:p>
        </p:txBody>
      </p:sp>
      <p:sp>
        <p:nvSpPr>
          <p:cNvPr id="9" name="Text 7"/>
          <p:cNvSpPr/>
          <p:nvPr/>
        </p:nvSpPr>
        <p:spPr>
          <a:xfrm>
            <a:off x="1079500" y="3416300"/>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"Draw a digit </a:t>
            </a:r>
            <a:r>
              <a:rPr lang="en-US" sz="1500" b="1" dirty="0">
                <a:solidFill>
                  <a:srgbClr val="3D4657"/>
                </a:solidFill>
                <a:latin typeface="IBM Plex Sans" pitchFamily="34" charset="0"/>
                <a:ea typeface="IBM Plex Sans" pitchFamily="34" charset="-122"/>
                <a:cs typeface="IBM Plex Sans" pitchFamily="34" charset="-120"/>
              </a:rPr>
              <a:t>y</a:t>
            </a:r>
            <a:r>
              <a:rPr lang="en-US" sz="1500" dirty="0">
                <a:solidFill>
                  <a:srgbClr val="3D4657"/>
                </a:solidFill>
                <a:latin typeface="IBM Plex Sans" pitchFamily="34" charset="0"/>
                <a:ea typeface="IBM Plex Sans" pitchFamily="34" charset="-122"/>
                <a:cs typeface="IBM Plex Sans" pitchFamily="34" charset="-120"/>
              </a:rPr>
              <a:t>, in style </a:t>
            </a:r>
            <a:r>
              <a:rPr lang="en-US" sz="1500" b="1" dirty="0">
                <a:solidFill>
                  <a:srgbClr val="3D4657"/>
                </a:solidFill>
                <a:latin typeface="IBM Plex Sans" pitchFamily="34" charset="0"/>
                <a:ea typeface="IBM Plex Sans" pitchFamily="34" charset="-122"/>
                <a:cs typeface="IBM Plex Sans" pitchFamily="34" charset="-120"/>
              </a:rPr>
              <a:t>z</a:t>
            </a:r>
            <a:r>
              <a:rPr lang="en-US" sz="1500" dirty="0">
                <a:solidFill>
                  <a:srgbClr val="3D4657"/>
                </a:solidFill>
                <a:latin typeface="IBM Plex Sans" pitchFamily="34" charset="0"/>
                <a:ea typeface="IBM Plex Sans" pitchFamily="34" charset="-122"/>
                <a:cs typeface="IBM Plex Sans" pitchFamily="34" charset="-120"/>
              </a:rPr>
              <a:t>."</a:t>
            </a:r>
            <a:endParaRPr lang="en-US" sz="1500" dirty="0"/>
          </a:p>
        </p:txBody>
      </p:sp>
      <p:sp>
        <p:nvSpPr>
          <p:cNvPr id="10" name="Shape 8"/>
          <p:cNvSpPr/>
          <p:nvPr/>
        </p:nvSpPr>
        <p:spPr>
          <a:xfrm>
            <a:off x="6299200" y="2794000"/>
            <a:ext cx="5080000" cy="2095500"/>
          </a:xfrm>
          <a:prstGeom prst="roundRect">
            <a:avLst>
              <a:gd name="adj" fmla="val 4848"/>
            </a:avLst>
          </a:prstGeom>
          <a:solidFill>
            <a:srgbClr val="FFFDF8"/>
          </a:solidFill>
          <a:ln/>
          <a:effectLst>
            <a:outerShdw sx="100000" sy="100000" kx="0" ky="0" algn="bl" rotWithShape="0" blurRad="12700" dist="0" dir="60000">
              <a:srgbClr val="E4DED0">
                <a:alpha val="100000"/>
              </a:srgbClr>
            </a:outerShdw>
          </a:effectLst>
        </p:spPr>
      </p:sp>
      <p:sp>
        <p:nvSpPr>
          <p:cNvPr id="11" name="Shape 9"/>
          <p:cNvSpPr/>
          <p:nvPr/>
        </p:nvSpPr>
        <p:spPr>
          <a:xfrm>
            <a:off x="6299200" y="2794000"/>
            <a:ext cx="5080000" cy="2095500"/>
          </a:xfrm>
          <a:custGeom>
            <a:avLst/>
            <a:gdLst/>
            <a:ahLst/>
            <a:cxnLst/>
            <a:rect l="l" t="t" r="r" b="b"/>
            <a:pathLst>
              <a:path w="5080000" h="20955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B24E17"/>
          </a:solidFill>
          <a:ln/>
        </p:spPr>
      </p:sp>
      <p:sp>
        <p:nvSpPr>
          <p:cNvPr id="12" name="Text 10"/>
          <p:cNvSpPr/>
          <p:nvPr/>
        </p:nvSpPr>
        <p:spPr>
          <a:xfrm>
            <a:off x="6565900" y="29718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24E17"/>
                </a:solidFill>
                <a:latin typeface="Space Grotesk" pitchFamily="34" charset="0"/>
                <a:ea typeface="Space Grotesk" pitchFamily="34" charset="-122"/>
                <a:cs typeface="Space Grotesk" pitchFamily="34" charset="-120"/>
              </a:rPr>
              <a:t>D(x, y)</a:t>
            </a:r>
            <a:endParaRPr lang="en-US" sz="2000" dirty="0"/>
          </a:p>
        </p:txBody>
      </p:sp>
      <p:sp>
        <p:nvSpPr>
          <p:cNvPr id="13" name="Text 11"/>
          <p:cNvSpPr/>
          <p:nvPr/>
        </p:nvSpPr>
        <p:spPr>
          <a:xfrm>
            <a:off x="6565900" y="3416300"/>
            <a:ext cx="470916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"Is x a </a:t>
            </a:r>
            <a:r>
              <a:rPr lang="en-US" sz="1500" b="1" dirty="0">
                <a:solidFill>
                  <a:srgbClr val="3D4657"/>
                </a:solidFill>
                <a:latin typeface="IBM Plex Sans" pitchFamily="34" charset="0"/>
                <a:ea typeface="IBM Plex Sans" pitchFamily="34" charset="-122"/>
                <a:cs typeface="IBM Plex Sans" pitchFamily="34" charset="-120"/>
              </a:rPr>
              <a:t>real</a:t>
            </a:r>
            <a:r>
              <a:rPr lang="en-US" sz="1500" dirty="0">
                <a:solidFill>
                  <a:srgbClr val="3D4657"/>
                </a:solidFill>
                <a:latin typeface="IBM Plex Sans" pitchFamily="34" charset="0"/>
                <a:ea typeface="IBM Plex Sans" pitchFamily="34" charset="-122"/>
                <a:cs typeface="IBM Plex Sans" pitchFamily="34" charset="-120"/>
              </a:rPr>
              <a:t> image </a:t>
            </a:r>
            <a:r>
              <a:rPr lang="en-US" sz="1500" b="1" dirty="0">
                <a:solidFill>
                  <a:srgbClr val="3D4657"/>
                </a:solidFill>
                <a:latin typeface="IBM Plex Sans" pitchFamily="34" charset="0"/>
                <a:ea typeface="IBM Plex Sans" pitchFamily="34" charset="-122"/>
                <a:cs typeface="IBM Plex Sans" pitchFamily="34" charset="-120"/>
              </a:rPr>
              <a:t>of digit y</a:t>
            </a:r>
            <a:r>
              <a:rPr lang="en-US" sz="1500" dirty="0">
                <a:solidFill>
                  <a:srgbClr val="3D4657"/>
                </a:solidFill>
                <a:latin typeface="IBM Plex Sans" pitchFamily="34" charset="0"/>
                <a:ea typeface="IBM Plex Sans" pitchFamily="34" charset="-122"/>
                <a:cs typeface="IBM Plex Sans" pitchFamily="34" charset="-120"/>
              </a:rPr>
              <a:t>?" Two ways to fail: looks fake, </a:t>
            </a:r>
            <a:r>
              <a:rPr lang="en-US" sz="1500" b="1" dirty="0">
                <a:solidFill>
                  <a:srgbClr val="3D4657"/>
                </a:solidFill>
                <a:latin typeface="IBM Plex Sans" pitchFamily="34" charset="0"/>
                <a:ea typeface="IBM Plex Sans" pitchFamily="34" charset="-122"/>
                <a:cs typeface="IBM Plex Sans" pitchFamily="34" charset="-120"/>
              </a:rPr>
              <a:t>or</a:t>
            </a:r>
            <a:r>
              <a:rPr lang="en-US" sz="1500" dirty="0">
                <a:solidFill>
                  <a:srgbClr val="3D4657"/>
                </a:solidFill>
                <a:latin typeface="IBM Plex Sans" pitchFamily="34" charset="0"/>
                <a:ea typeface="IBM Plex Sans" pitchFamily="34" charset="-122"/>
                <a:cs typeface="IBM Plex Sans" pitchFamily="34" charset="-120"/>
              </a:rPr>
              <a:t> wrong digit.</a:t>
            </a:r>
            <a:endParaRPr lang="en-US" sz="1500" dirty="0"/>
          </a:p>
        </p:txBody>
      </p:sp>
      <p:sp>
        <p:nvSpPr>
          <p:cNvPr id="14" name="Text 12"/>
          <p:cNvSpPr/>
          <p:nvPr/>
        </p:nvSpPr>
        <p:spPr>
          <a:xfrm>
            <a:off x="812800" y="51435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If only G had the label, D would accept a perfect 3 labelled "7", and G would learn to </a:t>
            </a:r>
            <a:r>
              <a:rPr lang="en-US" sz="1600" b="1" dirty="0">
                <a:solidFill>
                  <a:srgbClr val="14213D"/>
                </a:solidFill>
                <a:latin typeface="IBM Plex Sans" pitchFamily="34" charset="0"/>
                <a:ea typeface="IBM Plex Sans" pitchFamily="34" charset="-122"/>
                <a:cs typeface="IBM Plex Sans" pitchFamily="34" charset="-120"/>
              </a:rPr>
              <a:t>ignore y</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15"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63–67 · Mirza and Osindero, "Conditional Generative Adversarial Nets", 2014</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HOW A NETWORK "READS" A LABEL · NOTEBOOK PART 4</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One-hot label, concatenated to the input</a:t>
            </a:r>
            <a:endParaRPr lang="en-US" sz="3200" dirty="0"/>
          </a:p>
        </p:txBody>
      </p:sp>
      <p:sp>
        <p:nvSpPr>
          <p:cNvPr id="4" name="Shape 2"/>
          <p:cNvSpPr/>
          <p:nvPr/>
        </p:nvSpPr>
        <p:spPr>
          <a:xfrm>
            <a:off x="812800" y="1778000"/>
            <a:ext cx="5080000" cy="1905000"/>
          </a:xfrm>
          <a:prstGeom prst="roundRect">
            <a:avLst>
              <a:gd name="adj" fmla="val 5333"/>
            </a:avLst>
          </a:prstGeom>
          <a:solidFill>
            <a:srgbClr val="FFFDF8"/>
          </a:solidFill>
          <a:ln/>
          <a:effectLst>
            <a:outerShdw sx="100000" sy="100000" kx="0" ky="0" algn="bl" rotWithShape="0" blurRad="12700" dist="0" dir="60000">
              <a:srgbClr val="E4DED0">
                <a:alpha val="100000"/>
              </a:srgbClr>
            </a:outerShdw>
          </a:effectLst>
        </p:spPr>
      </p:sp>
      <p:sp>
        <p:nvSpPr>
          <p:cNvPr id="5" name="Shape 3"/>
          <p:cNvSpPr/>
          <p:nvPr/>
        </p:nvSpPr>
        <p:spPr>
          <a:xfrm>
            <a:off x="812800" y="1778000"/>
            <a:ext cx="5080000" cy="1905000"/>
          </a:xfrm>
          <a:custGeom>
            <a:avLst/>
            <a:gdLst/>
            <a:ahLst/>
            <a:cxnLst/>
            <a:rect l="l" t="t" r="r" b="b"/>
            <a:pathLst>
              <a:path w="5080000" h="1905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2563A8"/>
          </a:solidFill>
          <a:ln/>
        </p:spPr>
      </p:sp>
      <p:sp>
        <p:nvSpPr>
          <p:cNvPr id="6" name="Text 4"/>
          <p:cNvSpPr/>
          <p:nvPr/>
        </p:nvSpPr>
        <p:spPr>
          <a:xfrm>
            <a:off x="1079500" y="1955800"/>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563A8"/>
                </a:solidFill>
                <a:latin typeface="Space Grotesk" pitchFamily="34" charset="0"/>
                <a:ea typeface="Space Grotesk" pitchFamily="34" charset="-122"/>
                <a:cs typeface="Space Grotesk" pitchFamily="34" charset="-120"/>
              </a:rPr>
              <a:t>Into G: 100 + 10 numbers</a:t>
            </a:r>
            <a:endParaRPr lang="en-US" sz="1800" dirty="0"/>
          </a:p>
        </p:txBody>
      </p:sp>
      <p:sp>
        <p:nvSpPr>
          <p:cNvPr id="7" name="Text 5"/>
          <p:cNvSpPr/>
          <p:nvPr/>
        </p:nvSpPr>
        <p:spPr>
          <a:xfrm>
            <a:off x="1079500" y="2349500"/>
            <a:ext cx="47091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y = 7 → [0,0,0,0,0,0,0,1,0,0]. Glue it to z: G's first layer gets </a:t>
            </a:r>
            <a:r>
              <a:rPr lang="en-US" sz="1400" b="1" dirty="0">
                <a:solidFill>
                  <a:srgbClr val="3D4657"/>
                </a:solidFill>
                <a:latin typeface="IBM Plex Sans" pitchFamily="34" charset="0"/>
                <a:ea typeface="IBM Plex Sans" pitchFamily="34" charset="-122"/>
                <a:cs typeface="IBM Plex Sans" pitchFamily="34" charset="-120"/>
              </a:rPr>
              <a:t>110 input channels</a:t>
            </a:r>
            <a:r>
              <a:rPr lang="en-US" sz="1400" dirty="0">
                <a:solidFill>
                  <a:srgbClr val="3D4657"/>
                </a:solidFill>
                <a:latin typeface="IBM Plex Sans" pitchFamily="34" charset="0"/>
                <a:ea typeface="IBM Plex Sans" pitchFamily="34" charset="-122"/>
                <a:cs typeface="IBM Plex Sans" pitchFamily="34" charset="-120"/>
              </a:rPr>
              <a:t>.</a:t>
            </a:r>
            <a:endParaRPr lang="en-US" sz="1400" dirty="0"/>
          </a:p>
        </p:txBody>
      </p:sp>
      <p:sp>
        <p:nvSpPr>
          <p:cNvPr id="8" name="Text 6"/>
          <p:cNvSpPr/>
          <p:nvPr/>
        </p:nvSpPr>
        <p:spPr>
          <a:xfrm>
            <a:off x="1079500" y="31750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torch.cat([z, y_onehot], dim=1)</a:t>
            </a:r>
            <a:endParaRPr lang="en-US" sz="1200" dirty="0"/>
          </a:p>
        </p:txBody>
      </p:sp>
      <p:sp>
        <p:nvSpPr>
          <p:cNvPr id="9" name="Shape 7"/>
          <p:cNvSpPr/>
          <p:nvPr/>
        </p:nvSpPr>
        <p:spPr>
          <a:xfrm>
            <a:off x="6299200" y="1778000"/>
            <a:ext cx="5080000" cy="1905000"/>
          </a:xfrm>
          <a:prstGeom prst="roundRect">
            <a:avLst>
              <a:gd name="adj" fmla="val 5333"/>
            </a:avLst>
          </a:prstGeom>
          <a:solidFill>
            <a:srgbClr val="FFFDF8"/>
          </a:solidFill>
          <a:ln/>
          <a:effectLst>
            <a:outerShdw sx="100000" sy="100000" kx="0" ky="0" algn="bl" rotWithShape="0" blurRad="12700" dist="0" dir="60000">
              <a:srgbClr val="E4DED0">
                <a:alpha val="100000"/>
              </a:srgbClr>
            </a:outerShdw>
          </a:effectLst>
        </p:spPr>
      </p:sp>
      <p:sp>
        <p:nvSpPr>
          <p:cNvPr id="10" name="Shape 8"/>
          <p:cNvSpPr/>
          <p:nvPr/>
        </p:nvSpPr>
        <p:spPr>
          <a:xfrm>
            <a:off x="6299200" y="1778000"/>
            <a:ext cx="5080000" cy="1905000"/>
          </a:xfrm>
          <a:custGeom>
            <a:avLst/>
            <a:gdLst/>
            <a:ahLst/>
            <a:cxnLst/>
            <a:rect l="l" t="t" r="r" b="b"/>
            <a:pathLst>
              <a:path w="5080000" h="1905000">
                <a:moveTo>
                  <a:pt x="0" y="101600"/>
                </a:moveTo>
                <a:lnTo>
                  <a:pt x="0" y="101600"/>
                </a:lnTo>
                <a:arcTo hR="101600" wR="101600" stAng="10800000" swAng="5400000"/>
                <a:lnTo>
                  <a:pt x="4978400" y="0"/>
                </a:lnTo>
                <a:arcTo hR="101600" wR="101600" stAng="16200000" swAng="5400000"/>
                <a:lnTo>
                  <a:pt x="5080000" y="101600"/>
                </a:lnTo>
                <a:arcTo hR="38100" wR="101600" stAng="0" swAng="-5400000"/>
                <a:lnTo>
                  <a:pt x="101600" y="63500"/>
                </a:lnTo>
                <a:arcTo hR="38100" wR="101600" stAng="16200000" swAng="-5400000"/>
                <a:close/>
              </a:path>
            </a:pathLst>
          </a:custGeom>
          <a:solidFill>
            <a:srgbClr val="B24E17"/>
          </a:solidFill>
          <a:ln/>
        </p:spPr>
      </p:sp>
      <p:sp>
        <p:nvSpPr>
          <p:cNvPr id="11" name="Text 9"/>
          <p:cNvSpPr/>
          <p:nvPr/>
        </p:nvSpPr>
        <p:spPr>
          <a:xfrm>
            <a:off x="6565900" y="1955800"/>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24E17"/>
                </a:solidFill>
                <a:latin typeface="Space Grotesk" pitchFamily="34" charset="0"/>
                <a:ea typeface="Space Grotesk" pitchFamily="34" charset="-122"/>
                <a:cs typeface="Space Grotesk" pitchFamily="34" charset="-120"/>
              </a:rPr>
              <a:t>Into D: 1 + 10 channels</a:t>
            </a:r>
            <a:endParaRPr lang="en-US" sz="1800" dirty="0"/>
          </a:p>
        </p:txBody>
      </p:sp>
      <p:sp>
        <p:nvSpPr>
          <p:cNvPr id="12" name="Text 10"/>
          <p:cNvSpPr/>
          <p:nvPr/>
        </p:nvSpPr>
        <p:spPr>
          <a:xfrm>
            <a:off x="6565900" y="2349500"/>
            <a:ext cx="47091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Spread the one-hot over 10 image-sized maps and stack them on the image: </a:t>
            </a:r>
            <a:r>
              <a:rPr lang="en-US" sz="1400" b="1" dirty="0">
                <a:solidFill>
                  <a:srgbClr val="3D4657"/>
                </a:solidFill>
                <a:latin typeface="IBM Plex Sans" pitchFamily="34" charset="0"/>
                <a:ea typeface="IBM Plex Sans" pitchFamily="34" charset="-122"/>
                <a:cs typeface="IBM Plex Sans" pitchFamily="34" charset="-120"/>
              </a:rPr>
              <a:t>11 input channels</a:t>
            </a:r>
            <a:r>
              <a:rPr lang="en-US" sz="1400" dirty="0">
                <a:solidFill>
                  <a:srgbClr val="3D4657"/>
                </a:solidFill>
                <a:latin typeface="IBM Plex Sans" pitchFamily="34" charset="0"/>
                <a:ea typeface="IBM Plex Sans" pitchFamily="34" charset="-122"/>
                <a:cs typeface="IBM Plex Sans" pitchFamily="34" charset="-120"/>
              </a:rPr>
              <a:t>.</a:t>
            </a:r>
            <a:endParaRPr lang="en-US" sz="1400" dirty="0"/>
          </a:p>
        </p:txBody>
      </p:sp>
      <p:sp>
        <p:nvSpPr>
          <p:cNvPr id="13" name="Text 11"/>
          <p:cNvSpPr/>
          <p:nvPr/>
        </p:nvSpPr>
        <p:spPr>
          <a:xfrm>
            <a:off x="6565900" y="31750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torch.cat([x, y_maps], dim=1)</a:t>
            </a:r>
            <a:endParaRPr lang="en-US" sz="1200" dirty="0"/>
          </a:p>
        </p:txBody>
      </p:sp>
      <p:sp>
        <p:nvSpPr>
          <p:cNvPr id="14" name="Shape 12"/>
          <p:cNvSpPr/>
          <p:nvPr/>
        </p:nvSpPr>
        <p:spPr>
          <a:xfrm>
            <a:off x="819150" y="3943350"/>
            <a:ext cx="10553700" cy="1447800"/>
          </a:xfrm>
          <a:prstGeom prst="roundRect">
            <a:avLst>
              <a:gd name="adj" fmla="val 6579"/>
            </a:avLst>
          </a:prstGeom>
          <a:solidFill>
            <a:srgbClr val="FFFDF8"/>
          </a:solidFill>
          <a:ln w="12700">
            <a:solidFill>
              <a:srgbClr val="E4DED0"/>
            </a:solidFill>
            <a:prstDash val="solid"/>
          </a:ln>
        </p:spPr>
      </p:sp>
      <p:pic>
        <p:nvPicPr>
          <p:cNvPr id="15" name="Image 0" descr="A real MNIST 5 followed by ten label channels: channel 5 is all white, the other nine all black">    </p:cNvPr>
          <p:cNvPicPr>
            <a:picLocks noChangeAspect="1"/>
          </p:cNvPicPr>
          <p:nvPr/>
        </p:nvPicPr>
        <p:blipFill>
          <a:blip r:embed="rId1"/>
          <a:srcRect l="0" r="0" t="-10980" b="-10980"/>
          <a:stretch/>
        </p:blipFill>
        <p:spPr>
          <a:xfrm>
            <a:off x="939800" y="4032250"/>
            <a:ext cx="10312400" cy="1270000"/>
          </a:xfrm>
          <a:prstGeom prst="rect">
            <a:avLst/>
          </a:prstGeom>
        </p:spPr>
      </p:pic>
      <p:sp>
        <p:nvSpPr>
          <p:cNvPr id="16"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67–70 · bottom: what D receives for a real "5" (from the notebook)</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REAL RUN FROM TODAY'S NOTEBOOK · PART 4 · 2 EPOCHS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Row r: "draw a digit r"</a:t>
            </a:r>
            <a:endParaRPr lang="en-US" sz="3200" dirty="0"/>
          </a:p>
        </p:txBody>
      </p:sp>
      <p:sp>
        <p:nvSpPr>
          <p:cNvPr id="4" name="Shape 2"/>
          <p:cNvSpPr/>
          <p:nvPr/>
        </p:nvSpPr>
        <p:spPr>
          <a:xfrm>
            <a:off x="819150" y="1720850"/>
            <a:ext cx="4305300" cy="4114800"/>
          </a:xfrm>
          <a:prstGeom prst="roundRect">
            <a:avLst>
              <a:gd name="adj" fmla="val 2315"/>
            </a:avLst>
          </a:prstGeom>
          <a:solidFill>
            <a:srgbClr val="FFFDF8"/>
          </a:solidFill>
          <a:ln w="12700">
            <a:solidFill>
              <a:srgbClr val="E4DED0"/>
            </a:solidFill>
            <a:prstDash val="solid"/>
          </a:ln>
        </p:spPr>
      </p:sp>
      <p:pic>
        <p:nvPicPr>
          <p:cNvPr id="5" name="Image 0" descr="10 by 10 grid from the conditional DCGAN: row 0 shows zeros, row 1 ones, and so on to row 9 nines">    </p:cNvPr>
          <p:cNvPicPr>
            <a:picLocks noChangeAspect="1"/>
          </p:cNvPicPr>
          <p:nvPr/>
        </p:nvPicPr>
        <p:blipFill>
          <a:blip r:embed="rId1"/>
          <a:srcRect l="0" r="0" t="-413" b="-413"/>
          <a:stretch/>
        </p:blipFill>
        <p:spPr>
          <a:xfrm>
            <a:off x="939800" y="1841500"/>
            <a:ext cx="4064000" cy="3873500"/>
          </a:xfrm>
          <a:prstGeom prst="rect">
            <a:avLst/>
          </a:prstGeom>
        </p:spPr>
      </p:pic>
      <p:sp>
        <p:nvSpPr>
          <p:cNvPr id="6" name="Text 3"/>
          <p:cNvSpPr/>
          <p:nvPr/>
        </p:nvSpPr>
        <p:spPr>
          <a:xfrm>
            <a:off x="5524500" y="1841500"/>
            <a:ext cx="603034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Same DCGAN, same 2 epochs, plus the label. Almost every row is the digit we asked for.</a:t>
            </a:r>
            <a:endParaRPr lang="en-US" sz="1500" dirty="0"/>
          </a:p>
        </p:txBody>
      </p:sp>
      <p:sp>
        <p:nvSpPr>
          <p:cNvPr id="7" name="Text 4"/>
          <p:cNvSpPr/>
          <p:nvPr/>
        </p:nvSpPr>
        <p:spPr>
          <a:xfrm>
            <a:off x="5524500" y="2857500"/>
            <a:ext cx="603034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Within a row the samples </a:t>
            </a:r>
            <a:r>
              <a:rPr lang="en-US" sz="1500" b="1" dirty="0">
                <a:solidFill>
                  <a:srgbClr val="14213D"/>
                </a:solidFill>
                <a:latin typeface="IBM Plex Sans" pitchFamily="34" charset="0"/>
                <a:ea typeface="IBM Plex Sans" pitchFamily="34" charset="-122"/>
                <a:cs typeface="IBM Plex Sans" pitchFamily="34" charset="-120"/>
              </a:rPr>
              <a:t>differ</a:t>
            </a:r>
            <a:r>
              <a:rPr lang="en-US" sz="1500" dirty="0">
                <a:solidFill>
                  <a:srgbClr val="14213D"/>
                </a:solidFill>
                <a:latin typeface="IBM Plex Sans" pitchFamily="34" charset="0"/>
                <a:ea typeface="IBM Plex Sans" pitchFamily="34" charset="-122"/>
                <a:cs typeface="IBM Plex Sans" pitchFamily="34" charset="-120"/>
              </a:rPr>
              <a:t>: thick, thin, slanted, open, closed. That variety comes from </a:t>
            </a:r>
            <a:r>
              <a:rPr lang="en-US" sz="1500" b="1" dirty="0">
                <a:solidFill>
                  <a:srgbClr val="14213D"/>
                </a:solidFill>
                <a:latin typeface="IBM Plex Sans" pitchFamily="34" charset="0"/>
                <a:ea typeface="IBM Plex Sans" pitchFamily="34" charset="-122"/>
                <a:cs typeface="IBM Plex Sans" pitchFamily="34" charset="-120"/>
              </a:rPr>
              <a:t>z</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8" name="Text 5"/>
          <p:cNvSpPr/>
          <p:nvPr/>
        </p:nvSpPr>
        <p:spPr>
          <a:xfrm>
            <a:off x="5524500" y="3873500"/>
            <a:ext cx="603034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Weakest rows: 4 and 9. Some 4s look like 9s; some 9s like 7s.</a:t>
            </a:r>
            <a:endParaRPr lang="en-US" sz="1500" dirty="0"/>
          </a:p>
        </p:txBody>
      </p:sp>
      <p:sp>
        <p:nvSpPr>
          <p:cNvPr id="9" name="Text 6"/>
          <p:cNvSpPr/>
          <p:nvPr/>
        </p:nvSpPr>
        <p:spPr>
          <a:xfrm>
            <a:off x="5524500" y="4889500"/>
            <a:ext cx="603034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Shapes look cleaner than the unconditional DCGAN.</a:t>
            </a:r>
            <a:r>
              <a:rPr lang="en-US" sz="1500" dirty="0">
                <a:solidFill>
                  <a:srgbClr val="2563A8"/>
                </a:solidFill>
                <a:latin typeface="IBM Plex Sans" pitchFamily="34" charset="0"/>
                <a:ea typeface="IBM Plex Sans" pitchFamily="34" charset="-122"/>
                <a:cs typeface="IBM Plex Sans" pitchFamily="34" charset="-120"/>
              </a:rPr>
              <a:t> Knowing the digit makes G's job easier.</a:t>
            </a:r>
            <a:endParaRPr lang="en-US" sz="1500" dirty="0"/>
          </a:p>
        </p:txBody>
      </p:sp>
      <p:sp>
        <p:nvSpPr>
          <p:cNvPr id="10"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70–72 · 100 fixed noise vectors, seed 0 · about 3.3 min on a 2-core CPU</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A NEW MEASUREMENT · NOTEBOOK PART 4.1</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Conditional accuracy: did G obey the label?</a:t>
            </a:r>
            <a:endParaRPr lang="en-US" sz="3200" dirty="0"/>
          </a:p>
        </p:txBody>
      </p:sp>
      <p:sp>
        <p:nvSpPr>
          <p:cNvPr id="4" name="Text 2"/>
          <p:cNvSpPr/>
          <p:nvPr/>
        </p:nvSpPr>
        <p:spPr>
          <a:xfrm>
            <a:off x="812800" y="1714500"/>
            <a:ext cx="274701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563A8"/>
                </a:solidFill>
                <a:latin typeface="Space Grotesk" pitchFamily="34" charset="0"/>
                <a:ea typeface="Space Grotesk" pitchFamily="34" charset="-122"/>
                <a:cs typeface="Space Grotesk" pitchFamily="34" charset="-120"/>
              </a:rPr>
              <a:t>84.4%</a:t>
            </a:r>
            <a:endParaRPr lang="en-US" sz="6000" dirty="0"/>
          </a:p>
        </p:txBody>
      </p:sp>
      <p:sp>
        <p:nvSpPr>
          <p:cNvPr id="5" name="Text 3"/>
          <p:cNvSpPr/>
          <p:nvPr/>
        </p:nvSpPr>
        <p:spPr>
          <a:xfrm>
            <a:off x="812800" y="2603500"/>
            <a:ext cx="274701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of 1,000 samples (100 per digit) were classified as the digit we asked for.</a:t>
            </a:r>
            <a:endParaRPr lang="en-US" sz="1400" dirty="0"/>
          </a:p>
        </p:txBody>
      </p:sp>
      <p:sp>
        <p:nvSpPr>
          <p:cNvPr id="6" name="Text 4"/>
          <p:cNvSpPr/>
          <p:nvPr/>
        </p:nvSpPr>
        <p:spPr>
          <a:xfrm>
            <a:off x="812800" y="3937000"/>
            <a:ext cx="274701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Best: 0 (97%), 7 (93%).</a:t>
            </a:r>
            <a:endParaRPr lang="en-US" sz="1400" dirty="0"/>
          </a:p>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Worst: 9 (69%), 4 (73%).</a:t>
            </a:r>
            <a:endParaRPr lang="en-US" sz="1400" dirty="0"/>
          </a:p>
        </p:txBody>
      </p:sp>
      <p:sp>
        <p:nvSpPr>
          <p:cNvPr id="7" name="Shape 5"/>
          <p:cNvSpPr/>
          <p:nvPr/>
        </p:nvSpPr>
        <p:spPr>
          <a:xfrm>
            <a:off x="3816350" y="1720850"/>
            <a:ext cx="7556500" cy="2654300"/>
          </a:xfrm>
          <a:prstGeom prst="roundRect">
            <a:avLst>
              <a:gd name="adj" fmla="val 3589"/>
            </a:avLst>
          </a:prstGeom>
          <a:solidFill>
            <a:srgbClr val="FFFDF8"/>
          </a:solidFill>
          <a:ln w="12700">
            <a:solidFill>
              <a:srgbClr val="E4DED0"/>
            </a:solidFill>
            <a:prstDash val="solid"/>
          </a:ln>
        </p:spPr>
      </p:sp>
      <p:pic>
        <p:nvPicPr>
          <p:cNvPr id="8" name="Image 0" descr="Left: per-digit conditional accuracy bars from 69 to 97 percent. Right: requested versus seen matrix, mostly on the diagonal; requested 9 is seen as 7 thirteen times, requested 4 seen as 9 ten times, requested 2 seen as 3 twelve times">    </p:cNvPr>
          <p:cNvPicPr>
            <a:picLocks noChangeAspect="1"/>
          </p:cNvPicPr>
          <p:nvPr/>
        </p:nvPicPr>
        <p:blipFill>
          <a:blip r:embed="rId1"/>
          <a:srcRect l="-102" r="-102" t="0" b="0"/>
          <a:stretch/>
        </p:blipFill>
        <p:spPr>
          <a:xfrm>
            <a:off x="3905250" y="1809750"/>
            <a:ext cx="7378700" cy="2476500"/>
          </a:xfrm>
          <a:prstGeom prst="rect">
            <a:avLst/>
          </a:prstGeom>
        </p:spPr>
      </p:pic>
      <p:sp>
        <p:nvSpPr>
          <p:cNvPr id="9" name="Text 6"/>
          <p:cNvSpPr/>
          <p:nvPr/>
        </p:nvSpPr>
        <p:spPr>
          <a:xfrm>
            <a:off x="3810000" y="4572000"/>
            <a:ext cx="779627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Off the diagonal: asked 9, seen 7 (13×); asked 2, seen 3 (12×); asked 4, seen 9 (10×). </a:t>
            </a:r>
            <a:r>
              <a:rPr lang="en-US" sz="1400" b="1" dirty="0">
                <a:solidFill>
                  <a:srgbClr val="14213D"/>
                </a:solidFill>
                <a:latin typeface="IBM Plex Sans" pitchFamily="34" charset="0"/>
                <a:ea typeface="IBM Plex Sans" pitchFamily="34" charset="-122"/>
                <a:cs typeface="IBM Plex Sans" pitchFamily="34" charset="-120"/>
              </a:rPr>
              <a:t>Digits that share strokes get confused.</a:t>
            </a:r>
            <a:endParaRPr lang="en-US" sz="1400" dirty="0"/>
          </a:p>
        </p:txBody>
      </p:sp>
      <p:sp>
        <p:nvSpPr>
          <p:cNvPr id="10"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72–75 · measured with the notebook's CNN digit counter (98.1% test accuracy)</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CONTENT AND STYLE · NOTEBOOK PARTS 4.2 AND 4.3</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The label picks the digit; the noise picks the handwriting</a:t>
            </a:r>
            <a:endParaRPr lang="en-US" sz="3200" dirty="0"/>
          </a:p>
        </p:txBody>
      </p:sp>
      <p:sp>
        <p:nvSpPr>
          <p:cNvPr id="4" name="Shape 2"/>
          <p:cNvSpPr/>
          <p:nvPr/>
        </p:nvSpPr>
        <p:spPr>
          <a:xfrm>
            <a:off x="819150" y="1784350"/>
            <a:ext cx="5702300" cy="3289300"/>
          </a:xfrm>
          <a:prstGeom prst="roundRect">
            <a:avLst>
              <a:gd name="adj" fmla="val 2896"/>
            </a:avLst>
          </a:prstGeom>
          <a:solidFill>
            <a:srgbClr val="FFFDF8"/>
          </a:solidFill>
          <a:ln w="12700">
            <a:solidFill>
              <a:srgbClr val="E4DED0"/>
            </a:solidFill>
            <a:prstDash val="solid"/>
          </a:ln>
        </p:spPr>
      </p:sp>
      <p:sp>
        <p:nvSpPr>
          <p:cNvPr id="5" name="Text 3"/>
          <p:cNvSpPr/>
          <p:nvPr/>
        </p:nvSpPr>
        <p:spPr>
          <a:xfrm>
            <a:off x="1016000" y="187325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Each row: one fixed z. Columns: labels 0–9</a:t>
            </a:r>
            <a:endParaRPr lang="en-US" sz="1200" dirty="0"/>
          </a:p>
        </p:txBody>
      </p:sp>
      <p:pic>
        <p:nvPicPr>
          <p:cNvPr id="6" name="Image 0" descr="Six rows of ten digits; each row uses one noise vector with labels 0 to 9. Row 2 is thin and neat, rows 3 and 4 are thick and messy, the last row is clean and upright">    </p:cNvPr>
          <p:cNvPicPr>
            <a:picLocks noChangeAspect="1"/>
          </p:cNvPicPr>
          <p:nvPr/>
        </p:nvPicPr>
        <p:blipFill>
          <a:blip r:embed="rId1"/>
          <a:srcRect l="-1753" r="-1753" t="0" b="0"/>
          <a:stretch/>
        </p:blipFill>
        <p:spPr>
          <a:xfrm>
            <a:off x="939800" y="2127250"/>
            <a:ext cx="5461000" cy="2857500"/>
          </a:xfrm>
          <a:prstGeom prst="rect">
            <a:avLst/>
          </a:prstGeom>
        </p:spPr>
      </p:pic>
      <p:sp>
        <p:nvSpPr>
          <p:cNvPr id="7" name="Shape 4"/>
          <p:cNvSpPr/>
          <p:nvPr/>
        </p:nvSpPr>
        <p:spPr>
          <a:xfrm>
            <a:off x="6800850" y="1784350"/>
            <a:ext cx="4572000" cy="3289300"/>
          </a:xfrm>
          <a:prstGeom prst="roundRect">
            <a:avLst>
              <a:gd name="adj" fmla="val 2896"/>
            </a:avLst>
          </a:prstGeom>
          <a:solidFill>
            <a:srgbClr val="FFFDF8"/>
          </a:solidFill>
          <a:ln w="12700">
            <a:solidFill>
              <a:srgbClr val="E4DED0"/>
            </a:solidFill>
            <a:prstDash val="solid"/>
          </a:ln>
        </p:spPr>
      </p:sp>
      <p:sp>
        <p:nvSpPr>
          <p:cNvPr id="8" name="Text 5"/>
          <p:cNvSpPr/>
          <p:nvPr/>
        </p:nvSpPr>
        <p:spPr>
          <a:xfrm>
            <a:off x="6985000" y="1873250"/>
            <a:ext cx="4382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Fixed label, z moves from z_a to z_b</a:t>
            </a:r>
            <a:endParaRPr lang="en-US" sz="1200" dirty="0"/>
          </a:p>
        </p:txBody>
      </p:sp>
      <p:pic>
        <p:nvPicPr>
          <p:cNvPr id="9" name="Image 1" descr="Three rows of interpolation for digits 2, 4 and 7: each digit changes smoothly in slant and thickness from left to right">    </p:cNvPr>
          <p:cNvPicPr>
            <a:picLocks noChangeAspect="1"/>
          </p:cNvPicPr>
          <p:nvPr/>
        </p:nvPicPr>
        <p:blipFill>
          <a:blip r:embed="rId2"/>
          <a:srcRect l="0" r="0" t="-92108" b="-92108"/>
          <a:stretch/>
        </p:blipFill>
        <p:spPr>
          <a:xfrm>
            <a:off x="6921500" y="2127250"/>
            <a:ext cx="4330700" cy="2857500"/>
          </a:xfrm>
          <a:prstGeom prst="rect">
            <a:avLst/>
          </a:prstGeom>
        </p:spPr>
      </p:pic>
      <p:sp>
        <p:nvSpPr>
          <p:cNvPr id="10" name="Text 6"/>
          <p:cNvSpPr/>
          <p:nvPr/>
        </p:nvSpPr>
        <p:spPr>
          <a:xfrm>
            <a:off x="812800" y="5270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Same z → </a:t>
            </a:r>
            <a:r>
              <a:rPr lang="en-US" sz="1500" b="1" dirty="0">
                <a:solidFill>
                  <a:srgbClr val="14213D"/>
                </a:solidFill>
                <a:latin typeface="IBM Plex Sans" pitchFamily="34" charset="0"/>
                <a:ea typeface="IBM Plex Sans" pitchFamily="34" charset="-122"/>
                <a:cs typeface="IBM Plex Sans" pitchFamily="34" charset="-120"/>
              </a:rPr>
              <a:t>same style</a:t>
            </a:r>
            <a:r>
              <a:rPr lang="en-US" sz="1500" dirty="0">
                <a:solidFill>
                  <a:srgbClr val="14213D"/>
                </a:solidFill>
                <a:latin typeface="IBM Plex Sans" pitchFamily="34" charset="0"/>
                <a:ea typeface="IBM Plex Sans" pitchFamily="34" charset="-122"/>
                <a:cs typeface="IBM Plex Sans" pitchFamily="34" charset="-120"/>
              </a:rPr>
              <a:t> across all ten digits. Small steps in z → </a:t>
            </a:r>
            <a:r>
              <a:rPr lang="en-US" sz="1500" b="1" dirty="0">
                <a:solidFill>
                  <a:srgbClr val="14213D"/>
                </a:solidFill>
                <a:latin typeface="IBM Plex Sans" pitchFamily="34" charset="0"/>
                <a:ea typeface="IBM Plex Sans" pitchFamily="34" charset="-122"/>
                <a:cs typeface="IBM Plex Sans" pitchFamily="34" charset="-120"/>
              </a:rPr>
              <a:t>small, smooth changes</a:t>
            </a:r>
            <a:r>
              <a:rPr lang="en-US" sz="1500" dirty="0">
                <a:solidFill>
                  <a:srgbClr val="14213D"/>
                </a:solidFill>
                <a:latin typeface="IBM Plex Sans" pitchFamily="34" charset="0"/>
                <a:ea typeface="IBM Plex Sans" pitchFamily="34" charset="-122"/>
                <a:cs typeface="IBM Plex Sans" pitchFamily="34" charset="-120"/>
              </a:rPr>
              <a:t>. G has learned a style space.</a:t>
            </a:r>
            <a:endParaRPr lang="en-US" sz="1500" dirty="0"/>
          </a:p>
        </p:txBody>
      </p:sp>
      <p:sp>
        <p:nvSpPr>
          <p:cNvPr id="11"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75–78 · real output of style_vs_content() and interpolate()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THE SAME IDEA, BIGGER CONDITIONS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The condition can be anything you can encode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200"/>
          <a:ext cx="10553700" cy="1930053"/>
        </p:xfrm>
        <a:graphic>
          <a:graphicData uri="http://schemas.openxmlformats.org/drawingml/2006/table">
            <a:tbl>
              <a:tblPr/>
              <a:tblGrid>
                <a:gridCol w="2532888"/>
                <a:gridCol w="4010406"/>
                <a:gridCol w="4010406"/>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Condition 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Example 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Known 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Class label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"Draw a 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cGAN (today), AC-GAN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An image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Sketch → photo, map → satellite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pix2pix (paired images)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Another domain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Horse ↔ zebra, no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CycleGAN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small yellow bird"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Text-to-image GANs; later diffusion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381500"/>
            <a:ext cx="11379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Always the same two moves: </a:t>
            </a:r>
            <a:r>
              <a:rPr lang="en-US" sz="1600" b="1" dirty="0">
                <a:solidFill>
                  <a:srgbClr val="14213D"/>
                </a:solidFill>
                <a:latin typeface="IBM Plex Sans" pitchFamily="34" charset="0"/>
                <a:ea typeface="IBM Plex Sans" pitchFamily="34" charset="-122"/>
                <a:cs typeface="IBM Plex Sans" pitchFamily="34" charset="-120"/>
              </a:rPr>
              <a:t>encode y</a:t>
            </a:r>
            <a:r>
              <a:rPr lang="en-US" sz="1600" dirty="0">
                <a:solidFill>
                  <a:srgbClr val="14213D"/>
                </a:solidFill>
                <a:latin typeface="IBM Plex Sans" pitchFamily="34" charset="0"/>
                <a:ea typeface="IBM Plex Sans" pitchFamily="34" charset="-122"/>
                <a:cs typeface="IBM Plex Sans" pitchFamily="34" charset="-120"/>
              </a:rPr>
              <a:t> as numbers, and give it to </a:t>
            </a:r>
            <a:r>
              <a:rPr lang="en-US" sz="1600" b="1" dirty="0">
                <a:solidFill>
                  <a:srgbClr val="14213D"/>
                </a:solidFill>
                <a:latin typeface="IBM Plex Sans" pitchFamily="34" charset="0"/>
                <a:ea typeface="IBM Plex Sans" pitchFamily="34" charset="-122"/>
                <a:cs typeface="IBM Plex Sans" pitchFamily="34" charset="-120"/>
              </a:rPr>
              <a:t>both</a:t>
            </a:r>
            <a:r>
              <a:rPr lang="en-US" sz="1600" dirty="0">
                <a:solidFill>
                  <a:srgbClr val="14213D"/>
                </a:solidFill>
                <a:latin typeface="IBM Plex Sans" pitchFamily="34" charset="0"/>
                <a:ea typeface="IBM Plex Sans" pitchFamily="34" charset="-122"/>
                <a:cs typeface="IBM Plex Sans" pitchFamily="34" charset="-120"/>
              </a:rPr>
              <a:t> G and D, so the critic can check the match.</a:t>
            </a:r>
            <a:endParaRPr lang="en-US" sz="1600" dirty="0"/>
          </a:p>
        </p:txBody>
      </p:sp>
      <p:sp>
        <p:nvSpPr>
          <p:cNvPr id="6" name="Text 3"/>
          <p:cNvSpPr/>
          <p:nvPr/>
        </p:nvSpPr>
        <p:spPr>
          <a:xfrm>
            <a:off x="812800" y="5207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563A8"/>
                </a:solidFill>
                <a:latin typeface="IBM Plex Sans" pitchFamily="34" charset="0"/>
                <a:ea typeface="IBM Plex Sans" pitchFamily="34" charset="-122"/>
                <a:cs typeface="IBM Plex Sans" pitchFamily="34" charset="-120"/>
              </a:rPr>
              <a:t>Stable Diffusion's text prompt (module 8) is a condition too.</a:t>
            </a:r>
            <a:endParaRPr lang="en-US" sz="1500" dirty="0"/>
          </a:p>
        </p:txBody>
      </p:sp>
      <p:sp>
        <p:nvSpPr>
          <p:cNvPr id="7" name="Text 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78–80 · Odena et al. 2017; Isola et al. 2017; Zhu et al. 2017; Reed et al. 2016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CHECKPOINT · THINK, PAIR, SHARE · 2 MINUTES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True or false?</a:t>
            </a:r>
            <a:endParaRPr lang="en-US" sz="3200" dirty="0"/>
          </a:p>
        </p:txBody>
      </p:sp>
      <p:sp>
        <p:nvSpPr>
          <p:cNvPr id="4" name="Text 2"/>
          <p:cNvSpPr/>
          <p:nvPr/>
        </p:nvSpPr>
        <p:spPr>
          <a:xfrm>
            <a:off x="812800" y="1841500"/>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a:t>
            </a:r>
            <a:r>
              <a:rPr lang="en-US" sz="1600" dirty="0">
                <a:solidFill>
                  <a:srgbClr val="14213D"/>
                </a:solidFill>
                <a:latin typeface="IBM Plex Sans" pitchFamily="34" charset="0"/>
                <a:ea typeface="IBM Plex Sans" pitchFamily="34" charset="-122"/>
                <a:cs typeface="IBM Plex Sans" pitchFamily="34" charset="-120"/>
              </a:rPr>
              <a:t> In a cGAN, only the generator needs the label.</a:t>
            </a:r>
            <a:endParaRPr lang="en-US" sz="1600" dirty="0"/>
          </a:p>
        </p:txBody>
      </p:sp>
      <p:sp>
        <p:nvSpPr>
          <p:cNvPr id="5" name="Text 3"/>
          <p:cNvSpPr/>
          <p:nvPr/>
        </p:nvSpPr>
        <p:spPr>
          <a:xfrm>
            <a:off x="8001000" y="1841500"/>
            <a:ext cx="347954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IBM Plex Sans" pitchFamily="34" charset="0"/>
                <a:ea typeface="IBM Plex Sans" pitchFamily="34" charset="-122"/>
                <a:cs typeface="IBM Plex Sans" pitchFamily="34" charset="-120"/>
              </a:rPr>
              <a:t>False.</a:t>
            </a:r>
            <a:r>
              <a:rPr lang="en-US" sz="1400" dirty="0">
                <a:solidFill>
                  <a:srgbClr val="2563A8"/>
                </a:solidFill>
                <a:latin typeface="IBM Plex Sans" pitchFamily="34" charset="0"/>
                <a:ea typeface="IBM Plex Sans" pitchFamily="34" charset="-122"/>
                <a:cs typeface="IBM Plex Sans" pitchFamily="34" charset="-120"/>
              </a:rPr>
              <a:t> Without it D can't punish the wrong digit, and G ignores y.</a:t>
            </a:r>
            <a:endParaRPr lang="en-US" sz="1400" dirty="0"/>
          </a:p>
        </p:txBody>
      </p:sp>
      <p:sp>
        <p:nvSpPr>
          <p:cNvPr id="6" name="Text 4"/>
          <p:cNvSpPr/>
          <p:nvPr/>
        </p:nvSpPr>
        <p:spPr>
          <a:xfrm>
            <a:off x="812800" y="2857500"/>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b.</a:t>
            </a:r>
            <a:r>
              <a:rPr lang="en-US" sz="1600" dirty="0">
                <a:solidFill>
                  <a:srgbClr val="14213D"/>
                </a:solidFill>
                <a:latin typeface="IBM Plex Sans" pitchFamily="34" charset="0"/>
                <a:ea typeface="IBM Plex Sans" pitchFamily="34" charset="-122"/>
                <a:cs typeface="IBM Plex Sans" pitchFamily="34" charset="-120"/>
              </a:rPr>
              <a:t> A cGAN cannot suffer mode collapse.</a:t>
            </a:r>
            <a:endParaRPr lang="en-US" sz="1600" dirty="0"/>
          </a:p>
        </p:txBody>
      </p:sp>
      <p:sp>
        <p:nvSpPr>
          <p:cNvPr id="7" name="Text 5"/>
          <p:cNvSpPr/>
          <p:nvPr/>
        </p:nvSpPr>
        <p:spPr>
          <a:xfrm>
            <a:off x="8001000" y="2857500"/>
            <a:ext cx="347954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IBM Plex Sans" pitchFamily="34" charset="0"/>
                <a:ea typeface="IBM Plex Sans" pitchFamily="34" charset="-122"/>
                <a:cs typeface="IBM Plex Sans" pitchFamily="34" charset="-120"/>
              </a:rPr>
              <a:t>False.</a:t>
            </a:r>
            <a:r>
              <a:rPr lang="en-US" sz="1400" dirty="0">
                <a:solidFill>
                  <a:srgbClr val="2563A8"/>
                </a:solidFill>
                <a:latin typeface="IBM Plex Sans" pitchFamily="34" charset="0"/>
                <a:ea typeface="IBM Plex Sans" pitchFamily="34" charset="-122"/>
                <a:cs typeface="IBM Plex Sans" pitchFamily="34" charset="-120"/>
              </a:rPr>
              <a:t> It can collapse within a class: every 7 identical.</a:t>
            </a:r>
            <a:endParaRPr lang="en-US" sz="1400" dirty="0"/>
          </a:p>
        </p:txBody>
      </p:sp>
      <p:sp>
        <p:nvSpPr>
          <p:cNvPr id="8" name="Text 6"/>
          <p:cNvSpPr/>
          <p:nvPr/>
        </p:nvSpPr>
        <p:spPr>
          <a:xfrm>
            <a:off x="812800" y="3873500"/>
            <a:ext cx="71945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a:t>
            </a:r>
            <a:r>
              <a:rPr lang="en-US" sz="1600" dirty="0">
                <a:solidFill>
                  <a:srgbClr val="14213D"/>
                </a:solidFill>
                <a:latin typeface="IBM Plex Sans" pitchFamily="34" charset="0"/>
                <a:ea typeface="IBM Plex Sans" pitchFamily="34" charset="-122"/>
                <a:cs typeface="IBM Plex Sans" pitchFamily="34" charset="-120"/>
              </a:rPr>
              <a:t> In our test, D scored generated 7s higher when labelled "7" than when labelled "1".</a:t>
            </a:r>
            <a:endParaRPr lang="en-US" sz="1600" dirty="0"/>
          </a:p>
        </p:txBody>
      </p:sp>
      <p:sp>
        <p:nvSpPr>
          <p:cNvPr id="9" name="Text 7"/>
          <p:cNvSpPr/>
          <p:nvPr/>
        </p:nvSpPr>
        <p:spPr>
          <a:xfrm>
            <a:off x="8001000" y="3873500"/>
            <a:ext cx="347954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IBM Plex Sans" pitchFamily="34" charset="0"/>
                <a:ea typeface="IBM Plex Sans" pitchFamily="34" charset="-122"/>
                <a:cs typeface="IBM Plex Sans" pitchFamily="34" charset="-120"/>
              </a:rPr>
              <a:t>True.</a:t>
            </a:r>
            <a:r>
              <a:rPr lang="en-US" sz="1400" dirty="0">
                <a:solidFill>
                  <a:srgbClr val="2563A8"/>
                </a:solidFill>
                <a:latin typeface="IBM Plex Sans" pitchFamily="34" charset="0"/>
                <a:ea typeface="IBM Plex Sans" pitchFamily="34" charset="-122"/>
                <a:cs typeface="IBM Plex Sans" pitchFamily="34" charset="-120"/>
              </a:rPr>
              <a:t> 0.315 vs 0.141: D checks the match, not only realism.</a:t>
            </a:r>
            <a:endParaRPr lang="en-US" sz="1400" dirty="0"/>
          </a:p>
        </p:txBody>
      </p:sp>
      <p:sp>
        <p:nvSpPr>
          <p:cNvPr id="10" name="Text 8"/>
          <p:cNvSpPr/>
          <p:nvPr/>
        </p:nvSpPr>
        <p:spPr>
          <a:xfrm>
            <a:off x="812800" y="4953000"/>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d.</a:t>
            </a:r>
            <a:r>
              <a:rPr lang="en-US" sz="1600" dirty="0">
                <a:solidFill>
                  <a:srgbClr val="14213D"/>
                </a:solidFill>
                <a:latin typeface="IBM Plex Sans" pitchFamily="34" charset="0"/>
                <a:ea typeface="IBM Plex Sans" pitchFamily="34" charset="-122"/>
                <a:cs typeface="IBM Plex Sans" pitchFamily="34" charset="-120"/>
              </a:rPr>
              <a:t> 100% conditional accuracy proves the cGAN is perfect.</a:t>
            </a:r>
            <a:endParaRPr lang="en-US" sz="1600" dirty="0"/>
          </a:p>
        </p:txBody>
      </p:sp>
      <p:sp>
        <p:nvSpPr>
          <p:cNvPr id="11" name="Text 9"/>
          <p:cNvSpPr/>
          <p:nvPr/>
        </p:nvSpPr>
        <p:spPr>
          <a:xfrm>
            <a:off x="8001000" y="4953000"/>
            <a:ext cx="347954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563A8"/>
                </a:solidFill>
                <a:latin typeface="IBM Plex Sans" pitchFamily="34" charset="0"/>
                <a:ea typeface="IBM Plex Sans" pitchFamily="34" charset="-122"/>
                <a:cs typeface="IBM Plex Sans" pitchFamily="34" charset="-120"/>
              </a:rPr>
              <a:t>False.</a:t>
            </a:r>
            <a:r>
              <a:rPr lang="en-US" sz="1400" dirty="0">
                <a:solidFill>
                  <a:srgbClr val="2563A8"/>
                </a:solidFill>
                <a:latin typeface="IBM Plex Sans" pitchFamily="34" charset="0"/>
                <a:ea typeface="IBM Plex Sans" pitchFamily="34" charset="-122"/>
                <a:cs typeface="IBM Plex Sans" pitchFamily="34" charset="-120"/>
              </a:rPr>
              <a:t> It measures control, not variety or quality. Check the grid.</a:t>
            </a:r>
            <a:endParaRPr lang="en-US" sz="14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04 Conditional GAN · min 80–82</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RECAP · END OF THE THEORY</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Today's theory in five sentences</a:t>
            </a:r>
            <a:endParaRPr lang="en-US" sz="3200" dirty="0"/>
          </a:p>
        </p:txBody>
      </p:sp>
      <p:sp>
        <p:nvSpPr>
          <p:cNvPr id="4" name="Text 2"/>
          <p:cNvSpPr/>
          <p:nvPr/>
        </p:nvSpPr>
        <p:spPr>
          <a:xfrm>
            <a:off x="812800" y="1778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6A10"/>
                </a:solidFill>
                <a:latin typeface="IBM Plex Sans" pitchFamily="34" charset="0"/>
                <a:ea typeface="IBM Plex Sans" pitchFamily="34" charset="-122"/>
                <a:cs typeface="IBM Plex Sans" pitchFamily="34" charset="-120"/>
              </a:rPr>
              <a:t>1.</a:t>
            </a:r>
            <a:r>
              <a:rPr lang="en-US" sz="1600" dirty="0">
                <a:solidFill>
                  <a:srgbClr val="14213D"/>
                </a:solidFill>
                <a:latin typeface="IBM Plex Sans" pitchFamily="34" charset="0"/>
                <a:ea typeface="IBM Plex Sans" pitchFamily="34" charset="-122"/>
                <a:cs typeface="IBM Plex Sans" pitchFamily="34" charset="-120"/>
              </a:rPr>
              <a:t> Class 2 &amp; 3's tools (grid, D plot, histogram) diagnose </a:t>
            </a:r>
            <a:r>
              <a:rPr lang="en-US" sz="1600" b="1" dirty="0">
                <a:solidFill>
                  <a:srgbClr val="14213D"/>
                </a:solidFill>
                <a:latin typeface="IBM Plex Sans" pitchFamily="34" charset="0"/>
                <a:ea typeface="IBM Plex Sans" pitchFamily="34" charset="-122"/>
                <a:cs typeface="IBM Plex Sans" pitchFamily="34" charset="-120"/>
              </a:rPr>
              <a:t>any</a:t>
            </a:r>
            <a:r>
              <a:rPr lang="en-US" sz="1600" dirty="0">
                <a:solidFill>
                  <a:srgbClr val="14213D"/>
                </a:solidFill>
                <a:latin typeface="IBM Plex Sans" pitchFamily="34" charset="0"/>
                <a:ea typeface="IBM Plex Sans" pitchFamily="34" charset="-122"/>
                <a:cs typeface="IBM Plex Sans" pitchFamily="34" charset="-120"/>
              </a:rPr>
              <a:t> GAN; use them together.</a:t>
            </a:r>
            <a:endParaRPr lang="en-US" sz="1600" dirty="0"/>
          </a:p>
        </p:txBody>
      </p:sp>
      <p:sp>
        <p:nvSpPr>
          <p:cNvPr id="5" name="Text 3"/>
          <p:cNvSpPr/>
          <p:nvPr/>
        </p:nvSpPr>
        <p:spPr>
          <a:xfrm>
            <a:off x="812800" y="2540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24E17"/>
                </a:solidFill>
                <a:latin typeface="IBM Plex Sans" pitchFamily="34" charset="0"/>
                <a:ea typeface="IBM Plex Sans" pitchFamily="34" charset="-122"/>
                <a:cs typeface="IBM Plex Sans" pitchFamily="34" charset="-120"/>
              </a:rPr>
              <a:t>2.</a:t>
            </a:r>
            <a:r>
              <a:rPr lang="en-US" sz="1600" dirty="0">
                <a:solidFill>
                  <a:srgbClr val="14213D"/>
                </a:solidFill>
                <a:latin typeface="IBM Plex Sans" pitchFamily="34" charset="0"/>
                <a:ea typeface="IBM Plex Sans" pitchFamily="34" charset="-122"/>
                <a:cs typeface="IBM Plex Sans" pitchFamily="34" charset="-120"/>
              </a:rPr>
              <a:t> Convolutions add locality and weight sharing: clean backgrounds, connected strokes.</a:t>
            </a:r>
            <a:endParaRPr lang="en-US" sz="1600" dirty="0"/>
          </a:p>
        </p:txBody>
      </p:sp>
      <p:sp>
        <p:nvSpPr>
          <p:cNvPr id="6" name="Text 4"/>
          <p:cNvSpPr/>
          <p:nvPr/>
        </p:nvSpPr>
        <p:spPr>
          <a:xfrm>
            <a:off x="812800" y="3302000"/>
            <a:ext cx="11379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24E17"/>
                </a:solidFill>
                <a:latin typeface="IBM Plex Sans" pitchFamily="34" charset="0"/>
                <a:ea typeface="IBM Plex Sans" pitchFamily="34" charset="-122"/>
                <a:cs typeface="IBM Plex Sans" pitchFamily="34" charset="-120"/>
              </a:rPr>
              <a:t>3.</a:t>
            </a:r>
            <a:r>
              <a:rPr lang="en-US" sz="1600" dirty="0">
                <a:solidFill>
                  <a:srgbClr val="14213D"/>
                </a:solidFill>
                <a:latin typeface="IBM Plex Sans" pitchFamily="34" charset="0"/>
                <a:ea typeface="IBM Plex Sans" pitchFamily="34" charset="-122"/>
                <a:cs typeface="IBM Plex Sans" pitchFamily="34" charset="-120"/>
              </a:rPr>
              <a:t> DCGAN: k4 s2 p1 convs halve in D, transposed convs double in G; BatchNorm, ReLU/LeakyReLU, Tanh, β1 = 0.5.</a:t>
            </a:r>
            <a:endParaRPr lang="en-US" sz="1600" dirty="0"/>
          </a:p>
        </p:txBody>
      </p:sp>
      <p:sp>
        <p:nvSpPr>
          <p:cNvPr id="7" name="Text 5"/>
          <p:cNvSpPr/>
          <p:nvPr/>
        </p:nvSpPr>
        <p:spPr>
          <a:xfrm>
            <a:off x="812800" y="43815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A8"/>
                </a:solidFill>
                <a:latin typeface="IBM Plex Sans" pitchFamily="34" charset="0"/>
                <a:ea typeface="IBM Plex Sans" pitchFamily="34" charset="-122"/>
                <a:cs typeface="IBM Plex Sans" pitchFamily="34" charset="-120"/>
              </a:rPr>
              <a:t>4.</a:t>
            </a:r>
            <a:r>
              <a:rPr lang="en-US" sz="1600" dirty="0">
                <a:solidFill>
                  <a:srgbClr val="14213D"/>
                </a:solidFill>
                <a:latin typeface="IBM Plex Sans" pitchFamily="34" charset="0"/>
                <a:ea typeface="IBM Plex Sans" pitchFamily="34" charset="-122"/>
                <a:cs typeface="IBM Plex Sans" pitchFamily="34" charset="-120"/>
              </a:rPr>
              <a:t> cGAN: give y to </a:t>
            </a:r>
            <a:r>
              <a:rPr lang="en-US" sz="1600" b="1" dirty="0">
                <a:solidFill>
                  <a:srgbClr val="14213D"/>
                </a:solidFill>
                <a:latin typeface="IBM Plex Sans" pitchFamily="34" charset="0"/>
                <a:ea typeface="IBM Plex Sans" pitchFamily="34" charset="-122"/>
                <a:cs typeface="IBM Plex Sans" pitchFamily="34" charset="-120"/>
              </a:rPr>
              <a:t>both</a:t>
            </a:r>
            <a:r>
              <a:rPr lang="en-US" sz="1600" dirty="0">
                <a:solidFill>
                  <a:srgbClr val="14213D"/>
                </a:solidFill>
                <a:latin typeface="IBM Plex Sans" pitchFamily="34" charset="0"/>
                <a:ea typeface="IBM Plex Sans" pitchFamily="34" charset="-122"/>
                <a:cs typeface="IBM Plex Sans" pitchFamily="34" charset="-120"/>
              </a:rPr>
              <a:t> players. G concatenates a one-hot; D stacks label maps.</a:t>
            </a:r>
            <a:endParaRPr lang="en-US" sz="1600" dirty="0"/>
          </a:p>
        </p:txBody>
      </p:sp>
      <p:sp>
        <p:nvSpPr>
          <p:cNvPr id="8" name="Text 6"/>
          <p:cNvSpPr/>
          <p:nvPr/>
        </p:nvSpPr>
        <p:spPr>
          <a:xfrm>
            <a:off x="812800" y="51435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A8"/>
                </a:solidFill>
                <a:latin typeface="IBM Plex Sans" pitchFamily="34" charset="0"/>
                <a:ea typeface="IBM Plex Sans" pitchFamily="34" charset="-122"/>
                <a:cs typeface="IBM Plex Sans" pitchFamily="34" charset="-120"/>
              </a:rPr>
              <a:t>5.</a:t>
            </a:r>
            <a:r>
              <a:rPr lang="en-US" sz="1600" dirty="0">
                <a:solidFill>
                  <a:srgbClr val="14213D"/>
                </a:solidFill>
                <a:latin typeface="IBM Plex Sans" pitchFamily="34" charset="0"/>
                <a:ea typeface="IBM Plex Sans" pitchFamily="34" charset="-122"/>
                <a:cs typeface="IBM Plex Sans" pitchFamily="34" charset="-120"/>
              </a:rPr>
              <a:t> The label controls </a:t>
            </a:r>
            <a:r>
              <a:rPr lang="en-US" sz="1600" b="1" dirty="0">
                <a:solidFill>
                  <a:srgbClr val="14213D"/>
                </a:solidFill>
                <a:latin typeface="IBM Plex Sans" pitchFamily="34" charset="0"/>
                <a:ea typeface="IBM Plex Sans" pitchFamily="34" charset="-122"/>
                <a:cs typeface="IBM Plex Sans" pitchFamily="34" charset="-120"/>
              </a:rPr>
              <a:t>content</a:t>
            </a:r>
            <a:r>
              <a:rPr lang="en-US" sz="1600" dirty="0">
                <a:solidFill>
                  <a:srgbClr val="14213D"/>
                </a:solidFill>
                <a:latin typeface="IBM Plex Sans" pitchFamily="34" charset="0"/>
                <a:ea typeface="IBM Plex Sans" pitchFamily="34" charset="-122"/>
                <a:cs typeface="IBM Plex Sans" pitchFamily="34" charset="-120"/>
              </a:rPr>
              <a:t>; the noise controls </a:t>
            </a:r>
            <a:r>
              <a:rPr lang="en-US" sz="1600" b="1" dirty="0">
                <a:solidFill>
                  <a:srgbClr val="14213D"/>
                </a:solidFill>
                <a:latin typeface="IBM Plex Sans" pitchFamily="34" charset="0"/>
                <a:ea typeface="IBM Plex Sans" pitchFamily="34" charset="-122"/>
                <a:cs typeface="IBM Plex Sans" pitchFamily="34" charset="-120"/>
              </a:rPr>
              <a:t>style</a:t>
            </a:r>
            <a:r>
              <a:rPr lang="en-US" sz="1600" dirty="0">
                <a:solidFill>
                  <a:srgbClr val="14213D"/>
                </a:solidFill>
                <a:latin typeface="IBM Plex Sans" pitchFamily="34" charset="0"/>
                <a:ea typeface="IBM Plex Sans" pitchFamily="34" charset="-122"/>
                <a:cs typeface="IBM Plex Sans" pitchFamily="34" charset="-120"/>
              </a:rPr>
              <a:t>. Check control with conditional accuracy.</a:t>
            </a:r>
            <a:endParaRPr lang="en-US" sz="1600" dirty="0"/>
          </a:p>
        </p:txBody>
      </p:sp>
      <p:sp>
        <p:nvSpPr>
          <p:cNvPr id="9"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Recap · min 82–85</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05</a:t>
            </a:r>
            <a:endParaRPr lang="en-US" sz="8000" dirty="0"/>
          </a:p>
        </p:txBody>
      </p:sp>
      <p:sp>
        <p:nvSpPr>
          <p:cNvPr id="3" name="Text 1"/>
          <p:cNvSpPr/>
          <p:nvPr>
            <p:ph type="title"/>
          </p:nvPr>
        </p:nvSpPr>
        <p:spPr>
          <a:xfrm>
            <a:off x="812800" y="3175000"/>
            <a:ext cx="10464800"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3EC"/>
                </a:solidFill>
                <a:latin typeface="Space Grotesk" pitchFamily="34" charset="0"/>
                <a:ea typeface="Space Grotesk" pitchFamily="34" charset="-122"/>
                <a:cs typeface="Space Grotesk" pitchFamily="34" charset="-120"/>
              </a:rPr>
              <a:t>Hands-on: GAN-Class-4-DCGAN-cGAN.ipynb</a:t>
            </a:r>
            <a:endParaRPr lang="en-US" sz="4000" dirty="0"/>
          </a:p>
        </p:txBody>
      </p:sp>
      <p:sp>
        <p:nvSpPr>
          <p:cNvPr id="4" name="Text 2"/>
          <p:cNvSpPr/>
          <p:nvPr/>
        </p:nvSpPr>
        <p:spPr>
          <a:xfrm>
            <a:off x="812800" y="4064000"/>
            <a:ext cx="98107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85 minutes. Rebuild the Class 2 &amp; 3 tools, then build and measure a DCGAN and a conditional DCGAN.</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4 · min 85–170</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05 · MAP OF THE NOTEBOOK</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Six parts, 85 minutes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702074"/>
        </p:xfrm>
        <a:graphic>
          <a:graphicData uri="http://schemas.openxmlformats.org/drawingml/2006/table">
            <a:tbl>
              <a:tblPr/>
              <a:tblGrid>
                <a:gridCol w="949833"/>
                <a:gridCol w="4960239"/>
                <a:gridCol w="1477518"/>
                <a:gridCol w="316611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A4ACB5"/>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A4ACB5"/>
                      </a:solidFill>
                      <a:prstDash val="solid"/>
                      <a:round/>
                      <a:headEnd type="none" w="med" len="med"/>
                      <a:tailEnd type="none" w="med" len="med"/>
                    </a:lnB>
                    <a:solidFill>
                      <a:srgbClr val="CCD7E3"/>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you 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A4ACB5"/>
                      </a:solidFill>
                      <a:prstDash val="solid"/>
                      <a:round/>
                      <a:headEnd type="none" w="med" len="med"/>
                      <a:tailEnd type="none" w="med" len="med"/>
                    </a:lnL>
                    <a:lnR w="12700" cap="flat" cmpd="sng" algn="ctr">
                      <a:solidFill>
                        <a:srgbClr val="A4ACB5"/>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A4ACB5"/>
                      </a:solidFill>
                      <a:prstDash val="solid"/>
                      <a:round/>
                      <a:headEnd type="none" w="med" len="med"/>
                      <a:tailEnd type="none" w="med" len="med"/>
                    </a:lnB>
                    <a:solidFill>
                      <a:srgbClr val="CCD7E3"/>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A4ACB5"/>
                      </a:solidFill>
                      <a:prstDash val="solid"/>
                      <a:round/>
                      <a:headEnd type="none" w="med" len="med"/>
                      <a:tailEnd type="none" w="med" len="med"/>
                    </a:lnL>
                    <a:lnR w="12700" cap="flat" cmpd="sng" algn="ctr">
                      <a:solidFill>
                        <a:srgbClr val="A4ACB5"/>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A4ACB5"/>
                      </a:solidFill>
                      <a:prstDash val="solid"/>
                      <a:round/>
                      <a:headEnd type="none" w="med" len="med"/>
                      <a:tailEnd type="none" w="med" len="med"/>
                    </a:lnB>
                    <a:solidFill>
                      <a:srgbClr val="CCD7E3"/>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CPU run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A4ACB5"/>
                      </a:solidFill>
                      <a:prstDash val="solid"/>
                      <a:round/>
                      <a:headEnd type="none" w="med" len="med"/>
                      <a:tailEnd type="none" w="med" len="med"/>
                    </a:lnL>
                    <a:lnR w="12700" cap="flat" cmpd="sng" algn="ctr">
                      <a:solidFill>
                        <a:srgbClr val="A4ACB5"/>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A4ACB5"/>
                      </a:solidFill>
                      <a:prstDash val="solid"/>
                      <a:round/>
                      <a:headEnd type="none" w="med" len="med"/>
                      <a:tailEnd type="none" w="med" len="med"/>
                    </a:lnB>
                    <a:solidFill>
                      <a:srgbClr val="CCD7E3"/>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A4ACB5"/>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Setup, load MNIST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A4ACB5"/>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A4ACB5"/>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seconds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A4ACB5"/>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Revision: quiz, rebuild the 3 tools, baseline 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14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1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Convolution shapes and the stamp picture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instant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DCGAN: build, train, compare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2–4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Conditional DCGAN: choose the digit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3–5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Wrap-up, reflection, assignment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5" name="Text 2"/>
          <p:cNvSpPr/>
          <p:nvPr/>
        </p:nvSpPr>
        <p:spPr>
          <a:xfrm>
            <a:off x="812800" y="4953000"/>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Run top to bottom. At every </a:t>
            </a:r>
            <a:r>
              <a:rPr lang="en-US" sz="1500" b="1" dirty="0">
                <a:solidFill>
                  <a:srgbClr val="14213D"/>
                </a:solidFill>
                <a:latin typeface="IBM Plex Sans" pitchFamily="34" charset="0"/>
                <a:ea typeface="IBM Plex Sans" pitchFamily="34" charset="-122"/>
                <a:cs typeface="IBM Plex Sans" pitchFamily="34" charset="-120"/>
              </a:rPr>
              <a:t>✏️ Predict</a:t>
            </a:r>
            <a:r>
              <a:rPr lang="en-US" sz="1500" dirty="0">
                <a:solidFill>
                  <a:srgbClr val="14213D"/>
                </a:solidFill>
                <a:latin typeface="IBM Plex Sans" pitchFamily="34" charset="0"/>
                <a:ea typeface="IBM Plex Sans" pitchFamily="34" charset="-122"/>
                <a:cs typeface="IBM Plex Sans" pitchFamily="34" charset="-120"/>
              </a:rPr>
              <a:t>, write your guess </a:t>
            </a:r>
            <a:r>
              <a:rPr lang="en-US" sz="1500" b="1" dirty="0">
                <a:solidFill>
                  <a:srgbClr val="14213D"/>
                </a:solidFill>
                <a:latin typeface="IBM Plex Sans" pitchFamily="34" charset="0"/>
                <a:ea typeface="IBM Plex Sans" pitchFamily="34" charset="-122"/>
                <a:cs typeface="IBM Plex Sans" pitchFamily="34" charset="-120"/>
              </a:rPr>
              <a:t>before</a:t>
            </a:r>
            <a:r>
              <a:rPr lang="en-US" sz="1500" dirty="0">
                <a:solidFill>
                  <a:srgbClr val="14213D"/>
                </a:solidFill>
                <a:latin typeface="IBM Plex Sans" pitchFamily="34" charset="0"/>
                <a:ea typeface="IBM Plex Sans" pitchFamily="34" charset="-122"/>
                <a:cs typeface="IBM Plex Sans" pitchFamily="34" charset="-120"/>
              </a:rPr>
              <a:t> running. Start long training cells, then read while they run.</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05 Notebook · min 85–87 · on a GPU (e.g. Colab) every cell runs in seconds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PARTS 0 AND 1 · 18 MINUTES · INDIVIDUALLY</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Revision in code: rebuild the toolkit, train the baseline</a:t>
            </a:r>
            <a:endParaRPr lang="en-US" sz="3200" dirty="0"/>
          </a:p>
        </p:txBody>
      </p:sp>
      <p:sp>
        <p:nvSpPr>
          <p:cNvPr id="4" name="Shape 2"/>
          <p:cNvSpPr/>
          <p:nvPr/>
        </p:nvSpPr>
        <p:spPr>
          <a:xfrm>
            <a:off x="812800" y="1841500"/>
            <a:ext cx="3365500" cy="2540000"/>
          </a:xfrm>
          <a:prstGeom prst="roundRect">
            <a:avLst>
              <a:gd name="adj" fmla="val 4000"/>
            </a:avLst>
          </a:prstGeom>
          <a:solidFill>
            <a:srgbClr val="FFFDF8"/>
          </a:solidFill>
          <a:ln/>
        </p:spPr>
      </p:sp>
      <p:sp>
        <p:nvSpPr>
          <p:cNvPr id="5" name="Shape 3"/>
          <p:cNvSpPr/>
          <p:nvPr/>
        </p:nvSpPr>
        <p:spPr>
          <a:xfrm>
            <a:off x="812800" y="1841500"/>
            <a:ext cx="3365500" cy="2540000"/>
          </a:xfrm>
          <a:custGeom>
            <a:avLst/>
            <a:gdLst/>
            <a:ahLst/>
            <a:cxnLst/>
            <a:rect l="l" t="t" r="r" b="b"/>
            <a:pathLst>
              <a:path w="3365500" h="2540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8A6A10"/>
          </a:solidFill>
          <a:ln/>
        </p:spPr>
      </p:sp>
      <p:sp>
        <p:nvSpPr>
          <p:cNvPr id="6" name="Text 4"/>
          <p:cNvSpPr/>
          <p:nvPr/>
        </p:nvSpPr>
        <p:spPr>
          <a:xfrm>
            <a:off x="104775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Revision quiz</a:t>
            </a:r>
            <a:endParaRPr lang="en-US" sz="1600" dirty="0"/>
          </a:p>
        </p:txBody>
      </p:sp>
      <p:sp>
        <p:nvSpPr>
          <p:cNvPr id="7" name="Text 5"/>
          <p:cNvSpPr/>
          <p:nvPr/>
        </p:nvSpPr>
        <p:spPr>
          <a:xfrm>
            <a:off x="1047750" y="23812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Five questions in the notebook. Answer from memory, then compare with what we just did.</a:t>
            </a:r>
            <a:endParaRPr lang="en-US" sz="1300" dirty="0"/>
          </a:p>
        </p:txBody>
      </p:sp>
      <p:sp>
        <p:nvSpPr>
          <p:cNvPr id="8" name="Shape 6"/>
          <p:cNvSpPr/>
          <p:nvPr/>
        </p:nvSpPr>
        <p:spPr>
          <a:xfrm>
            <a:off x="4413250" y="1841500"/>
            <a:ext cx="3365500" cy="2540000"/>
          </a:xfrm>
          <a:prstGeom prst="roundRect">
            <a:avLst>
              <a:gd name="adj" fmla="val 4000"/>
            </a:avLst>
          </a:prstGeom>
          <a:solidFill>
            <a:srgbClr val="FFFDF8"/>
          </a:solidFill>
          <a:ln/>
        </p:spPr>
      </p:sp>
      <p:sp>
        <p:nvSpPr>
          <p:cNvPr id="9" name="Shape 7"/>
          <p:cNvSpPr/>
          <p:nvPr/>
        </p:nvSpPr>
        <p:spPr>
          <a:xfrm>
            <a:off x="4413250" y="1841500"/>
            <a:ext cx="3365500" cy="2540000"/>
          </a:xfrm>
          <a:custGeom>
            <a:avLst/>
            <a:gdLst/>
            <a:ahLst/>
            <a:cxnLst/>
            <a:rect l="l" t="t" r="r" b="b"/>
            <a:pathLst>
              <a:path w="3365500" h="2540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14213D"/>
          </a:solidFill>
          <a:ln/>
        </p:spPr>
      </p:sp>
      <p:sp>
        <p:nvSpPr>
          <p:cNvPr id="10" name="Text 8"/>
          <p:cNvSpPr/>
          <p:nvPr/>
        </p:nvSpPr>
        <p:spPr>
          <a:xfrm>
            <a:off x="464820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The 3 tools</a:t>
            </a:r>
            <a:endParaRPr lang="en-US" sz="1600" dirty="0"/>
          </a:p>
        </p:txBody>
      </p:sp>
      <p:sp>
        <p:nvSpPr>
          <p:cNvPr id="11" name="Text 9"/>
          <p:cNvSpPr/>
          <p:nvPr/>
        </p:nvSpPr>
        <p:spPr>
          <a:xfrm>
            <a:off x="4648200" y="23812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A CNN digit counter (≈ 98% accurate), the "who is winning?" log, and a fixed-noise grid, in one train_gan() function.</a:t>
            </a:r>
            <a:endParaRPr lang="en-US" sz="1300" dirty="0"/>
          </a:p>
        </p:txBody>
      </p:sp>
      <p:sp>
        <p:nvSpPr>
          <p:cNvPr id="12" name="Shape 10"/>
          <p:cNvSpPr/>
          <p:nvPr/>
        </p:nvSpPr>
        <p:spPr>
          <a:xfrm>
            <a:off x="8013700" y="1841500"/>
            <a:ext cx="3365500" cy="2540000"/>
          </a:xfrm>
          <a:prstGeom prst="roundRect">
            <a:avLst>
              <a:gd name="adj" fmla="val 4000"/>
            </a:avLst>
          </a:prstGeom>
          <a:solidFill>
            <a:srgbClr val="FFFDF8"/>
          </a:solidFill>
          <a:ln/>
        </p:spPr>
      </p:sp>
      <p:sp>
        <p:nvSpPr>
          <p:cNvPr id="13" name="Shape 11"/>
          <p:cNvSpPr/>
          <p:nvPr/>
        </p:nvSpPr>
        <p:spPr>
          <a:xfrm>
            <a:off x="8013700" y="1841500"/>
            <a:ext cx="3365500" cy="2540000"/>
          </a:xfrm>
          <a:custGeom>
            <a:avLst/>
            <a:gdLst/>
            <a:ahLst/>
            <a:cxnLst/>
            <a:rect l="l" t="t" r="r" b="b"/>
            <a:pathLst>
              <a:path w="3365500" h="2540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B24E17"/>
          </a:solidFill>
          <a:ln/>
        </p:spPr>
      </p:sp>
      <p:sp>
        <p:nvSpPr>
          <p:cNvPr id="14" name="Text 12"/>
          <p:cNvSpPr/>
          <p:nvPr/>
        </p:nvSpPr>
        <p:spPr>
          <a:xfrm>
            <a:off x="824865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Baseline + Exercise 1</a:t>
            </a:r>
            <a:endParaRPr lang="en-US" sz="1600" dirty="0"/>
          </a:p>
        </p:txBody>
      </p:sp>
      <p:sp>
        <p:nvSpPr>
          <p:cNvPr id="15" name="Text 13"/>
          <p:cNvSpPr/>
          <p:nvPr/>
        </p:nvSpPr>
        <p:spPr>
          <a:xfrm>
            <a:off x="8248650" y="23812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The Class 1 network with β1 = 0.5, 2 epochs. Diagnose it: quality, variety, balance, edges.</a:t>
            </a:r>
            <a:endParaRPr lang="en-US" sz="1300" dirty="0"/>
          </a:p>
        </p:txBody>
      </p:sp>
      <p:sp>
        <p:nvSpPr>
          <p:cNvPr id="16" name="Text 14"/>
          <p:cNvSpPr/>
          <p:nvPr/>
        </p:nvSpPr>
        <p:spPr>
          <a:xfrm>
            <a:off x="812800" y="4635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Look for the </a:t>
            </a:r>
            <a:r>
              <a:rPr lang="en-US" sz="1500" b="1" dirty="0">
                <a:solidFill>
                  <a:srgbClr val="14213D"/>
                </a:solidFill>
                <a:latin typeface="IBM Plex Sans" pitchFamily="34" charset="0"/>
                <a:ea typeface="IBM Plex Sans" pitchFamily="34" charset="-122"/>
                <a:cs typeface="IBM Plex Sans" pitchFamily="34" charset="-120"/>
              </a:rPr>
              <a:t># cGAN</a:t>
            </a:r>
            <a:r>
              <a:rPr lang="en-US" sz="1500" dirty="0">
                <a:solidFill>
                  <a:srgbClr val="14213D"/>
                </a:solidFill>
                <a:latin typeface="IBM Plex Sans" pitchFamily="34" charset="0"/>
                <a:ea typeface="IBM Plex Sans" pitchFamily="34" charset="-122"/>
                <a:cs typeface="IBM Plex Sans" pitchFamily="34" charset="-120"/>
              </a:rPr>
              <a:t> lines in train_gan(). They do nothing yet; in Part 4 they pass the label to G and D.</a:t>
            </a:r>
            <a:endParaRPr lang="en-US" sz="1500" dirty="0"/>
          </a:p>
        </p:txBody>
      </p:sp>
      <p:sp>
        <p:nvSpPr>
          <p:cNvPr id="17" name="Text 15"/>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05 Notebook · min 87–105</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PART 2 · 12 MINUTES · INDIVIDUALLY</a:t>
            </a:r>
            <a:endParaRPr lang="en-US" sz="1200" dirty="0"/>
          </a:p>
        </p:txBody>
      </p:sp>
      <p:sp>
        <p:nvSpPr>
          <p:cNvPr id="3" name="Text 1"/>
          <p:cNvSpPr/>
          <p:nvPr>
            <p:ph type="title"/>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Convolution shapes: predict, then check with PyTorch</a:t>
            </a:r>
            <a:endParaRPr lang="en-US" sz="3200" dirty="0"/>
          </a:p>
        </p:txBody>
      </p:sp>
      <p:sp>
        <p:nvSpPr>
          <p:cNvPr id="4" name="Text 2"/>
          <p:cNvSpPr/>
          <p:nvPr/>
        </p:nvSpPr>
        <p:spPr>
          <a:xfrm>
            <a:off x="812800" y="1841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397000" y="1905000"/>
            <a:ext cx="1026858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Predict the sizes, then run conv_out / convT_out and two real PyTorch layers.</a:t>
            </a:r>
            <a:endParaRPr lang="en-US" sz="1600" dirty="0"/>
          </a:p>
        </p:txBody>
      </p:sp>
      <p:sp>
        <p:nvSpPr>
          <p:cNvPr id="6" name="Text 4"/>
          <p:cNvSpPr/>
          <p:nvPr/>
        </p:nvSpPr>
        <p:spPr>
          <a:xfrm>
            <a:off x="812800" y="2667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2</a:t>
            </a:r>
            <a:endParaRPr lang="en-US" sz="2400" dirty="0"/>
          </a:p>
        </p:txBody>
      </p:sp>
      <p:sp>
        <p:nvSpPr>
          <p:cNvPr id="7" name="Text 5"/>
          <p:cNvSpPr/>
          <p:nvPr/>
        </p:nvSpPr>
        <p:spPr>
          <a:xfrm>
            <a:off x="1397000" y="2730500"/>
            <a:ext cx="1026858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Run the 2×2 → 4×4 stamp demo. Change the input values and predict the output first.</a:t>
            </a:r>
            <a:endParaRPr lang="en-US" sz="1600" dirty="0"/>
          </a:p>
        </p:txBody>
      </p:sp>
      <p:sp>
        <p:nvSpPr>
          <p:cNvPr id="8" name="Text 6"/>
          <p:cNvSpPr/>
          <p:nvPr/>
        </p:nvSpPr>
        <p:spPr>
          <a:xfrm>
            <a:off x="812800" y="3492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3</a:t>
            </a:r>
            <a:endParaRPr lang="en-US" sz="2400" dirty="0"/>
          </a:p>
        </p:txBody>
      </p:sp>
      <p:sp>
        <p:nvSpPr>
          <p:cNvPr id="9" name="Text 7"/>
          <p:cNvSpPr/>
          <p:nvPr/>
        </p:nvSpPr>
        <p:spPr>
          <a:xfrm>
            <a:off x="1397000" y="3556000"/>
            <a:ext cx="10268585"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Exercise 2:</a:t>
            </a:r>
            <a:r>
              <a:rPr lang="en-US" sz="1600" dirty="0">
                <a:solidFill>
                  <a:srgbClr val="14213D"/>
                </a:solidFill>
                <a:latin typeface="IBM Plex Sans" pitchFamily="34" charset="0"/>
                <a:ea typeface="IBM Plex Sans" pitchFamily="34" charset="-122"/>
                <a:cs typeface="IBM Plex Sans" pitchFamily="34" charset="-120"/>
              </a:rPr>
              <a:t> trace the Class 1 CelebA DCGAN skeleton (1 → 4 → 8 → 16 → 32). How many layers for 64×64? Why are the stamp centres larger?</a:t>
            </a:r>
            <a:endParaRPr lang="en-US" sz="1600" dirty="0"/>
          </a:p>
        </p:txBody>
      </p:sp>
      <p:sp>
        <p:nvSpPr>
          <p:cNvPr id="10" name="Text 8"/>
          <p:cNvSpPr/>
          <p:nvPr/>
        </p:nvSpPr>
        <p:spPr>
          <a:xfrm>
            <a:off x="812800" y="4826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563A8"/>
                </a:solidFill>
                <a:latin typeface="IBM Plex Sans" pitchFamily="34" charset="0"/>
                <a:ea typeface="IBM Plex Sans" pitchFamily="34" charset="-122"/>
                <a:cs typeface="IBM Plex Sans" pitchFamily="34" charset="-120"/>
              </a:rPr>
              <a:t>Answers: 32×32 · one more ConvTranspose2d(k4, s2, p1) · centres get two overlapping stamps (1 + 2 = 3).</a:t>
            </a:r>
            <a:endParaRPr lang="en-US" sz="1500" dirty="0"/>
          </a:p>
        </p:txBody>
      </p:sp>
      <p:sp>
        <p:nvSpPr>
          <p:cNvPr id="11" name="Text 9"/>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05 Notebook · min 105–117</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PART 3 · 20 MINUTES · IN PAIRS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Build and train the DCGAN, then compare</a:t>
            </a:r>
            <a:endParaRPr lang="en-US" sz="3200" dirty="0"/>
          </a:p>
        </p:txBody>
      </p:sp>
      <p:sp>
        <p:nvSpPr>
          <p:cNvPr id="4" name="Shape 2"/>
          <p:cNvSpPr/>
          <p:nvPr/>
        </p:nvSpPr>
        <p:spPr>
          <a:xfrm>
            <a:off x="812800" y="1841500"/>
            <a:ext cx="3365500" cy="2413000"/>
          </a:xfrm>
          <a:prstGeom prst="roundRect">
            <a:avLst>
              <a:gd name="adj" fmla="val 4211"/>
            </a:avLst>
          </a:prstGeom>
          <a:solidFill>
            <a:srgbClr val="FFFDF8"/>
          </a:solidFill>
          <a:ln/>
        </p:spPr>
      </p:sp>
      <p:sp>
        <p:nvSpPr>
          <p:cNvPr id="5" name="Shape 3"/>
          <p:cNvSpPr/>
          <p:nvPr/>
        </p:nvSpPr>
        <p:spPr>
          <a:xfrm>
            <a:off x="812800" y="1841500"/>
            <a:ext cx="3365500" cy="2413000"/>
          </a:xfrm>
          <a:custGeom>
            <a:avLst/>
            <a:gdLst/>
            <a:ahLst/>
            <a:cxnLst/>
            <a:rect l="l" t="t" r="r" b="b"/>
            <a:pathLst>
              <a:path w="3365500" h="2413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14213D"/>
          </a:solidFill>
          <a:ln/>
        </p:spPr>
      </p:sp>
      <p:sp>
        <p:nvSpPr>
          <p:cNvPr id="6" name="Text 4"/>
          <p:cNvSpPr/>
          <p:nvPr/>
        </p:nvSpPr>
        <p:spPr>
          <a:xfrm>
            <a:off x="104775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Shape check</a:t>
            </a:r>
            <a:endParaRPr lang="en-US" sz="1600" dirty="0"/>
          </a:p>
        </p:txBody>
      </p:sp>
      <p:sp>
        <p:nvSpPr>
          <p:cNvPr id="7" name="Text 5"/>
          <p:cNvSpPr/>
          <p:nvPr/>
        </p:nvSpPr>
        <p:spPr>
          <a:xfrm>
            <a:off x="1047750" y="23812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One batch through G and D, printing every layer's shape and the parameter counts.</a:t>
            </a:r>
            <a:endParaRPr lang="en-US" sz="1300" dirty="0"/>
          </a:p>
        </p:txBody>
      </p:sp>
      <p:sp>
        <p:nvSpPr>
          <p:cNvPr id="8" name="Shape 6"/>
          <p:cNvSpPr/>
          <p:nvPr/>
        </p:nvSpPr>
        <p:spPr>
          <a:xfrm>
            <a:off x="4413250" y="1841500"/>
            <a:ext cx="3365500" cy="2413000"/>
          </a:xfrm>
          <a:prstGeom prst="roundRect">
            <a:avLst>
              <a:gd name="adj" fmla="val 4211"/>
            </a:avLst>
          </a:prstGeom>
          <a:solidFill>
            <a:srgbClr val="FFFDF8"/>
          </a:solidFill>
          <a:ln/>
        </p:spPr>
      </p:sp>
      <p:sp>
        <p:nvSpPr>
          <p:cNvPr id="9" name="Shape 7"/>
          <p:cNvSpPr/>
          <p:nvPr/>
        </p:nvSpPr>
        <p:spPr>
          <a:xfrm>
            <a:off x="4413250" y="1841500"/>
            <a:ext cx="3365500" cy="2413000"/>
          </a:xfrm>
          <a:custGeom>
            <a:avLst/>
            <a:gdLst/>
            <a:ahLst/>
            <a:cxnLst/>
            <a:rect l="l" t="t" r="r" b="b"/>
            <a:pathLst>
              <a:path w="3365500" h="2413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B24E17"/>
          </a:solidFill>
          <a:ln/>
        </p:spPr>
      </p:sp>
      <p:sp>
        <p:nvSpPr>
          <p:cNvPr id="10" name="Text 8"/>
          <p:cNvSpPr/>
          <p:nvPr/>
        </p:nvSpPr>
        <p:spPr>
          <a:xfrm>
            <a:off x="464820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Train 2 epochs</a:t>
            </a:r>
            <a:endParaRPr lang="en-US" sz="1600" dirty="0"/>
          </a:p>
        </p:txBody>
      </p:sp>
      <p:sp>
        <p:nvSpPr>
          <p:cNvPr id="11" name="Text 9"/>
          <p:cNvSpPr/>
          <p:nvPr/>
        </p:nvSpPr>
        <p:spPr>
          <a:xfrm>
            <a:off x="4648200" y="2381250"/>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init_weights first. ≈ 2–4 min on CPU. Write your prediction while it runs.</a:t>
            </a:r>
            <a:endParaRPr lang="en-US" sz="1300" dirty="0"/>
          </a:p>
        </p:txBody>
      </p:sp>
      <p:sp>
        <p:nvSpPr>
          <p:cNvPr id="12" name="Shape 10"/>
          <p:cNvSpPr/>
          <p:nvPr/>
        </p:nvSpPr>
        <p:spPr>
          <a:xfrm>
            <a:off x="8013700" y="1841500"/>
            <a:ext cx="3365500" cy="2413000"/>
          </a:xfrm>
          <a:prstGeom prst="roundRect">
            <a:avLst>
              <a:gd name="adj" fmla="val 4211"/>
            </a:avLst>
          </a:prstGeom>
          <a:solidFill>
            <a:srgbClr val="FFFDF8"/>
          </a:solidFill>
          <a:ln/>
        </p:spPr>
      </p:sp>
      <p:sp>
        <p:nvSpPr>
          <p:cNvPr id="13" name="Shape 11"/>
          <p:cNvSpPr/>
          <p:nvPr/>
        </p:nvSpPr>
        <p:spPr>
          <a:xfrm>
            <a:off x="8013700" y="1841500"/>
            <a:ext cx="3365500" cy="2413000"/>
          </a:xfrm>
          <a:custGeom>
            <a:avLst/>
            <a:gdLst/>
            <a:ahLst/>
            <a:cxnLst/>
            <a:rect l="l" t="t" r="r" b="b"/>
            <a:pathLst>
              <a:path w="3365500" h="2413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2563A8"/>
          </a:solidFill>
          <a:ln/>
        </p:spPr>
      </p:sp>
      <p:sp>
        <p:nvSpPr>
          <p:cNvPr id="14" name="Text 12"/>
          <p:cNvSpPr/>
          <p:nvPr/>
        </p:nvSpPr>
        <p:spPr>
          <a:xfrm>
            <a:off x="824865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Exercise 3</a:t>
            </a:r>
            <a:endParaRPr lang="en-US" sz="1600" dirty="0"/>
          </a:p>
        </p:txBody>
      </p:sp>
      <p:sp>
        <p:nvSpPr>
          <p:cNvPr id="15" name="Text 13"/>
          <p:cNvSpPr/>
          <p:nvPr/>
        </p:nvSpPr>
        <p:spPr>
          <a:xfrm>
            <a:off x="8248650" y="23812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Fill in the MLP vs DCGAN table. Compare epoch 1 and epoch 2 grids. Optional: β1 = 0.9, or no BatchNorm.</a:t>
            </a:r>
            <a:endParaRPr lang="en-US" sz="1300" dirty="0"/>
          </a:p>
        </p:txBody>
      </p:sp>
      <p:sp>
        <p:nvSpPr>
          <p:cNvPr id="16" name="Text 14"/>
          <p:cNvSpPr/>
          <p:nvPr/>
        </p:nvSpPr>
        <p:spPr>
          <a:xfrm>
            <a:off x="812800" y="45085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Our run:</a:t>
            </a:r>
            <a:r>
              <a:rPr lang="en-US" sz="1500" dirty="0">
                <a:solidFill>
                  <a:srgbClr val="14213D"/>
                </a:solidFill>
                <a:latin typeface="IBM Plex Sans" pitchFamily="34" charset="0"/>
                <a:ea typeface="IBM Plex Sans" pitchFamily="34" charset="-122"/>
                <a:cs typeface="IBM Plex Sans" pitchFamily="34" charset="-120"/>
              </a:rPr>
              <a:t> evenness 0.79 → 0.93; D(x) ≈ 0.9, D(G(z)) ≈ 0.1–0.2, yet samples kept improving. Which revision case is that? </a:t>
            </a:r>
            <a:r>
              <a:rPr lang="en-US" sz="1500" b="1" dirty="0">
                <a:solidFill>
                  <a:srgbClr val="2563A8"/>
                </a:solidFill>
                <a:latin typeface="IBM Plex Sans" pitchFamily="34" charset="0"/>
                <a:ea typeface="IBM Plex Sans" pitchFamily="34" charset="-122"/>
                <a:cs typeface="IBM Plex Sans" pitchFamily="34" charset="-120"/>
              </a:rPr>
              <a:t>Case d: healthy.</a:t>
            </a:r>
            <a:endParaRPr lang="en-US" sz="1500" dirty="0"/>
          </a:p>
        </p:txBody>
      </p:sp>
      <p:sp>
        <p:nvSpPr>
          <p:cNvPr id="17" name="Text 15"/>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05 Notebook · min 117–137</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PART 4 · 25 MINUTES · IN PAIRS</a:t>
            </a:r>
            <a:endParaRPr lang="en-US" sz="1200" dirty="0"/>
          </a:p>
        </p:txBody>
      </p:sp>
      <p:sp>
        <p:nvSpPr>
          <p:cNvPr id="3" name="Text 1"/>
          <p:cNvSpPr/>
          <p:nvPr>
            <p:ph type="title"/>
          </p:nvPr>
        </p:nvSpPr>
        <p:spPr>
          <a:xfrm>
            <a:off x="812800" y="825500"/>
            <a:ext cx="1137920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Conditional DCGAN: train it, then test what it learned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316063"/>
        </p:xfrm>
        <a:graphic>
          <a:graphicData uri="http://schemas.openxmlformats.org/drawingml/2006/table">
            <a:tbl>
              <a:tblPr/>
              <a:tblGrid>
                <a:gridCol w="1266444"/>
                <a:gridCol w="6121146"/>
                <a:gridCol w="316611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A4ACB5"/>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A4ACB5"/>
                      </a:solidFill>
                      <a:prstDash val="solid"/>
                      <a:round/>
                      <a:headEnd type="none" w="med" len="med"/>
                      <a:tailEnd type="none" w="med" len="med"/>
                    </a:lnB>
                    <a:solidFill>
                      <a:srgbClr val="CCD7E3"/>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you 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A4ACB5"/>
                      </a:solidFill>
                      <a:prstDash val="solid"/>
                      <a:round/>
                      <a:headEnd type="none" w="med" len="med"/>
                      <a:tailEnd type="none" w="med" len="med"/>
                    </a:lnL>
                    <a:lnR w="12700" cap="flat" cmpd="sng" algn="ctr">
                      <a:solidFill>
                        <a:srgbClr val="A4ACB5"/>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A4ACB5"/>
                      </a:solidFill>
                      <a:prstDash val="solid"/>
                      <a:round/>
                      <a:headEnd type="none" w="med" len="med"/>
                      <a:tailEnd type="none" w="med" len="med"/>
                    </a:lnB>
                    <a:solidFill>
                      <a:srgbClr val="CCD7E3"/>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Our 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A4ACB5"/>
                      </a:solidFill>
                      <a:prstDash val="solid"/>
                      <a:round/>
                      <a:headEnd type="none" w="med" len="med"/>
                      <a:tailEnd type="none" w="med" len="med"/>
                    </a:lnL>
                    <a:lnR w="12700" cap="flat" cmpd="sng" algn="ctr">
                      <a:solidFill>
                        <a:srgbClr val="A4ACB5"/>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A4ACB5"/>
                      </a:solidFill>
                      <a:prstDash val="solid"/>
                      <a:round/>
                      <a:headEnd type="none" w="med" len="med"/>
                      <a:tailEnd type="none" w="med" len="med"/>
                    </a:lnB>
                    <a:solidFill>
                      <a:srgbClr val="CCD7E3"/>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A4ACB5"/>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Look at D's 11 input channels; train 2 epochs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A4ACB5"/>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3.3 min on CPU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A4ACB5"/>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Conditional accuracy and "requested vs seen"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84.4%; worst 9 and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One z, ten labels: content vs style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style holds across a row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Interpolate z with a fixed label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smooth changes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Ex.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Mismatch test: D on generated 7s, labelled 7 vs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0.315 vs 0.141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9C3"/>
                      </a:solidFill>
                      <a:prstDash val="solid"/>
                      <a:round/>
                      <a:headEnd type="none" w="med" len="med"/>
                      <a:tailEnd type="none" w="med" len="med"/>
                    </a:lnB>
                  </a:tcPr>
                </a:tc>
              </a:tr>
            </a:tbl>
          </a:graphicData>
        </a:graphic>
      </p:graphicFrame>
      <p:sp>
        <p:nvSpPr>
          <p:cNvPr id="5" name="Text 2"/>
          <p:cNvSpPr/>
          <p:nvPr/>
        </p:nvSpPr>
        <p:spPr>
          <a:xfrm>
            <a:off x="812800" y="4572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Exercise 4, question 4:</a:t>
            </a:r>
            <a:r>
              <a:rPr lang="en-US" sz="1500" dirty="0">
                <a:solidFill>
                  <a:srgbClr val="14213D"/>
                </a:solidFill>
                <a:latin typeface="IBM Plex Sans" pitchFamily="34" charset="0"/>
                <a:ea typeface="IBM Plex Sans" pitchFamily="34" charset="-122"/>
                <a:cs typeface="IBM Plex Sans" pitchFamily="34" charset="-120"/>
              </a:rPr>
              <a:t> can a cGAN still collapse? Which of today's plots would show it?</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05 Notebook · min 137–162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PART 5 · WRAP-UP AND DEBRIEF · 8 MINUTES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What did your models show?</a:t>
            </a:r>
            <a:endParaRPr lang="en-US" sz="3200" dirty="0"/>
          </a:p>
        </p:txBody>
      </p:sp>
      <p:sp>
        <p:nvSpPr>
          <p:cNvPr id="4" name="Text 2"/>
          <p:cNvSpPr/>
          <p:nvPr/>
        </p:nvSpPr>
        <p:spPr>
          <a:xfrm>
            <a:off x="812800" y="1778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Share around the room: your </a:t>
            </a:r>
            <a:r>
              <a:rPr lang="en-US" sz="1500" b="1" dirty="0">
                <a:solidFill>
                  <a:srgbClr val="14213D"/>
                </a:solidFill>
                <a:latin typeface="IBM Plex Sans" pitchFamily="34" charset="0"/>
                <a:ea typeface="IBM Plex Sans" pitchFamily="34" charset="-122"/>
                <a:cs typeface="IBM Plex Sans" pitchFamily="34" charset="-120"/>
              </a:rPr>
              <a:t>evenness</a:t>
            </a:r>
            <a:r>
              <a:rPr lang="en-US" sz="1500" dirty="0">
                <a:solidFill>
                  <a:srgbClr val="14213D"/>
                </a:solidFill>
                <a:latin typeface="IBM Plex Sans" pitchFamily="34" charset="0"/>
                <a:ea typeface="IBM Plex Sans" pitchFamily="34" charset="-122"/>
                <a:cs typeface="IBM Plex Sans" pitchFamily="34" charset="-120"/>
              </a:rPr>
              <a:t> (MLP vs DCGAN), your </a:t>
            </a:r>
            <a:r>
              <a:rPr lang="en-US" sz="1500" b="1" dirty="0">
                <a:solidFill>
                  <a:srgbClr val="14213D"/>
                </a:solidFill>
                <a:latin typeface="IBM Plex Sans" pitchFamily="34" charset="0"/>
                <a:ea typeface="IBM Plex Sans" pitchFamily="34" charset="-122"/>
                <a:cs typeface="IBM Plex Sans" pitchFamily="34" charset="-120"/>
              </a:rPr>
              <a:t>conditional accuracy</a:t>
            </a:r>
            <a:r>
              <a:rPr lang="en-US" sz="1500" dirty="0">
                <a:solidFill>
                  <a:srgbClr val="14213D"/>
                </a:solidFill>
                <a:latin typeface="IBM Plex Sans" pitchFamily="34" charset="0"/>
                <a:ea typeface="IBM Plex Sans" pitchFamily="34" charset="-122"/>
                <a:cs typeface="IBM Plex Sans" pitchFamily="34" charset="-120"/>
              </a:rPr>
              <a:t>, and your </a:t>
            </a:r>
            <a:r>
              <a:rPr lang="en-US" sz="1500" b="1" dirty="0">
                <a:solidFill>
                  <a:srgbClr val="14213D"/>
                </a:solidFill>
                <a:latin typeface="IBM Plex Sans" pitchFamily="34" charset="0"/>
                <a:ea typeface="IBM Plex Sans" pitchFamily="34" charset="-122"/>
                <a:cs typeface="IBM Plex Sans" pitchFamily="34" charset="-120"/>
              </a:rPr>
              <a:t>hardest digit</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5" name="Shape 3"/>
          <p:cNvSpPr/>
          <p:nvPr/>
        </p:nvSpPr>
        <p:spPr>
          <a:xfrm>
            <a:off x="812800" y="2667000"/>
            <a:ext cx="3365500" cy="2794000"/>
          </a:xfrm>
          <a:prstGeom prst="roundRect">
            <a:avLst>
              <a:gd name="adj" fmla="val 3636"/>
            </a:avLst>
          </a:prstGeom>
          <a:solidFill>
            <a:srgbClr val="FFFDF8"/>
          </a:solidFill>
          <a:ln/>
        </p:spPr>
      </p:sp>
      <p:sp>
        <p:nvSpPr>
          <p:cNvPr id="6" name="Shape 4"/>
          <p:cNvSpPr/>
          <p:nvPr/>
        </p:nvSpPr>
        <p:spPr>
          <a:xfrm>
            <a:off x="812800" y="2667000"/>
            <a:ext cx="3365500" cy="2794000"/>
          </a:xfrm>
          <a:custGeom>
            <a:avLst/>
            <a:gdLst/>
            <a:ahLst/>
            <a:cxnLst/>
            <a:rect l="l" t="t" r="r" b="b"/>
            <a:pathLst>
              <a:path w="3365500" h="2794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14213D"/>
          </a:solidFill>
          <a:ln/>
        </p:spPr>
      </p:sp>
      <p:sp>
        <p:nvSpPr>
          <p:cNvPr id="7" name="Text 5"/>
          <p:cNvSpPr/>
          <p:nvPr/>
        </p:nvSpPr>
        <p:spPr>
          <a:xfrm>
            <a:off x="1047750" y="28448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A · Fashion-MNIST</a:t>
            </a:r>
            <a:endParaRPr lang="en-US" sz="1600" dirty="0"/>
          </a:p>
        </p:txBody>
      </p:sp>
      <p:sp>
        <p:nvSpPr>
          <p:cNvPr id="8" name="Text 6"/>
          <p:cNvSpPr/>
          <p:nvPr/>
        </p:nvSpPr>
        <p:spPr>
          <a:xfrm>
            <a:off x="1047750" y="32067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Same DCGAN on clothing images. Submit the grid after each epoch and what improved.</a:t>
            </a:r>
            <a:endParaRPr lang="en-US" sz="1300" dirty="0"/>
          </a:p>
        </p:txBody>
      </p:sp>
      <p:sp>
        <p:nvSpPr>
          <p:cNvPr id="9" name="Shape 7"/>
          <p:cNvSpPr/>
          <p:nvPr/>
        </p:nvSpPr>
        <p:spPr>
          <a:xfrm>
            <a:off x="4413250" y="2667000"/>
            <a:ext cx="3365500" cy="2794000"/>
          </a:xfrm>
          <a:prstGeom prst="roundRect">
            <a:avLst>
              <a:gd name="adj" fmla="val 3636"/>
            </a:avLst>
          </a:prstGeom>
          <a:solidFill>
            <a:srgbClr val="FFFDF8"/>
          </a:solidFill>
          <a:ln/>
        </p:spPr>
      </p:sp>
      <p:sp>
        <p:nvSpPr>
          <p:cNvPr id="10" name="Shape 8"/>
          <p:cNvSpPr/>
          <p:nvPr/>
        </p:nvSpPr>
        <p:spPr>
          <a:xfrm>
            <a:off x="4413250" y="2667000"/>
            <a:ext cx="3365500" cy="2794000"/>
          </a:xfrm>
          <a:custGeom>
            <a:avLst/>
            <a:gdLst/>
            <a:ahLst/>
            <a:cxnLst/>
            <a:rect l="l" t="t" r="r" b="b"/>
            <a:pathLst>
              <a:path w="3365500" h="2794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B24E17"/>
          </a:solidFill>
          <a:ln/>
        </p:spPr>
      </p:sp>
      <p:sp>
        <p:nvSpPr>
          <p:cNvPr id="11" name="Text 9"/>
          <p:cNvSpPr/>
          <p:nvPr/>
        </p:nvSpPr>
        <p:spPr>
          <a:xfrm>
            <a:off x="4648200" y="28448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B · DCGAN faces</a:t>
            </a:r>
            <a:endParaRPr lang="en-US" sz="1600" dirty="0"/>
          </a:p>
        </p:txBody>
      </p:sp>
      <p:sp>
        <p:nvSpPr>
          <p:cNvPr id="12" name="Text 10"/>
          <p:cNvSpPr/>
          <p:nvPr/>
        </p:nvSpPr>
        <p:spPr>
          <a:xfrm>
            <a:off x="4648200" y="32067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The Class 1 mini-project: extend the skeleton to 64×64, mirror a D, train on CelebA (GPU).</a:t>
            </a:r>
            <a:endParaRPr lang="en-US" sz="1300" dirty="0"/>
          </a:p>
        </p:txBody>
      </p:sp>
      <p:sp>
        <p:nvSpPr>
          <p:cNvPr id="13" name="Shape 11"/>
          <p:cNvSpPr/>
          <p:nvPr/>
        </p:nvSpPr>
        <p:spPr>
          <a:xfrm>
            <a:off x="8013700" y="2667000"/>
            <a:ext cx="3365500" cy="2794000"/>
          </a:xfrm>
          <a:prstGeom prst="roundRect">
            <a:avLst>
              <a:gd name="adj" fmla="val 3636"/>
            </a:avLst>
          </a:prstGeom>
          <a:solidFill>
            <a:srgbClr val="FFFDF8"/>
          </a:solidFill>
          <a:ln/>
        </p:spPr>
      </p:sp>
      <p:sp>
        <p:nvSpPr>
          <p:cNvPr id="14" name="Shape 12"/>
          <p:cNvSpPr/>
          <p:nvPr/>
        </p:nvSpPr>
        <p:spPr>
          <a:xfrm>
            <a:off x="8013700" y="2667000"/>
            <a:ext cx="3365500" cy="2794000"/>
          </a:xfrm>
          <a:custGeom>
            <a:avLst/>
            <a:gdLst/>
            <a:ahLst/>
            <a:cxnLst/>
            <a:rect l="l" t="t" r="r" b="b"/>
            <a:pathLst>
              <a:path w="3365500" h="2794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2563A8"/>
          </a:solidFill>
          <a:ln/>
        </p:spPr>
      </p:sp>
      <p:sp>
        <p:nvSpPr>
          <p:cNvPr id="15" name="Text 13"/>
          <p:cNvSpPr/>
          <p:nvPr/>
        </p:nvSpPr>
        <p:spPr>
          <a:xfrm>
            <a:off x="8248650" y="28448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C · Embedding</a:t>
            </a:r>
            <a:endParaRPr lang="en-US" sz="1600" dirty="0"/>
          </a:p>
        </p:txBody>
      </p:sp>
      <p:sp>
        <p:nvSpPr>
          <p:cNvPr id="16" name="Text 14"/>
          <p:cNvSpPr/>
          <p:nvPr/>
        </p:nvSpPr>
        <p:spPr>
          <a:xfrm>
            <a:off x="8248650" y="3206750"/>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Swap G's one-hot for nn.Embedding(10, 50). Compare conditional accuracy.</a:t>
            </a:r>
            <a:endParaRPr lang="en-US" sz="1300" dirty="0"/>
          </a:p>
        </p:txBody>
      </p:sp>
      <p:sp>
        <p:nvSpPr>
          <p:cNvPr id="17" name="Text 15"/>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05 Notebook · min 162–170 · assignment: choose one of A, B, C</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949"/>
                </a:solidFill>
                <a:latin typeface="IBM Plex Sans" pitchFamily="34" charset="0"/>
                <a:ea typeface="IBM Plex Sans" pitchFamily="34" charset="-122"/>
                <a:cs typeface="IBM Plex Sans" pitchFamily="34" charset="-120"/>
              </a:rPr>
              <a:t>EXIT TICKET · 3 MINUTES · ON PAPER, NO NOTES</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3EC"/>
                </a:solidFill>
                <a:latin typeface="Space Grotesk" pitchFamily="34" charset="0"/>
                <a:ea typeface="Space Grotesk" pitchFamily="34" charset="-122"/>
                <a:cs typeface="Space Grotesk" pitchFamily="34" charset="-120"/>
              </a:rPr>
              <a:t>Before you leave, answer four questions</a:t>
            </a:r>
            <a:endParaRPr lang="en-US" sz="3200" dirty="0"/>
          </a:p>
        </p:txBody>
      </p:sp>
      <p:sp>
        <p:nvSpPr>
          <p:cNvPr id="4" name="Text 2"/>
          <p:cNvSpPr/>
          <p:nvPr/>
        </p:nvSpPr>
        <p:spPr>
          <a:xfrm>
            <a:off x="812800" y="1841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397000" y="1905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D(x) ≈ 0.99 and D(G(z)) ≈ 0.01 for 2,000 steps; the grid is frozen. Name the problem.</a:t>
            </a:r>
            <a:endParaRPr lang="en-US" sz="1700" dirty="0"/>
          </a:p>
        </p:txBody>
      </p:sp>
      <p:sp>
        <p:nvSpPr>
          <p:cNvPr id="6" name="Text 4"/>
          <p:cNvSpPr/>
          <p:nvPr/>
        </p:nvSpPr>
        <p:spPr>
          <a:xfrm>
            <a:off x="812800" y="2730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2</a:t>
            </a:r>
            <a:endParaRPr lang="en-US" sz="2400" dirty="0"/>
          </a:p>
        </p:txBody>
      </p:sp>
      <p:sp>
        <p:nvSpPr>
          <p:cNvPr id="7" name="Text 5"/>
          <p:cNvSpPr/>
          <p:nvPr/>
        </p:nvSpPr>
        <p:spPr>
          <a:xfrm>
            <a:off x="1397000" y="2794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A generator has ConvTranspose2d(k4, s2, p1) layers after a 7×7 start. What size after two of them?</a:t>
            </a:r>
            <a:endParaRPr lang="en-US" sz="1700" dirty="0"/>
          </a:p>
        </p:txBody>
      </p:sp>
      <p:sp>
        <p:nvSpPr>
          <p:cNvPr id="8" name="Text 6"/>
          <p:cNvSpPr/>
          <p:nvPr/>
        </p:nvSpPr>
        <p:spPr>
          <a:xfrm>
            <a:off x="812800" y="3619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3</a:t>
            </a:r>
            <a:endParaRPr lang="en-US" sz="2400" dirty="0"/>
          </a:p>
        </p:txBody>
      </p:sp>
      <p:sp>
        <p:nvSpPr>
          <p:cNvPr id="9" name="Text 7"/>
          <p:cNvSpPr/>
          <p:nvPr/>
        </p:nvSpPr>
        <p:spPr>
          <a:xfrm>
            <a:off x="1397000" y="3683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In a cGAN, what does D receive, and why does it need the label?</a:t>
            </a:r>
            <a:endParaRPr lang="en-US" sz="1700" dirty="0"/>
          </a:p>
        </p:txBody>
      </p:sp>
      <p:sp>
        <p:nvSpPr>
          <p:cNvPr id="10" name="Text 8"/>
          <p:cNvSpPr/>
          <p:nvPr/>
        </p:nvSpPr>
        <p:spPr>
          <a:xfrm>
            <a:off x="812800" y="4381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4</a:t>
            </a:r>
            <a:endParaRPr lang="en-US" sz="2400" dirty="0"/>
          </a:p>
        </p:txBody>
      </p:sp>
      <p:sp>
        <p:nvSpPr>
          <p:cNvPr id="11" name="Text 9"/>
          <p:cNvSpPr/>
          <p:nvPr/>
        </p:nvSpPr>
        <p:spPr>
          <a:xfrm>
            <a:off x="1397000" y="4445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Fixed z, labels 0 to 9: what stays the same across the row? One "muddiest point".</a:t>
            </a:r>
            <a:endParaRPr lang="en-US" sz="1700" dirty="0"/>
          </a:p>
        </p:txBody>
      </p:sp>
      <p:sp>
        <p:nvSpPr>
          <p:cNvPr id="12" name="Text 10"/>
          <p:cNvSpPr/>
          <p:nvPr/>
        </p:nvSpPr>
        <p:spPr>
          <a:xfrm>
            <a:off x="812800" y="5334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6"/>
                </a:solidFill>
                <a:latin typeface="IBM Plex Sans" pitchFamily="34" charset="0"/>
                <a:ea typeface="IBM Plex Sans" pitchFamily="34" charset="-122"/>
                <a:cs typeface="IBM Plex Sans" pitchFamily="34" charset="-120"/>
              </a:rPr>
              <a:t>Answers: 1 D too strong, vanishing gradient · 2 28×28 · 3 image + label maps; else G ignores y · 4 the style (thickness, slant)</a:t>
            </a:r>
            <a:endParaRPr lang="en-US" sz="13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4 · min 170–173</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NEXT CLASS AND FURTHER STUDY</a:t>
            </a:r>
            <a:endParaRPr lang="en-US" sz="1200" dirty="0"/>
          </a:p>
        </p:txBody>
      </p:sp>
      <p:sp>
        <p:nvSpPr>
          <p:cNvPr id="3" name="Text 1"/>
          <p:cNvSpPr/>
          <p:nvPr>
            <p:ph type="title"/>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Next: autoencoders and VAEs</a:t>
            </a:r>
            <a:endParaRPr lang="en-US" sz="3200" dirty="0"/>
          </a:p>
        </p:txBody>
      </p:sp>
      <p:sp>
        <p:nvSpPr>
          <p:cNvPr id="4" name="Shape 2"/>
          <p:cNvSpPr/>
          <p:nvPr/>
        </p:nvSpPr>
        <p:spPr>
          <a:xfrm>
            <a:off x="812800" y="1778000"/>
            <a:ext cx="3556000" cy="4000500"/>
          </a:xfrm>
          <a:prstGeom prst="roundRect">
            <a:avLst>
              <a:gd name="adj" fmla="val 3214"/>
            </a:avLst>
          </a:prstGeom>
          <a:solidFill>
            <a:srgbClr val="14213D"/>
          </a:solidFill>
          <a:ln/>
        </p:spPr>
      </p:sp>
      <p:sp>
        <p:nvSpPr>
          <p:cNvPr id="5" name="Text 3"/>
          <p:cNvSpPr/>
          <p:nvPr/>
        </p:nvSpPr>
        <p:spPr>
          <a:xfrm>
            <a:off x="1047750" y="1936750"/>
            <a:ext cx="3204845"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B949"/>
                </a:solidFill>
                <a:latin typeface="IBM Plex Sans" pitchFamily="34" charset="0"/>
                <a:ea typeface="IBM Plex Sans" pitchFamily="34" charset="-122"/>
                <a:cs typeface="IBM Plex Sans" pitchFamily="34" charset="-120"/>
              </a:rPr>
              <a:t>NEXT CLASS</a:t>
            </a:r>
            <a:endParaRPr lang="en-US" sz="1300" dirty="0"/>
          </a:p>
        </p:txBody>
      </p:sp>
      <p:sp>
        <p:nvSpPr>
          <p:cNvPr id="6" name="Text 4"/>
          <p:cNvSpPr/>
          <p:nvPr/>
        </p:nvSpPr>
        <p:spPr>
          <a:xfrm>
            <a:off x="1047750" y="2254250"/>
            <a:ext cx="320484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IBM Plex Sans" pitchFamily="34" charset="0"/>
                <a:ea typeface="IBM Plex Sans" pitchFamily="34" charset="-122"/>
                <a:cs typeface="IBM Plex Sans" pitchFamily="34" charset="-120"/>
              </a:rPr>
              <a:t>A different generative model: encoder, bottleneck, decoder and a reconstruction loss.</a:t>
            </a:r>
            <a:endParaRPr lang="en-US" sz="1500" dirty="0"/>
          </a:p>
        </p:txBody>
      </p:sp>
      <p:sp>
        <p:nvSpPr>
          <p:cNvPr id="7" name="Text 5"/>
          <p:cNvSpPr/>
          <p:nvPr/>
        </p:nvSpPr>
        <p:spPr>
          <a:xfrm>
            <a:off x="1047750" y="3810000"/>
            <a:ext cx="3204845"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B949"/>
                </a:solidFill>
                <a:latin typeface="IBM Plex Sans" pitchFamily="34" charset="0"/>
                <a:ea typeface="IBM Plex Sans" pitchFamily="34" charset="-122"/>
                <a:cs typeface="IBM Plex Sans" pitchFamily="34" charset="-120"/>
              </a:rPr>
              <a:t>HOMEWORK</a:t>
            </a:r>
            <a:endParaRPr lang="en-US" sz="1300" dirty="0"/>
          </a:p>
        </p:txBody>
      </p:sp>
      <p:sp>
        <p:nvSpPr>
          <p:cNvPr id="8" name="Text 6"/>
          <p:cNvSpPr/>
          <p:nvPr/>
        </p:nvSpPr>
        <p:spPr>
          <a:xfrm>
            <a:off x="1047750" y="4127500"/>
            <a:ext cx="320484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Part 5 reflections. Assignment: one of A, B or C.</a:t>
            </a:r>
            <a:endParaRPr lang="en-US" sz="1400" dirty="0"/>
          </a:p>
        </p:txBody>
      </p:sp>
      <p:sp>
        <p:nvSpPr>
          <p:cNvPr id="9" name="Text 7"/>
          <p:cNvSpPr/>
          <p:nvPr/>
        </p:nvSpPr>
        <p:spPr>
          <a:xfrm>
            <a:off x="4699000" y="1841500"/>
            <a:ext cx="688060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B7280"/>
                </a:solidFill>
                <a:latin typeface="IBM Plex Sans" pitchFamily="34" charset="0"/>
                <a:ea typeface="IBM Plex Sans" pitchFamily="34" charset="-122"/>
                <a:cs typeface="IBM Plex Sans" pitchFamily="34" charset="-120"/>
              </a:rPr>
              <a:t>FURTHER STUDY: READ AND TRY AT HOME</a:t>
            </a:r>
            <a:endParaRPr lang="en-US" sz="1300" dirty="0"/>
          </a:p>
        </p:txBody>
      </p:sp>
      <p:sp>
        <p:nvSpPr>
          <p:cNvPr id="10" name="Text 8"/>
          <p:cNvSpPr/>
          <p:nvPr/>
        </p:nvSpPr>
        <p:spPr>
          <a:xfrm>
            <a:off x="4699000" y="2127250"/>
            <a:ext cx="6880606" cy="487660"/>
          </a:xfrm>
          <a:prstGeom prst="rect">
            <a:avLst/>
          </a:prstGeom>
          <a:noFill/>
          <a:ln/>
        </p:spPr>
        <p:txBody>
          <a:bodyPr wrap="square" lIns="0" tIns="0" rIns="0" bIns="0" rtlCol="0" anchor="t">
            <a:normAutofit/>
          </a:bodyPr>
          <a:lstStyle/>
          <a:p>
            <a:pPr algn="l" indent="0" marL="0">
              <a:lnSpc>
                <a:spcPts val="1820"/>
              </a:lnSpc>
              <a:buNone/>
            </a:pPr>
            <a:r>
              <a:rPr lang="en-US" sz="1300" u="sng" dirty="0">
                <a:solidFill>
                  <a:srgbClr val="14213D"/>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PyTorch DCGAN tutorial</a:t>
            </a:r>
            <a:r>
              <a:rPr lang="en-US" sz="1300" dirty="0">
                <a:solidFill>
                  <a:srgbClr val="14213D"/>
                </a:solidFill>
                <a:latin typeface="IBM Plex Sans" pitchFamily="34" charset="0"/>
                <a:ea typeface="IBM Plex Sans" pitchFamily="34" charset="-122"/>
                <a:cs typeface="IBM Plex Sans" pitchFamily="34" charset="-120"/>
              </a:rPr>
              <a:t> (64×64 faces, assignment B) · </a:t>
            </a:r>
            <a:r>
              <a:rPr lang="en-US" sz="1300" u="sng" dirty="0">
                <a:solidFill>
                  <a:srgbClr val="14213D"/>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Deconvolution and Checkerboard Artifacts</a:t>
            </a:r>
            <a:r>
              <a:rPr lang="en-US" sz="1300" dirty="0">
                <a:solidFill>
                  <a:srgbClr val="14213D"/>
                </a:solidFill>
                <a:latin typeface="IBM Plex Sans" pitchFamily="34" charset="0"/>
                <a:ea typeface="IBM Plex Sans" pitchFamily="34" charset="-122"/>
                <a:cs typeface="IBM Plex Sans" pitchFamily="34" charset="-120"/>
              </a:rPr>
              <a:t> (Distill) · </a:t>
            </a:r>
            <a:r>
              <a:rPr lang="en-US" sz="1300" u="sng" dirty="0">
                <a:solidFill>
                  <a:srgbClr val="14213D"/>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A guide to convolution arithmetic</a:t>
            </a:r>
            <a:endParaRPr lang="en-US" sz="1300" dirty="0"/>
          </a:p>
        </p:txBody>
      </p:sp>
      <p:sp>
        <p:nvSpPr>
          <p:cNvPr id="11" name="Text 9"/>
          <p:cNvSpPr/>
          <p:nvPr/>
        </p:nvSpPr>
        <p:spPr>
          <a:xfrm>
            <a:off x="4699000" y="3302000"/>
            <a:ext cx="688060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B7280"/>
                </a:solidFill>
                <a:latin typeface="IBM Plex Sans" pitchFamily="34" charset="0"/>
                <a:ea typeface="IBM Plex Sans" pitchFamily="34" charset="-122"/>
                <a:cs typeface="IBM Plex Sans" pitchFamily="34" charset="-120"/>
              </a:rPr>
              <a:t>PAPERS BEHIND TODAY'S SLIDES</a:t>
            </a:r>
            <a:endParaRPr lang="en-US" sz="1300" dirty="0"/>
          </a:p>
        </p:txBody>
      </p:sp>
      <p:sp>
        <p:nvSpPr>
          <p:cNvPr id="12" name="Text 10"/>
          <p:cNvSpPr/>
          <p:nvPr/>
        </p:nvSpPr>
        <p:spPr>
          <a:xfrm>
            <a:off x="4699000" y="3587750"/>
            <a:ext cx="688060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IBM Plex Sans" pitchFamily="34" charset="0"/>
                <a:ea typeface="IBM Plex Sans" pitchFamily="34" charset="-122"/>
                <a:cs typeface="IBM Plex Sans" pitchFamily="34" charset="-120"/>
              </a:rPr>
              <a:t>Radford et al. 2015, </a:t>
            </a:r>
            <a:r>
              <a:rPr lang="en-US" sz="1200" u="sng" dirty="0">
                <a:solidFill>
                  <a:srgbClr val="14213D"/>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DCGAN</a:t>
            </a:r>
            <a:r>
              <a:rPr lang="en-US" sz="1200" dirty="0">
                <a:solidFill>
                  <a:srgbClr val="14213D"/>
                </a:solidFill>
                <a:latin typeface="IBM Plex Sans" pitchFamily="34" charset="0"/>
                <a:ea typeface="IBM Plex Sans" pitchFamily="34" charset="-122"/>
                <a:cs typeface="IBM Plex Sans" pitchFamily="34" charset="-120"/>
              </a:rPr>
              <a:t> · Mirza and Osindero 2014, </a:t>
            </a:r>
            <a:r>
              <a:rPr lang="en-US" sz="1200" u="sng" dirty="0">
                <a:solidFill>
                  <a:srgbClr val="14213D"/>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Conditional GAN</a:t>
            </a:r>
            <a:r>
              <a:rPr lang="en-US" sz="1200" dirty="0">
                <a:solidFill>
                  <a:srgbClr val="14213D"/>
                </a:solidFill>
                <a:latin typeface="IBM Plex Sans" pitchFamily="34" charset="0"/>
                <a:ea typeface="IBM Plex Sans" pitchFamily="34" charset="-122"/>
                <a:cs typeface="IBM Plex Sans" pitchFamily="34" charset="-120"/>
              </a:rPr>
              <a:t> · Odena et al. 2017, </a:t>
            </a:r>
            <a:r>
              <a:rPr lang="en-US" sz="1200" u="sng" dirty="0">
                <a:solidFill>
                  <a:srgbClr val="14213D"/>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AC-GAN</a:t>
            </a:r>
            <a:r>
              <a:rPr lang="en-US" sz="1200" dirty="0">
                <a:solidFill>
                  <a:srgbClr val="14213D"/>
                </a:solidFill>
                <a:latin typeface="IBM Plex Sans" pitchFamily="34" charset="0"/>
                <a:ea typeface="IBM Plex Sans" pitchFamily="34" charset="-122"/>
                <a:cs typeface="IBM Plex Sans" pitchFamily="34" charset="-120"/>
              </a:rPr>
              <a:t> · Isola et al. 2017, </a:t>
            </a:r>
            <a:r>
              <a:rPr lang="en-US" sz="1200" u="sng" dirty="0">
                <a:solidFill>
                  <a:srgbClr val="14213D"/>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pix2pix</a:t>
            </a:r>
            <a:r>
              <a:rPr lang="en-US" sz="1200" dirty="0">
                <a:solidFill>
                  <a:srgbClr val="14213D"/>
                </a:solidFill>
                <a:latin typeface="IBM Plex Sans" pitchFamily="34" charset="0"/>
                <a:ea typeface="IBM Plex Sans" pitchFamily="34" charset="-122"/>
                <a:cs typeface="IBM Plex Sans" pitchFamily="34" charset="-120"/>
              </a:rPr>
              <a:t> · Zhu et al. 2017, </a:t>
            </a:r>
            <a:r>
              <a:rPr lang="en-US" sz="1200" u="sng" dirty="0">
                <a:solidFill>
                  <a:srgbClr val="14213D"/>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CycleGAN</a:t>
            </a:r>
            <a:r>
              <a:rPr lang="en-US" sz="1200" dirty="0">
                <a:solidFill>
                  <a:srgbClr val="14213D"/>
                </a:solidFill>
                <a:latin typeface="IBM Plex Sans" pitchFamily="34" charset="0"/>
                <a:ea typeface="IBM Plex Sans" pitchFamily="34" charset="-122"/>
                <a:cs typeface="IBM Plex Sans" pitchFamily="34" charset="-120"/>
              </a:rPr>
              <a:t> · Reed et al. 2016, </a:t>
            </a:r>
            <a:r>
              <a:rPr lang="en-US" sz="1200" u="sng" dirty="0">
                <a:solidFill>
                  <a:srgbClr val="14213D"/>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Text-to-image GAN</a:t>
            </a:r>
            <a:r>
              <a:rPr lang="en-US" sz="1200" dirty="0">
                <a:solidFill>
                  <a:srgbClr val="14213D"/>
                </a:solidFill>
                <a:latin typeface="IBM Plex Sans" pitchFamily="34" charset="0"/>
                <a:ea typeface="IBM Plex Sans" pitchFamily="34" charset="-122"/>
                <a:cs typeface="IBM Plex Sans" pitchFamily="34" charset="-120"/>
              </a:rPr>
              <a:t> · Miyato and Koyama 2018, </a:t>
            </a:r>
            <a:r>
              <a:rPr lang="en-US" sz="1200" u="sng" dirty="0">
                <a:solidFill>
                  <a:srgbClr val="14213D"/>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Projection discriminator</a:t>
            </a:r>
            <a:r>
              <a:rPr lang="en-US" sz="1200" dirty="0">
                <a:solidFill>
                  <a:srgbClr val="14213D"/>
                </a:solidFill>
                <a:latin typeface="IBM Plex Sans" pitchFamily="34" charset="0"/>
                <a:ea typeface="IBM Plex Sans" pitchFamily="34" charset="-122"/>
                <a:cs typeface="IBM Plex Sans" pitchFamily="34" charset="-120"/>
              </a:rPr>
              <a:t> · Class 2 &amp; 3: Goodfellow et al. 2014, </a:t>
            </a:r>
            <a:r>
              <a:rPr lang="en-US" sz="1200" u="sng" dirty="0">
                <a:solidFill>
                  <a:srgbClr val="14213D"/>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GANs</a:t>
            </a:r>
            <a:r>
              <a:rPr lang="en-US" sz="1200" dirty="0">
                <a:solidFill>
                  <a:srgbClr val="14213D"/>
                </a:solidFill>
                <a:latin typeface="IBM Plex Sans" pitchFamily="34" charset="0"/>
                <a:ea typeface="IBM Plex Sans" pitchFamily="34" charset="-122"/>
                <a:cs typeface="IBM Plex Sans" pitchFamily="34" charset="-120"/>
              </a:rPr>
              <a:t>; Arjovsky and Bottou 2017, </a:t>
            </a:r>
            <a:r>
              <a:rPr lang="en-US" sz="1200" u="sng" dirty="0">
                <a:solidFill>
                  <a:srgbClr val="14213D"/>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Principled Methods</a:t>
            </a:r>
            <a:endParaRPr lang="en-US" sz="12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4 · min 173–175</a:t>
            </a:r>
            <a:endParaRPr lang="en-US" sz="1200" dirty="0"/>
          </a:p>
        </p:txBody>
      </p:sp>
    </p:spTree>
  </p:cSld>
  <p:clrMapOvr>
    <a:masterClrMapping/>
  </p:clrMapOvr>
</p:sld>
</file>

<file path=ppt/theme/theme1.xml><?xml version="1.0" encoding="utf-8"?>
<a:theme xmlns:a="http://schemas.openxmlformats.org/drawingml/2006/main" name="GAN Class 4 — DCGAN and Conditional GAN">
  <a:themeElements>
    <a:clrScheme name="GAN Class 4 — DCGAN and Conditional GAN">
      <a:dk1>
        <a:srgbClr val="14213D"/>
      </a:dk1>
      <a:lt1>
        <a:srgbClr val="F6F3EC"/>
      </a:lt1>
      <a:dk2>
        <a:srgbClr val="4D5669"/>
      </a:dk2>
      <a:lt2>
        <a:srgbClr val="DFDEDB"/>
      </a:lt2>
      <a:accent1>
        <a:srgbClr val="2563A8"/>
      </a:accent1>
      <a:accent2>
        <a:srgbClr val="B24E17"/>
      </a:accent2>
      <a:accent3>
        <a:srgbClr val="E9B949"/>
      </a:accent3>
      <a:accent4>
        <a:srgbClr val="8A6A10"/>
      </a:accent4>
      <a:accent5>
        <a:srgbClr val="FBF0CF"/>
      </a:accent5>
      <a:accent6>
        <a:srgbClr val="6B7280"/>
      </a:accent6>
      <a:hlink>
        <a:srgbClr val="0563C1"/>
      </a:hlink>
      <a:folHlink>
        <a:srgbClr val="954F72"/>
      </a:folHlink>
    </a:clrScheme>
    <a:fontScheme name="GAN Class 4 — DCGAN and Conditional GA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GAN Class 4 — DCGAN and Conditional GAN</dc:title>
  <dc:subject/>
  <dc:creator/>
  <cp:lastModifiedBy/>
  <cp:revision>1</cp:revision>
  <dcterms:created xsi:type="dcterms:W3CDTF">2026-10-09T03:55:44Z</dcterms:created>
  <dcterms:modified xsi:type="dcterms:W3CDTF">2026-10-09T03:55:44Z</dcterms:modified>
</cp:coreProperties>
</file>